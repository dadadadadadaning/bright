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所有形状可编辑。主线是假设而非已证实结论。A1 原已融合灾前 RGB 与灾后 SAR；新增 SAR→Q 是不同实验。Q 使用本轮新 Q-baseline，不能用旧 E0 或旧三组成绩充当同源消融。P0 是同次 grid_probq。联合输出 softmax(log(P0)+delta)；不存在是否采纳 Memory 的拒绝阈值。父区域 T128 用于检索，子槽只改变内容组织。Train GT 只进入支持标签与训练损失，查询推理无 GT。</a:t>
            </a:r>
          </a:p>
          <a:p>
            <a:r>
              <a:t>Train-only Memory 使用与当前查询相同的冻结前端和 Q 建库；不存在单独的第三套前端。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Q_{ik} 表示位置 i 对父区域 k 的分配。子槽权重 w_{ik0}=Q_{ik}(1-B_i)，w_{ik1}=Q_{ik}B_i。特征均值分母是该槽总权重；软标签分母只包含有效标签位置，忽略255。支持特征和支持标签必须同一权重，不能复制父标签。空槽 mask 需一致。两槽都可以输出任意损毁类；偏背景槽可能包含被前端漏检的真建筑。Q0+Q1=Q，但每槽单独归一化的汇总后再回投不等于原父均值。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两个查询槽并非只读同名支持槽，它们均可注意全部选中的合法子槽。检索父 key 固定；查询和库的子槽遵循相同规则。候选字段：子槽 F256、父 T128、槽质量或比例、有效标记、四类软标签。注意力 K 由特征生成，标签作为 V 的信息；事件和图像元数据只用于排除，不作为事件 embedding。无支持时上下文为零，不能隐藏学习到的替代 Memory。R0/A/B 图内参考标签字段是模型预测分布，不是查询GT。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A/B参考图内空间近邻，含查询自身，标签字段来自模型预测。C/D历史案例使用Train标签；因此C-A和D-B是整套历史参考的增量，不单独识别排序或标注来源的贡献。固定棋盘格式空间硬分组是已有capacity control，不完全控制soft权重连续性；后续如做纯建筑语义解释需概率分布匹配的B错位/置换对照。旧R0/RT/RF来自旧Q及不同后端时不能作为本轮单槽因果对照。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固定短训练规则，再用3个种子重做四格。不得根据Test调步数。单槽对照要匹配Reader/分类器容量和候选数尽可能接近，明确仍存在token数和计算量差异。随机支持/错配标签需训练与推理都采用同一规则；推理干预只能说明依赖或敏感性。删除直接像素分支只表示去掉直连；父区域和支持特征本来仍由像素汇总而来。B错位不使用Val真值，最好保持边际分布和尺度/平滑性，另记录mask相关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灰色框均为待填占位，不是实验结果。必须用同源同终点的真实模型预测。选择规则提前固定：按Val受损类、低B建筑、边界、跨事件等分层；每层给典型/中位案例及失败案例。不能将旧A1输出重命名为D。误差图建议将grid_probq错误而D正确标为绿色、grid_probq正确而D错误标为红色，两者都错为紫色；像素量化必须分别统计三个前景类别。若没有真实实例标注，不写逐栋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灰色框均为待填占位。展示查询RGB/SAR、Q父区域轮廓、建筑概率B、Q0/Q1权重、P0及最终预测；邻居展示父案例真实RGB/SAR和区域掩膜、来源事件、相似度、两槽软标签分布、有效槽比例。本文选4个邻居只是视觉展示，模型依旧读取Top64。禁止只选最支持叙述的邻居；预先规定Top1/中位/相反标签/高权重等展示策略，并展示失败检索。Query GT可作离线解释但不能参与检索或模型输入。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Train450是从早期已见训练图像选取的诊断子集，不代表完整Train2918；需要报告抽样规则/各事件与类别覆盖，不能用差异自动断言过拟合。短训练建议固定500步截断，但保留原5000步学习率horizon，避免更换训练方案。三个种子3407、3408、3409是设计建议，不代表已执行。Test500已经探索，不进一步反复调参；可报告一次锁定配置的测试但必须披露已使用测试探索，若要求严格独立验证须额外未使用数据或外部集，不要偷偷改变标准benchmark。按事件配对bootstrap属于不确定性分析，不把高度相关像素当独立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附件含12页。本页是页面改造建议，原文件保持不变。1-3重复架构可合并为一张总图和一张soft/Memory机制图。第4页地图只有在符合本次split时保留，标注Train/Val/Test以及事件排除策略；不能混用不同BRIGHT赛道。5-7旧比较图放附录或重生成当前A-D预测。8-10替换机制和失败案例、固定Train-Val曲线，不以最好中间结果代表正式终点。11重做同源全量结果与四格消融；12展示逐事件配对变化和种子差异，不能将像素独立性夸大。全部表格先留空或写待运行，严禁虚构预期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主线结构：像素、soft 区域与历史案例共同判断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固定新的 Q-baseline 前端；先验证信息组织与读取，暂不叠加 SAR→Q 改造。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01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965960" cy="201168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84248"/>
            <a:ext cx="16916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478B9"/>
                </a:solidFill>
                <a:latin typeface="Noto Sans CJK SC"/>
              </a:defRPr>
            </a:pPr>
            <a:r>
              <a:t>Frozen 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691639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灾前 RGB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灾后 SAR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冻结 A1＋Q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F256 · B · 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536192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627632"/>
            <a:ext cx="24323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478B9"/>
                </a:solidFill>
                <a:latin typeface="Noto Sans CJK SC"/>
              </a:defRPr>
            </a:pPr>
            <a:r>
              <a:t>Pixel F256 · 细节直连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304288"/>
            <a:ext cx="2651760" cy="63093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395728"/>
            <a:ext cx="2432304" cy="448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3478B9"/>
                </a:solidFill>
                <a:latin typeface="Noto Sans CJK SC"/>
              </a:defRPr>
            </a:pPr>
            <a:r>
              <a:t>P0 = grid_probq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3136392"/>
            <a:ext cx="2651760" cy="63093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227832"/>
            <a:ext cx="2432304" cy="448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478B9"/>
                </a:solidFill>
                <a:latin typeface="Noto Sans CJK SC"/>
              </a:defRPr>
            </a:pPr>
            <a:r>
              <a:t>Parent：F256＋T128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3968496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5240">
            <a:solidFill>
              <a:srgbClr val="14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4059935"/>
            <a:ext cx="24323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79"/>
                </a:solidFill>
                <a:latin typeface="Noto Sans CJK SC"/>
              </a:defRPr>
            </a:pPr>
            <a:r>
              <a:t>Soft slots：QB / Q(1−B)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1819656"/>
            <a:ext cx="0" cy="2523744"/>
          </a:xfrm>
          <a:prstGeom prst="line">
            <a:avLst/>
          </a:prstGeom>
          <a:ln w="12700">
            <a:solidFill>
              <a:srgbClr val="347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0" y="1819656"/>
            <a:ext cx="210312" cy="0"/>
          </a:xfrm>
          <a:prstGeom prst="line">
            <a:avLst/>
          </a:prstGeom>
          <a:ln w="21590">
            <a:solidFill>
              <a:srgbClr val="3478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1819656"/>
            <a:ext cx="0" cy="2523744"/>
          </a:xfrm>
          <a:prstGeom prst="line">
            <a:avLst/>
          </a:prstGeom>
          <a:ln w="12700">
            <a:solidFill>
              <a:srgbClr val="347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2615184"/>
            <a:ext cx="210312" cy="0"/>
          </a:xfrm>
          <a:prstGeom prst="line">
            <a:avLst/>
          </a:prstGeom>
          <a:ln w="21590">
            <a:solidFill>
              <a:srgbClr val="3478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51760" y="1819656"/>
            <a:ext cx="0" cy="2523744"/>
          </a:xfrm>
          <a:prstGeom prst="line">
            <a:avLst/>
          </a:prstGeom>
          <a:ln w="12700">
            <a:solidFill>
              <a:srgbClr val="347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51760" y="3456432"/>
            <a:ext cx="210312" cy="0"/>
          </a:xfrm>
          <a:prstGeom prst="line">
            <a:avLst/>
          </a:prstGeom>
          <a:ln w="21590">
            <a:solidFill>
              <a:srgbClr val="3478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51760" y="1819656"/>
            <a:ext cx="0" cy="2523744"/>
          </a:xfrm>
          <a:prstGeom prst="line">
            <a:avLst/>
          </a:prstGeom>
          <a:ln w="12700">
            <a:solidFill>
              <a:srgbClr val="347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51760" y="4343400"/>
            <a:ext cx="210312" cy="0"/>
          </a:xfrm>
          <a:prstGeom prst="line">
            <a:avLst/>
          </a:prstGeom>
          <a:ln w="21590">
            <a:solidFill>
              <a:srgbClr val="3478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68880" y="2880360"/>
            <a:ext cx="182880" cy="0"/>
          </a:xfrm>
          <a:prstGeom prst="line">
            <a:avLst/>
          </a:prstGeom>
          <a:ln w="21590">
            <a:solidFill>
              <a:srgbClr val="3478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43600" y="3017520"/>
            <a:ext cx="2423160" cy="1115568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127248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7C16"/>
                </a:solidFill>
                <a:latin typeface="Noto Sans CJK SC"/>
              </a:defRPr>
            </a:pPr>
            <a:r>
              <a:t>Memory Reader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566160"/>
            <a:ext cx="2148840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746"/>
                </a:solidFill>
                <a:latin typeface="Noto Sans CJK SC"/>
              </a:defRPr>
            </a:pPr>
            <a:r>
              <a:t>两个查询槽读取全部合法子槽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746"/>
                </a:solidFill>
                <a:latin typeface="Noto Sans CJK SC"/>
              </a:defRPr>
            </a:pPr>
            <a:r>
              <a:t>父 T128 检索 Top64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13832" y="3456432"/>
            <a:ext cx="429768" cy="0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13832" y="3886200"/>
            <a:ext cx="429768" cy="457200"/>
          </a:xfrm>
          <a:prstGeom prst="line">
            <a:avLst/>
          </a:prstGeom>
          <a:ln w="21590">
            <a:solidFill>
              <a:srgbClr val="147D7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43600" y="4828032"/>
            <a:ext cx="2423160" cy="1060704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93776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7C16"/>
                </a:solidFill>
                <a:latin typeface="Noto Sans CJK SC"/>
              </a:defRPr>
            </a:pPr>
            <a:r>
              <a:t>Train-only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376672"/>
            <a:ext cx="2148840" cy="4389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746"/>
                </a:solidFill>
                <a:latin typeface="Noto Sans CJK SC"/>
              </a:defRPr>
            </a:pPr>
            <a:r>
              <a:t>父 key／子槽特征／软标签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746"/>
                </a:solidFill>
                <a:latin typeface="Noto Sans CJK SC"/>
              </a:defRPr>
            </a:pPr>
            <a:r>
              <a:t>排除同图、同事件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150608" y="4133087"/>
            <a:ext cx="0" cy="694945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862072" y="5166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61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5257800"/>
            <a:ext cx="243230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617487"/>
                </a:solidFill>
                <a:latin typeface="Noto Sans CJK SC"/>
              </a:defRPr>
            </a:pPr>
            <a:r>
              <a:t>Train 图像＋Train GT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13832" y="5486400"/>
            <a:ext cx="429768" cy="0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880360" y="5897880"/>
            <a:ext cx="53949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GT → 子槽软标签；不进入 Val／Test 查询输入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2240280"/>
            <a:ext cx="2468880" cy="210312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5240">
            <a:solidFill>
              <a:srgbClr val="14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235000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47D79"/>
                </a:solidFill>
                <a:latin typeface="Noto Sans CJK SC"/>
              </a:defRPr>
            </a:pPr>
            <a:r>
              <a:t>Joint pixel classifier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2788920"/>
            <a:ext cx="2194560" cy="1481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像素＋父区域＋双槽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＋Memory 回投＋P0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softmax(log P0＋Δ)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778240" y="1819656"/>
            <a:ext cx="0" cy="2706624"/>
          </a:xfrm>
          <a:prstGeom prst="line">
            <a:avLst/>
          </a:prstGeom>
          <a:ln w="20320">
            <a:solidFill>
              <a:srgbClr val="14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513832" y="1819656"/>
            <a:ext cx="3264408" cy="0"/>
          </a:xfrm>
          <a:prstGeom prst="line">
            <a:avLst/>
          </a:prstGeom>
          <a:ln w="12700">
            <a:solidFill>
              <a:srgbClr val="14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13832" y="2615184"/>
            <a:ext cx="182880" cy="0"/>
          </a:xfrm>
          <a:prstGeom prst="line">
            <a:avLst/>
          </a:prstGeom>
          <a:ln w="12700">
            <a:solidFill>
              <a:srgbClr val="14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696712" y="1901952"/>
            <a:ext cx="0" cy="713232"/>
          </a:xfrm>
          <a:prstGeom prst="line">
            <a:avLst/>
          </a:prstGeom>
          <a:ln w="12700">
            <a:solidFill>
              <a:srgbClr val="14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696712" y="1901952"/>
            <a:ext cx="3081528" cy="0"/>
          </a:xfrm>
          <a:prstGeom prst="line">
            <a:avLst/>
          </a:prstGeom>
          <a:ln w="12700">
            <a:solidFill>
              <a:srgbClr val="14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513832" y="4526280"/>
            <a:ext cx="3264408" cy="0"/>
          </a:xfrm>
          <a:prstGeom prst="line">
            <a:avLst/>
          </a:prstGeom>
          <a:ln w="12700">
            <a:solidFill>
              <a:srgbClr val="14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513832" y="3456432"/>
            <a:ext cx="118872" cy="0"/>
          </a:xfrm>
          <a:prstGeom prst="line">
            <a:avLst/>
          </a:prstGeom>
          <a:ln w="21590">
            <a:solidFill>
              <a:srgbClr val="347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632704" y="2834640"/>
            <a:ext cx="0" cy="621792"/>
          </a:xfrm>
          <a:prstGeom prst="line">
            <a:avLst/>
          </a:prstGeom>
          <a:ln w="21590">
            <a:solidFill>
              <a:srgbClr val="347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632704" y="2834640"/>
            <a:ext cx="3557016" cy="0"/>
          </a:xfrm>
          <a:prstGeom prst="line">
            <a:avLst/>
          </a:prstGeom>
          <a:ln w="21590">
            <a:solidFill>
              <a:srgbClr val="3478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89320" y="24414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478B9"/>
                </a:solidFill>
                <a:latin typeface="Noto Sans CJK SC"/>
              </a:defRPr>
            </a:pPr>
            <a:r>
              <a:t>父区域按 Q 回投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66760" y="3566160"/>
            <a:ext cx="411480" cy="0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778240" y="3200400"/>
            <a:ext cx="411480" cy="0"/>
          </a:xfrm>
          <a:prstGeom prst="line">
            <a:avLst/>
          </a:prstGeom>
          <a:ln w="21590">
            <a:solidFill>
              <a:srgbClr val="147D7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189720" y="489204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9448" y="4983479"/>
            <a:ext cx="224942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478B9"/>
                </a:solidFill>
                <a:latin typeface="Noto Sans CJK SC"/>
              </a:defRPr>
            </a:pPr>
            <a:r>
              <a:t>四类像素预测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424160" y="4343400"/>
            <a:ext cx="0" cy="548640"/>
          </a:xfrm>
          <a:prstGeom prst="line">
            <a:avLst/>
          </a:prstGeom>
          <a:ln w="21590">
            <a:solidFill>
              <a:srgbClr val="147D7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9640" y="5806440"/>
            <a:ext cx="31546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父区域按 Q；双槽与 Memory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按 Q0／Q1 回投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Soft 分流：改变信息组织，不删除背景证据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B 是冻结前端预测的建筑概率；Q0、Q1 是同一父区域的两个角色。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3154680" cy="109728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82495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3478B9"/>
                </a:solidFill>
                <a:latin typeface="Noto Sans CJK SC"/>
              </a:defRPr>
            </a:pPr>
            <a:r>
              <a:t>保留父区域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2880360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同一 Q、同一 B、同一像素特征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572768"/>
            <a:ext cx="3429000" cy="109728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5240">
            <a:solidFill>
              <a:srgbClr val="14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682495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47D79"/>
                </a:solidFill>
                <a:latin typeface="Noto Sans CJK SC"/>
              </a:defRPr>
            </a:pPr>
            <a:r>
              <a:t>偏建筑槽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21408"/>
            <a:ext cx="3154680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243746"/>
                </a:solidFill>
                <a:latin typeface="Noto Sans CJK SC"/>
              </a:defRPr>
            </a:pPr>
            <a:r>
              <a:t>w1 = Q ×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72768"/>
            <a:ext cx="3858768" cy="1097280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682495"/>
            <a:ext cx="35844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7C16"/>
                </a:solidFill>
                <a:latin typeface="Noto Sans CJK SC"/>
              </a:defRPr>
            </a:pPr>
            <a:r>
              <a:t>偏背景槽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121408"/>
            <a:ext cx="3584448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243746"/>
                </a:solidFill>
                <a:latin typeface="Noto Sans CJK SC"/>
              </a:defRPr>
            </a:pPr>
            <a:r>
              <a:t>w0 = Q × (1 − B)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121408"/>
            <a:ext cx="365760" cy="0"/>
          </a:xfrm>
          <a:prstGeom prst="line">
            <a:avLst/>
          </a:prstGeom>
          <a:ln w="21590">
            <a:solidFill>
              <a:srgbClr val="61748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75688" y="2670048"/>
            <a:ext cx="0" cy="13716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75688" y="2807208"/>
            <a:ext cx="7671816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747504" y="2670048"/>
            <a:ext cx="0" cy="137160"/>
          </a:xfrm>
          <a:prstGeom prst="line">
            <a:avLst/>
          </a:prstGeom>
          <a:ln w="21590">
            <a:solidFill>
              <a:srgbClr val="61748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2971800"/>
            <a:ext cx="5440680" cy="150876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5240">
            <a:solidFill>
              <a:srgbClr val="14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81528"/>
            <a:ext cx="5166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47D79"/>
                </a:solidFill>
                <a:latin typeface="Noto Sans CJK SC"/>
              </a:defRPr>
            </a:pPr>
            <a:r>
              <a:t>特征与标签使用同一槽权重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5166360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特征：Fs = Σi wis Fi / Σi wis（Σi wis &gt; 0）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标签：ys = Σi validi wis onehot(yi) / Σi validi wis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971800"/>
            <a:ext cx="5413248" cy="150876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81528"/>
            <a:ext cx="51389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3478B9"/>
                </a:solidFill>
                <a:latin typeface="Noto Sans CJK SC"/>
              </a:defRPr>
            </a:pPr>
            <a:r>
              <a:t>对应回投，保留原像素路径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38928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43746"/>
                </a:solidFill>
                <a:latin typeface="Noto Sans CJK SC"/>
              </a:defRPr>
            </a:pPr>
            <a:r>
              <a:t>槽输出 → 对应 Q0／Q1 → 当前像素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3746"/>
                </a:solidFill>
                <a:latin typeface="Noto Sans CJK SC"/>
              </a:defRPr>
            </a:pPr>
            <a:r>
              <a:t>Q0 + Q1 = Q；空槽使用显式有效标记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46320"/>
            <a:ext cx="3520440" cy="117043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61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5604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617487"/>
                </a:solidFill>
                <a:latin typeface="Noto Sans CJK SC"/>
              </a:defRPr>
            </a:pPr>
            <a:r>
              <a:t>不强制类别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94959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Noto Sans CJK SC"/>
              </a:defRPr>
            </a:pPr>
            <a:r>
              <a:t>两个角色都预测四类；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Noto Sans CJK SC"/>
              </a:defRPr>
            </a:pPr>
            <a:r>
              <a:t>偏背景槽也可包含受损线索。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846320"/>
            <a:ext cx="3520440" cy="117043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61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95604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617487"/>
                </a:solidFill>
                <a:latin typeface="Noto Sans CJK SC"/>
              </a:defRPr>
            </a:pPr>
            <a:r>
              <a:t>不宣称建筑实例约束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94959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Noto Sans CJK SC"/>
              </a:defRPr>
            </a:pPr>
            <a:r>
              <a:t>没有逐栋身份，不保证连通、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Noto Sans CJK SC"/>
              </a:defRPr>
            </a:pPr>
            <a:r>
              <a:t>不保证不跨相邻建筑。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4846320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61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956048"/>
            <a:ext cx="321868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617487"/>
                </a:solidFill>
                <a:latin typeface="Noto Sans CJK SC"/>
              </a:defRPr>
            </a:pPr>
            <a:r>
              <a:t>父 key 与子内容分开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394959"/>
            <a:ext cx="32186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Noto Sans CJK SC"/>
              </a:defRPr>
            </a:pPr>
            <a:r>
              <a:t>本轮保留父检索；重新生成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Noto Sans CJK SC"/>
              </a:defRPr>
            </a:pPr>
            <a:r>
              <a:t>两槽特征及对应软标签。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Memory 读取：按父区域找案例，按子槽读内容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64 个父案例最多展开为 128 个槽；不是 128 个独立历史案例。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520440" cy="98755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7C16"/>
                </a:solidFill>
                <a:latin typeface="Noto Sans CJK SC"/>
              </a:defRPr>
            </a:pPr>
            <a:r>
              <a:t>Query parent T128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746"/>
                </a:solidFill>
                <a:latin typeface="Noto Sans CJK SC"/>
              </a:defRPr>
            </a:pPr>
            <a:r>
              <a:t>冻结父区域 key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103120"/>
            <a:ext cx="301752" cy="0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25112" y="1600200"/>
            <a:ext cx="3520440" cy="98755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7099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7C16"/>
                </a:solidFill>
                <a:latin typeface="Noto Sans CJK SC"/>
              </a:defRPr>
            </a:pPr>
            <a:r>
              <a:t>Top64 parent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148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746"/>
                </a:solidFill>
                <a:latin typeface="Noto Sans CJK SC"/>
              </a:defRPr>
            </a:pPr>
            <a:r>
              <a:t>同图／同事件排除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5552" y="2103120"/>
            <a:ext cx="301752" cy="0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47304" y="1600200"/>
            <a:ext cx="3520440" cy="98755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7099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7C16"/>
                </a:solidFill>
                <a:latin typeface="Noto Sans CJK SC"/>
              </a:defRPr>
            </a:pPr>
            <a:r>
              <a:t>Expand child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148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746"/>
                </a:solidFill>
                <a:latin typeface="Noto Sans CJK SC"/>
              </a:defRPr>
            </a:pPr>
            <a:r>
              <a:t>每个父案例 0–2 个有效槽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834640"/>
          <a:ext cx="4572000" cy="2386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</a:tblGrid>
              <a:tr h="52120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每个支持子槽字段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作用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Child F256＋Parent T128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局部证据＋父上下文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槽占比＋valid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质量与空槽处理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Train 四类软标签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案例的标注证据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图像／事件 ID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仅用于合法性排除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504688" y="2834640"/>
            <a:ext cx="2761488" cy="192024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5240">
            <a:solidFill>
              <a:srgbClr val="14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2944368"/>
            <a:ext cx="24871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47D79"/>
                </a:solidFill>
                <a:latin typeface="Noto Sans CJK SC"/>
              </a:defRPr>
            </a:pPr>
            <a:r>
              <a:t>两个 Query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383280"/>
            <a:ext cx="2487168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43746"/>
                </a:solidFill>
                <a:latin typeface="Noto Sans CJK SC"/>
              </a:defRPr>
            </a:pPr>
            <a:r>
              <a:t>均读取全部合法候选槽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3746"/>
                </a:solidFill>
                <a:latin typeface="Noto Sans CJK SC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243746"/>
                </a:solidFill>
                <a:latin typeface="Noto Sans CJK SC"/>
              </a:defRPr>
            </a:pPr>
            <a:r>
              <a:t>K ← 特征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3746"/>
                </a:solidFill>
                <a:latin typeface="Noto Sans CJK SC"/>
              </a:defRPr>
            </a:pPr>
            <a:r>
              <a:t>V ← 特征＋软标签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749039"/>
            <a:ext cx="429768" cy="0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0" y="2834640"/>
            <a:ext cx="2990088" cy="192024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5240">
            <a:solidFill>
              <a:srgbClr val="34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2944368"/>
            <a:ext cx="2715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3478B9"/>
                </a:solidFill>
                <a:latin typeface="Noto Sans CJK SC"/>
              </a:defRPr>
            </a:pPr>
            <a:r>
              <a:t>Slot context → Pixel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383280"/>
            <a:ext cx="2715768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对应 Q0／Q1 回投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与像素、父区域共同分类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无支持：上下文置零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66175" y="3749039"/>
            <a:ext cx="420625" cy="0"/>
          </a:xfrm>
          <a:prstGeom prst="line">
            <a:avLst/>
          </a:prstGeom>
          <a:ln w="21590">
            <a:solidFill>
              <a:srgbClr val="147D7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5532120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17487"/>
                </a:solidFill>
                <a:latin typeface="Noto Sans CJK SC"/>
              </a:defRPr>
            </a:pPr>
            <a:r>
              <a:t>需要记录：合法支持数、独立来源数、类别软质量、空槽率；“找到邻居”不等于“找到有用的受损案例”。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四格主实验：同时检验 soft 与历史参考的增量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所有组使用同源 Q、像素路径、父区域、P0、相同 Reader 结构与训练预算。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04 /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83112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41648"/>
                <a:gridCol w="4032504"/>
              </a:tblGrid>
              <a:tr h="521207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区域组织方式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图内参考：模型预测分布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Train Memory：标注软分布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固定空间双槽（capacity）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A · 空间分组＋图内参考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C · 空间分组＋历史案例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建筑概率双槽（soft）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B · 建筑分流＋图内参考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D · 建筑分流＋历史案例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0690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5240">
            <a:solidFill>
              <a:srgbClr val="14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78808"/>
            <a:ext cx="5166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47D79"/>
                </a:solidFill>
                <a:latin typeface="Noto Sans CJK SC"/>
              </a:defRPr>
            </a:pPr>
            <a:r>
              <a:t>Soft 的增量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5166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43746"/>
                </a:solidFill>
                <a:latin typeface="Noto Sans CJK SC"/>
              </a:defRPr>
            </a:pPr>
            <a:r>
              <a:t>B − A：无 Memory 时的分流作用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43746"/>
                </a:solidFill>
                <a:latin typeface="Noto Sans CJK SC"/>
              </a:defRPr>
            </a:pPr>
            <a:r>
              <a:t>D − C：有 Memory 时的分流作用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069080"/>
            <a:ext cx="5422392" cy="1463040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78808"/>
            <a:ext cx="51480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7C16"/>
                </a:solidFill>
                <a:latin typeface="Noto Sans CJK SC"/>
              </a:defRPr>
            </a:pPr>
            <a:r>
              <a:t>历史参考的增量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17720"/>
            <a:ext cx="514807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43746"/>
                </a:solidFill>
                <a:latin typeface="Noto Sans CJK SC"/>
              </a:defRPr>
            </a:pPr>
            <a:r>
              <a:t>C − A：空间双槽条件下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43746"/>
                </a:solidFill>
                <a:latin typeface="Noto Sans CJK SC"/>
              </a:defRPr>
            </a:pPr>
            <a:r>
              <a:t>D − B：soft 双槽条件下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06440"/>
            <a:ext cx="109728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24F"/>
                </a:solidFill>
                <a:latin typeface="Noto Sans CJK SC"/>
              </a:defRPr>
            </a:pPr>
            <a:r>
              <a:t>交互量 = D − C − B + A　｜　D 稳定优于 B、C 和同轮基线，才支持保留完整组合。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消融分两轮做：先确认收益，再解释来源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每一项都回答一个问题；候选与对应对照使用匹配种子、初始化和训练图序。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36192"/>
            <a:ext cx="1874519" cy="384048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 w="15240">
            <a:solidFill>
              <a:srgbClr val="E9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27632"/>
            <a:ext cx="1655063" cy="2011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47D79"/>
                </a:solidFill>
                <a:latin typeface="Noto Sans CJK SC"/>
              </a:defRPr>
            </a:pPr>
            <a:r>
              <a:t>第一轮 · 主结果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544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24F"/>
                </a:solidFill>
                <a:latin typeface="Noto Sans CJK SC"/>
              </a:defRPr>
            </a:pPr>
            <a:r>
              <a:t>A／B／C／D × 3 个种子；固定一个新 Q、一个案例库版本、一个训练规则。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58568"/>
          <a:ext cx="11183112" cy="3355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4663440"/>
                <a:gridCol w="3639312"/>
              </a:tblGrid>
              <a:tr h="52120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第二轮对照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保留什么／只改变什么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能支持的结论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同源单槽 Local／Memory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重新训练，匹配结构容量与预算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双槽组织的增量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D：随机合法父案例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同一库、Top64、排除规则不变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检索排序是否有效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D：无标签／错配标签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同容量编码；匹配训练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标注证据是否被有效使用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D：错位建筑概率 B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保留 B 的分布，破坏位置对应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建筑概率空间对应是否有用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可选：删除像素直连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保留所有区域路径，重新训练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直接像素细节是否必要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779008"/>
            <a:ext cx="11183112" cy="438912"/>
          </a:xfrm>
          <a:prstGeom prst="roundRect">
            <a:avLst>
              <a:gd name="adj" fmla="val 12000"/>
            </a:avLst>
          </a:prstGeom>
          <a:solidFill>
            <a:srgbClr val="FFF0EB"/>
          </a:solidFill>
          <a:ln w="15240">
            <a:solidFill>
              <a:srgbClr val="B65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5870448"/>
            <a:ext cx="1096365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B6524C"/>
                </a:solidFill>
                <a:latin typeface="Noto Sans CJK SC"/>
              </a:defRPr>
            </a:pPr>
            <a:r>
              <a:t>容量对照仍有“硬空间分组 vs 连续 soft 权重”的差异；不要将 B−A 全部解释为建筑语义。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案例图一：展示同一位置的收益与代价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固定同一图、同一裁剪、同一放大倍率；每列由对应的真实模型输出生成。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灾前 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灾后 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8376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grid_probq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3832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4744" y="1508760"/>
            <a:ext cx="11795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24F"/>
                </a:solidFill>
                <a:latin typeface="Noto Sans CJK SC"/>
              </a:defRPr>
            </a:pPr>
            <a:r>
              <a:t>D 对基线误差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55648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08376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18104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104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13832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6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72016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24744" y="196596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34472" y="2057400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38328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7D79"/>
                </a:solidFill>
                <a:latin typeface="Noto Sans CJK SC"/>
              </a:defRPr>
            </a:pPr>
            <a:r>
              <a:t>正向案例｜建筑与背景混合减少，受损证据是否被保留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55648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65376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08376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18104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61104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2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13832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6560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76288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19288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9016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72016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81744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24744" y="3886200"/>
            <a:ext cx="1179576" cy="130759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34472" y="3977639"/>
            <a:ext cx="96012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17487"/>
                </a:solidFill>
                <a:latin typeface="Noto Sans CJK SC"/>
              </a:defRPr>
            </a:pPr>
            <a:r>
              <a:t>待填真实图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0352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B6524C"/>
                </a:solidFill>
                <a:latin typeface="Noto Sans CJK SC"/>
              </a:defRPr>
            </a:pPr>
            <a:r>
              <a:t>失败案例｜低 B 漏楼、相邻楼混合或 SAR 位置偏差，明确发生了什么错误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5925312"/>
            <a:ext cx="173736" cy="173736"/>
          </a:xfrm>
          <a:prstGeom prst="rect">
            <a:avLst/>
          </a:prstGeom>
          <a:solidFill>
            <a:srgbClr val="FFFFFF"/>
          </a:solidFill>
          <a:ln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8795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背景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5925312"/>
            <a:ext cx="173736" cy="173736"/>
          </a:xfrm>
          <a:prstGeom prst="rect">
            <a:avLst/>
          </a:prstGeom>
          <a:solidFill>
            <a:srgbClr val="4DBD74"/>
          </a:solidFill>
          <a:ln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58795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完好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63240" y="5925312"/>
            <a:ext cx="173736" cy="173736"/>
          </a:xfrm>
          <a:prstGeom prst="rect">
            <a:avLst/>
          </a:prstGeom>
          <a:solidFill>
            <a:srgbClr val="F0B34D"/>
          </a:solidFill>
          <a:ln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0" y="58795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受损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5925312"/>
            <a:ext cx="173736" cy="173736"/>
          </a:xfrm>
          <a:prstGeom prst="rect">
            <a:avLst/>
          </a:prstGeom>
          <a:solidFill>
            <a:srgbClr val="DA5A5A"/>
          </a:solidFill>
          <a:ln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80" y="58795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毁坏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7840" y="5852160"/>
            <a:ext cx="6035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17487"/>
                </a:solidFill>
                <a:latin typeface="Noto Sans CJK SC"/>
              </a:defRPr>
            </a:pPr>
            <a:r>
              <a:t>误差图：救回／误伤／仍错分开显示；同时报告像素数。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案例图二：Memory 找到了谁，改变了什么判断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每个查询都显示原始预测与邻居证据；注意力权重只能作为辅助线索。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617487"/>
                </a:solidFill>
                <a:latin typeface="Noto Sans CJK SC"/>
              </a:defRPr>
            </a:pPr>
            <a:r>
              <a:t>待填查询图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9806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24F"/>
                </a:solidFill>
                <a:latin typeface="Noto Sans CJK SC"/>
              </a:defRPr>
            </a:pPr>
            <a:r>
              <a:t>Query RGB / SAR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1" y="1600200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617487"/>
                </a:solidFill>
                <a:latin typeface="Noto Sans CJK SC"/>
              </a:defRPr>
            </a:pPr>
            <a:r>
              <a:t>待填查询图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1" y="279806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24F"/>
                </a:solidFill>
                <a:latin typeface="Noto Sans CJK SC"/>
              </a:defRPr>
            </a:pPr>
            <a:r>
              <a:t>父 Q ＋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00200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691640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617487"/>
                </a:solidFill>
                <a:latin typeface="Noto Sans CJK SC"/>
              </a:defRPr>
            </a:pPr>
            <a:r>
              <a:t>待填查询图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279806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24F"/>
                </a:solidFill>
                <a:latin typeface="Noto Sans CJK SC"/>
              </a:defRPr>
            </a:pPr>
            <a:r>
              <a:t>Q0 / Q1 权重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600200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 w="15240">
            <a:solidFill>
              <a:srgbClr val="C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4" y="1691640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617487"/>
                </a:solidFill>
                <a:latin typeface="Noto Sans CJK SC"/>
              </a:defRPr>
            </a:pPr>
            <a:r>
              <a:t>待填查询图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79806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24F"/>
                </a:solidFill>
                <a:latin typeface="Noto Sans CJK SC"/>
              </a:defRPr>
            </a:pPr>
            <a:r>
              <a:t>P0 → 最终预测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3127248"/>
            <a:ext cx="0" cy="283464"/>
          </a:xfrm>
          <a:prstGeom prst="line">
            <a:avLst/>
          </a:prstGeom>
          <a:ln w="21590">
            <a:solidFill>
              <a:srgbClr val="B47C1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3584448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675887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B47C16"/>
                </a:solidFill>
                <a:latin typeface="Noto Sans CJK SC"/>
              </a:defRPr>
            </a:pPr>
            <a:r>
              <a:t>真实邻居 1 · RGB / 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8097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事件／相似度：待填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两槽四类标签分布：待填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1" y="3584448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675887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B47C16"/>
                </a:solidFill>
                <a:latin typeface="Noto Sans CJK SC"/>
              </a:defRPr>
            </a:pPr>
            <a:r>
              <a:t>真实邻居 2 · RGB / SAR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48097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事件／相似度：待填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两槽四类标签分布：待填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3584448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675887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B47C16"/>
                </a:solidFill>
                <a:latin typeface="Noto Sans CJK SC"/>
              </a:defRPr>
            </a:pPr>
            <a:r>
              <a:t>真实邻居 3 · RGB / 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48097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事件／相似度：待填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两槽四类标签分布：待填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3584448"/>
            <a:ext cx="2615184" cy="112471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 w="15240">
            <a:solidFill>
              <a:srgbClr val="B47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3675887"/>
            <a:ext cx="2395728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B47C16"/>
                </a:solidFill>
                <a:latin typeface="Noto Sans CJK SC"/>
              </a:defRPr>
            </a:pPr>
            <a:r>
              <a:t>真实邻居 4 · RGB / SAR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48097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事件／相似度：待填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617487"/>
                </a:solidFill>
                <a:latin typeface="Noto Sans CJK SC"/>
              </a:defRPr>
            </a:pPr>
            <a:r>
              <a:t>两槽四类标签分布：待填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150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24F"/>
                </a:solidFill>
                <a:latin typeface="Noto Sans CJK SC"/>
              </a:defRPr>
            </a:pPr>
            <a:r>
              <a:t>按预先规定的 Val 分层展示典型、中位与失败案例；用随机案例／错配标签消融验证因果贡献。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实验协议：把“短期信号”变成可复核的证据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数据划分、训练终点、学习率与报告指标先固定，再进行重复。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 w="1524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64208"/>
            <a:ext cx="374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563624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324F"/>
                </a:solidFill>
                <a:latin typeface="Noto Sans CJK SC"/>
              </a:defRPr>
            </a:pPr>
            <a:r>
              <a:t>诊断已有检查点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563624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500／1500／5000：固定 Train450＋Val450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同一推理配置，loss／类别 IoU／混淆矩阵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487168"/>
            <a:ext cx="1031443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2688336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 w="1524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79776"/>
            <a:ext cx="374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679192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324F"/>
                </a:solidFill>
                <a:latin typeface="Noto Sans CJK SC"/>
              </a:defRPr>
            </a:pPr>
            <a:r>
              <a:t>锁定短训练规则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79192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若选择 500 步截断，保留原 5000 步 LR 日程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不能简单把总步数参数改为 500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2" y="3602736"/>
            <a:ext cx="1031443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803904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 w="1524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895344"/>
            <a:ext cx="374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94760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324F"/>
                </a:solidFill>
                <a:latin typeface="Noto Sans CJK SC"/>
              </a:defRPr>
            </a:pPr>
            <a:r>
              <a:t>配对重复并报告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7947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建议种子 3407／3408／3409；同源 Q、库、Top64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主指标由全 split 混淆矩阵汇总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2" y="4718304"/>
            <a:ext cx="1031443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4919472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 w="1524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010912"/>
            <a:ext cx="374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910328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324F"/>
                </a:solidFill>
                <a:latin typeface="Noto Sans CJK SC"/>
              </a:defRPr>
            </a:pPr>
            <a:r>
              <a:t>控制结论与数据使用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910328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报告逐事件差值、类别取舍、显存和时延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Noto Sans CJK SC"/>
              </a:defRPr>
            </a:pPr>
            <a:r>
              <a:t>500 步 Test878 已探索；后续选择只依据 Train／Val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6324F"/>
                </a:solidFill>
                <a:latin typeface="Noto Sans CJK SC"/>
              </a:defRPr>
            </a:pPr>
            <a:r>
              <a:t>原 PPT 的改图清单：让每页对应一个可验证问题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17487"/>
                </a:solidFill>
                <a:latin typeface="Noto Sans CJK SC"/>
              </a:defRPr>
            </a:pPr>
            <a:r>
              <a:t>现有 PPT 的数值不沿用；架构、协议和图例先定稿，再填入真实新实验结果。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07592"/>
            <a:ext cx="11274552" cy="0"/>
          </a:xfrm>
          <a:prstGeom prst="line">
            <a:avLst/>
          </a:prstGeom>
          <a:ln w="12700">
            <a:solidFill>
              <a:srgbClr val="C8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17487"/>
                </a:solidFill>
                <a:latin typeface="Noto Sans CJK SC"/>
              </a:defRPr>
            </a:pPr>
            <a:r>
              <a:t>方案设计稿｜图表待真实实验填充 · 固定 Q 的 soft＋Memory 联合分类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6480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17487"/>
                </a:solidFill>
                <a:latin typeface="Noto Sans CJK SC"/>
              </a:defRPr>
            </a:pPr>
            <a:r>
              <a:t>09 /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91056"/>
          <a:ext cx="111831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166360"/>
                <a:gridCol w="5010912"/>
              </a:tblGrid>
              <a:tr h="52120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原页码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建议保留／更换内容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新页必须回答的问题</a:t>
                      </a:r>
                    </a:p>
                  </a:txBody>
                  <a:tcPr marL="100584" marR="73152" marT="73152" marB="27432" anchor="ctr">
                    <a:solidFill>
                      <a:srgbClr val="16324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1–3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合并结构图；突出固定 Q、双槽与联合分类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模型如何组织证据？新增组件在哪里？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保留数据地图，核对划分与跨事件排除规则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训练、支持案例、验证如何分开？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5–7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旧 A1 比较入附录；重新生成 A／B／C／D 图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同一位置哪些错误被救回、哪些被误伤？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8–10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soft 机制、检索失败、Train／Val 诊断图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为什么可能有效？失败发生在哪里？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整体结果＋四格消融表，数据暂留空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组合超过基线、单独模块和同容量对照吗？</a:t>
                      </a:r>
                    </a:p>
                  </a:txBody>
                  <a:tcPr marL="100584" marR="73152" marT="73152" marB="27432" anchor="ctr">
                    <a:solidFill>
                      <a:srgbClr val="ECF0F4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12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逐事件与多种子差值；附计算成本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43746"/>
                          </a:solidFill>
                          <a:latin typeface="Noto Sans CJK SC"/>
                        </a:defRPr>
                      </a:pPr>
                      <a:r>
                        <a:t>收益是否稳定，代价与边界是什么？</a:t>
                      </a:r>
                    </a:p>
                  </a:txBody>
                  <a:tcPr marL="100584" marR="73152" marT="7315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24728"/>
            <a:ext cx="1097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6524C"/>
                </a:solidFill>
                <a:latin typeface="Noto Sans CJK SC"/>
              </a:defRPr>
            </a:pPr>
            <a:r>
              <a:t>论文主张随证据调整：整体 mIoU 提升 ≠ 受损类改善；相对增量 ≠ 稳定协同。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