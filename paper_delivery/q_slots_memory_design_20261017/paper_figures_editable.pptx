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09728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0332720" cy="41148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203348"/>
                </a:solidFill>
                <a:latin typeface="Noto Sans CJK SC"/>
              </a:rPr>
              <a:t>图1  总体框架与离线案例库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30936"/>
            <a:ext cx="10332720" cy="41148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647487"/>
                </a:solidFill>
                <a:latin typeface="Noto Sans CJK SC"/>
              </a:rPr>
              <a:t>方法图｜区分当前图像的预测路径、Train离线建库与支持读取；不表示实验结果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69848"/>
            <a:ext cx="10332720" cy="22860"/>
          </a:xfrm>
          <a:prstGeom prst="rect">
            <a:avLst/>
          </a:prstGeom>
          <a:solidFill>
            <a:srgbClr val="285E89"/>
          </a:solidFill>
          <a:ln w="12700">
            <a:solidFill>
              <a:srgbClr val="285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1325880" cy="100584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856231"/>
            <a:ext cx="1234439" cy="950976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203348"/>
                </a:solidFill>
                <a:latin typeface="Noto Sans CJK SC"/>
              </a:rPr>
              <a:t>灾前RGB</a:t>
            </a:r>
          </a:p>
          <a:p>
            <a:pPr algn="ctr"/>
            <a:r>
              <a:rPr sz="1500" b="0">
                <a:solidFill>
                  <a:srgbClr val="203348"/>
                </a:solidFill>
                <a:latin typeface="Noto Sans CJK SC"/>
              </a:rPr>
              <a:t>灾后SAR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828800"/>
            <a:ext cx="1463040" cy="100584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1856231"/>
            <a:ext cx="1371600" cy="950976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203348"/>
                </a:solidFill>
                <a:latin typeface="Noto Sans CJK SC"/>
              </a:rPr>
              <a:t>多模态像素前端</a:t>
            </a:r>
          </a:p>
          <a:p>
            <a:pPr algn="ctr"/>
            <a:r>
              <a:rPr sz="1400" b="0">
                <a:solidFill>
                  <a:srgbClr val="203348"/>
                </a:solidFill>
                <a:latin typeface="Noto Sans CJK SC"/>
              </a:rPr>
              <a:t>像素特征／预测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1828800"/>
            <a:ext cx="1325880" cy="1005840"/>
          </a:xfrm>
          <a:prstGeom prst="roundRect">
            <a:avLst/>
          </a:prstGeom>
          <a:solidFill>
            <a:srgbClr val="EAF5F1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1856231"/>
            <a:ext cx="1234439" cy="950976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203348"/>
                </a:solidFill>
                <a:latin typeface="Noto Sans CJK SC"/>
              </a:rPr>
              <a:t>Q软区域</a:t>
            </a:r>
          </a:p>
          <a:p>
            <a:pPr algn="ctr"/>
            <a:r>
              <a:rPr sz="1500" b="0">
                <a:solidFill>
                  <a:srgbClr val="203348"/>
                </a:solidFill>
                <a:latin typeface="Noto Sans CJK SC"/>
              </a:rPr>
              <a:t>父区域汇总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1828800"/>
            <a:ext cx="1417320" cy="1005840"/>
          </a:xfrm>
          <a:prstGeom prst="roundRect">
            <a:avLst/>
          </a:prstGeom>
          <a:solidFill>
            <a:srgbClr val="EAF5F1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1856231"/>
            <a:ext cx="1325880" cy="950976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203348"/>
                </a:solidFill>
                <a:latin typeface="Noto Sans CJK SC"/>
              </a:rPr>
              <a:t>父key＋双槽</a:t>
            </a:r>
          </a:p>
          <a:p>
            <a:pPr algn="ctr"/>
            <a:r>
              <a:rPr sz="1500" b="0">
                <a:solidFill>
                  <a:srgbClr val="203348"/>
                </a:solidFill>
                <a:latin typeface="Noto Sans CJK SC"/>
              </a:rPr>
              <a:t>两份内容摘要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828800"/>
            <a:ext cx="1508760" cy="1005840"/>
          </a:xfrm>
          <a:prstGeom prst="roundRect">
            <a:avLst/>
          </a:prstGeom>
          <a:solidFill>
            <a:srgbClr val="FAF1E6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59" y="1856231"/>
            <a:ext cx="1417319" cy="950976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203348"/>
                </a:solidFill>
                <a:latin typeface="Noto Sans CJK SC"/>
              </a:rPr>
              <a:t>父key检索＋Reader</a:t>
            </a:r>
          </a:p>
          <a:p>
            <a:pPr algn="ctr"/>
            <a:r>
              <a:rPr sz="1500" b="0">
                <a:solidFill>
                  <a:srgbClr val="203348"/>
                </a:solidFill>
                <a:latin typeface="Noto Sans CJK SC"/>
              </a:rPr>
              <a:t>读取案例内容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828800"/>
            <a:ext cx="1600200" cy="100584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856231"/>
            <a:ext cx="1508760" cy="950976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203348"/>
                </a:solidFill>
                <a:latin typeface="Noto Sans CJK SC"/>
              </a:rPr>
              <a:t>像素＋增强区域</a:t>
            </a:r>
          </a:p>
          <a:p>
            <a:pPr algn="ctr"/>
            <a:r>
              <a:rPr sz="1400" b="0">
                <a:solidFill>
                  <a:srgbClr val="203348"/>
                </a:solidFill>
                <a:latin typeface="Noto Sans CJK SC"/>
              </a:rPr>
              <a:t>四类联合分类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91640" y="2331720"/>
            <a:ext cx="320040" cy="0"/>
          </a:xfrm>
          <a:prstGeom prst="line">
            <a:avLst/>
          </a:prstGeom>
          <a:ln w="19050">
            <a:solidFill>
              <a:srgbClr val="285E8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74720" y="2331720"/>
            <a:ext cx="320040" cy="0"/>
          </a:xfrm>
          <a:prstGeom prst="line">
            <a:avLst/>
          </a:prstGeom>
          <a:ln w="19050">
            <a:solidFill>
              <a:srgbClr val="285E8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120640" y="2331720"/>
            <a:ext cx="320040" cy="0"/>
          </a:xfrm>
          <a:prstGeom prst="line">
            <a:avLst/>
          </a:prstGeom>
          <a:ln w="19050">
            <a:solidFill>
              <a:srgbClr val="285E8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0" y="2331720"/>
            <a:ext cx="320040" cy="0"/>
          </a:xfrm>
          <a:prstGeom prst="line">
            <a:avLst/>
          </a:prstGeom>
          <a:ln w="19050">
            <a:solidFill>
              <a:srgbClr val="285E8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686800" y="2331720"/>
            <a:ext cx="320040" cy="0"/>
          </a:xfrm>
          <a:prstGeom prst="line">
            <a:avLst/>
          </a:prstGeom>
          <a:ln w="19050">
            <a:solidFill>
              <a:srgbClr val="285E8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743200" y="2834640"/>
            <a:ext cx="0" cy="502920"/>
          </a:xfrm>
          <a:prstGeom prst="line">
            <a:avLst/>
          </a:prstGeom>
          <a:ln w="19050">
            <a:solidFill>
              <a:srgbClr val="285E8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43200" y="3337560"/>
            <a:ext cx="7040880" cy="0"/>
          </a:xfrm>
          <a:prstGeom prst="line">
            <a:avLst/>
          </a:prstGeom>
          <a:ln w="19050">
            <a:solidFill>
              <a:srgbClr val="285E8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784080" y="2834640"/>
            <a:ext cx="0" cy="502920"/>
          </a:xfrm>
          <a:prstGeom prst="line">
            <a:avLst/>
          </a:prstGeom>
          <a:ln w="19050">
            <a:solidFill>
              <a:srgbClr val="285E8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63440" y="3246120"/>
            <a:ext cx="2926080" cy="32004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285E89"/>
                </a:solidFill>
                <a:latin typeface="Noto Sans CJK SC"/>
              </a:rPr>
              <a:t>保留原像素信息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160520"/>
            <a:ext cx="2057400" cy="77724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187952"/>
            <a:ext cx="1965960" cy="722376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203348"/>
                </a:solidFill>
                <a:latin typeface="Noto Sans CJK SC"/>
              </a:rPr>
              <a:t>允许的Train成员</a:t>
            </a:r>
          </a:p>
          <a:p>
            <a:pPr algn="ctr"/>
            <a:r>
              <a:rPr sz="1400" b="0">
                <a:solidFill>
                  <a:srgbClr val="203348"/>
                </a:solidFill>
                <a:latin typeface="Noto Sans CJK SC"/>
              </a:rPr>
              <a:t>RGB／SAR／Train标签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160520"/>
            <a:ext cx="2194560" cy="777240"/>
          </a:xfrm>
          <a:prstGeom prst="roundRect">
            <a:avLst/>
          </a:prstGeom>
          <a:solidFill>
            <a:srgbClr val="EAF5F1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0" y="4187952"/>
            <a:ext cx="2103120" cy="722376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203348"/>
                </a:solidFill>
                <a:latin typeface="Noto Sans CJK SC"/>
              </a:rPr>
              <a:t>同一冻结前端与Q</a:t>
            </a:r>
          </a:p>
          <a:p>
            <a:pPr algn="ctr"/>
            <a:r>
              <a:rPr sz="1400" b="0">
                <a:solidFill>
                  <a:srgbClr val="203348"/>
                </a:solidFill>
                <a:latin typeface="Noto Sans CJK SC"/>
              </a:rPr>
              <a:t>同一分槽规则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15000" y="4160520"/>
            <a:ext cx="2103120" cy="777240"/>
          </a:xfrm>
          <a:prstGeom prst="roundRect">
            <a:avLst/>
          </a:prstGeom>
          <a:solidFill>
            <a:srgbClr val="FAF1E6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0" y="4187952"/>
            <a:ext cx="2011679" cy="722376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203348"/>
                </a:solidFill>
                <a:latin typeface="Noto Sans CJK SC"/>
              </a:rPr>
              <a:t>父区域key索引</a:t>
            </a:r>
          </a:p>
          <a:p>
            <a:pPr algn="ctr"/>
            <a:r>
              <a:rPr sz="1300" b="0">
                <a:solidFill>
                  <a:srgbClr val="203348"/>
                </a:solidFill>
                <a:latin typeface="Noto Sans CJK SC"/>
              </a:rPr>
              <a:t>槽特征＋软标签＋来源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4160520"/>
            <a:ext cx="2103120" cy="777240"/>
          </a:xfrm>
          <a:prstGeom prst="roundRect">
            <a:avLst/>
          </a:prstGeom>
          <a:solidFill>
            <a:srgbClr val="FAF1E6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4187952"/>
            <a:ext cx="2011679" cy="722376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203348"/>
                </a:solidFill>
                <a:latin typeface="Noto Sans CJK SC"/>
              </a:rPr>
              <a:t>排除同图／同事件</a:t>
            </a:r>
          </a:p>
          <a:p>
            <a:pPr algn="ctr"/>
            <a:r>
              <a:rPr sz="1400" b="0">
                <a:solidFill>
                  <a:srgbClr val="203348"/>
                </a:solidFill>
                <a:latin typeface="Noto Sans CJK SC"/>
              </a:rPr>
              <a:t>检索K个父案例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651760" y="4544568"/>
            <a:ext cx="411480" cy="0"/>
          </a:xfrm>
          <a:prstGeom prst="line">
            <a:avLst/>
          </a:prstGeom>
          <a:ln w="19050">
            <a:solidFill>
              <a:srgbClr val="285E8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257800" y="4544568"/>
            <a:ext cx="457200" cy="0"/>
          </a:xfrm>
          <a:prstGeom prst="line">
            <a:avLst/>
          </a:prstGeom>
          <a:ln w="19050">
            <a:solidFill>
              <a:srgbClr val="285E8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818120" y="4544568"/>
            <a:ext cx="457200" cy="0"/>
          </a:xfrm>
          <a:prstGeom prst="line">
            <a:avLst/>
          </a:prstGeom>
          <a:ln w="19050">
            <a:solidFill>
              <a:srgbClr val="285E8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326880" y="3703320"/>
            <a:ext cx="0" cy="457200"/>
          </a:xfrm>
          <a:prstGeom prst="line">
            <a:avLst/>
          </a:prstGeom>
          <a:ln w="19050">
            <a:solidFill>
              <a:srgbClr val="285E8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7927848" y="3703320"/>
            <a:ext cx="1399032" cy="0"/>
          </a:xfrm>
          <a:prstGeom prst="line">
            <a:avLst/>
          </a:prstGeom>
          <a:ln w="19050">
            <a:solidFill>
              <a:srgbClr val="285E8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927848" y="2834640"/>
            <a:ext cx="0" cy="868680"/>
          </a:xfrm>
          <a:prstGeom prst="line">
            <a:avLst/>
          </a:prstGeom>
          <a:ln w="19050">
            <a:solidFill>
              <a:srgbClr val="285E8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794760" y="1325880"/>
            <a:ext cx="3063240" cy="329184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267F7D"/>
                </a:solidFill>
                <a:latin typeface="Noto Sans CJK SC"/>
              </a:rPr>
              <a:t>上：在线查询与分类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257800"/>
            <a:ext cx="9784080" cy="56692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203348"/>
                </a:solidFill>
                <a:latin typeface="Noto Sans CJK SC"/>
              </a:rPr>
              <a:t>先用父区域key选择案例ID，再读取这些案例的槽内容。</a:t>
            </a:r>
          </a:p>
          <a:p>
            <a:pPr algn="ctr"/>
            <a:r>
              <a:rPr sz="1500" b="0">
                <a:solidFill>
                  <a:srgbClr val="203348"/>
                </a:solidFill>
                <a:latin typeface="Noto Sans CJK SC"/>
              </a:rPr>
              <a:t>K个双槽父案例最多提供2K个槽，仍是K个案例。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784848"/>
            <a:ext cx="10241280" cy="347472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647487"/>
                </a:solidFill>
                <a:latin typeface="Noto Sans CJK SC"/>
              </a:rPr>
              <a:t>查询GT只参与训练监督或事后评价，不进入验证／测试时的检索输入。区域不是建筑实例。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0332720" cy="41148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203348"/>
                </a:solidFill>
                <a:latin typeface="Noto Sans CJK SC"/>
              </a:rPr>
              <a:t>图2  同一父区域的单槽、空间双槽与soft双槽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30936"/>
            <a:ext cx="10332720" cy="41148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647487"/>
                </a:solidFill>
                <a:latin typeface="Noto Sans CJK SC"/>
              </a:rPr>
              <a:t>方法示意｜概念图不是真实Q、建筑概率响应或实验预测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69848"/>
            <a:ext cx="10332720" cy="22860"/>
          </a:xfrm>
          <a:prstGeom prst="rect">
            <a:avLst/>
          </a:prstGeom>
          <a:solidFill>
            <a:srgbClr val="285E89"/>
          </a:solidFill>
          <a:ln w="12700">
            <a:solidFill>
              <a:srgbClr val="285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3017520" cy="36576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900" b="1">
                <a:solidFill>
                  <a:srgbClr val="203348"/>
                </a:solidFill>
                <a:latin typeface="Noto Sans CJK SC"/>
              </a:rPr>
              <a:t>单槽区域摘要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1280160"/>
            <a:ext cx="3017520" cy="36576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900" b="1">
                <a:solidFill>
                  <a:srgbClr val="203348"/>
                </a:solidFill>
                <a:latin typeface="Noto Sans CJK SC"/>
              </a:rPr>
              <a:t>固定空间双槽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280160"/>
            <a:ext cx="3017520" cy="36576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900" b="1">
                <a:solidFill>
                  <a:srgbClr val="203348"/>
                </a:solidFill>
                <a:latin typeface="Noto Sans CJK SC"/>
              </a:rPr>
              <a:t>建筑概率soft双槽</a:t>
            </a:r>
          </a:p>
        </p:txBody>
      </p:sp>
      <p:sp>
        <p:nvSpPr>
          <p:cNvPr id="8" name="Rectangle 7"/>
          <p:cNvSpPr/>
          <p:nvPr/>
        </p:nvSpPr>
        <p:spPr>
          <a:xfrm>
            <a:off x="1124712" y="1856231"/>
            <a:ext cx="420624" cy="420624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45336" y="1856231"/>
            <a:ext cx="420624" cy="420624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65960" y="1856231"/>
            <a:ext cx="420624" cy="420624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86584" y="1856231"/>
            <a:ext cx="420624" cy="420624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4712" y="2276856"/>
            <a:ext cx="420624" cy="420624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45336" y="2276856"/>
            <a:ext cx="420624" cy="420624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65960" y="2276856"/>
            <a:ext cx="420624" cy="420624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86584" y="2276856"/>
            <a:ext cx="420624" cy="420624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24712" y="2697479"/>
            <a:ext cx="420624" cy="420624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45336" y="2697479"/>
            <a:ext cx="420624" cy="420624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65960" y="2697479"/>
            <a:ext cx="420624" cy="420624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6584" y="2697479"/>
            <a:ext cx="420624" cy="420624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24712" y="3118104"/>
            <a:ext cx="420624" cy="420624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45336" y="3118104"/>
            <a:ext cx="420624" cy="420624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65960" y="3118104"/>
            <a:ext cx="420624" cy="420624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86584" y="3118104"/>
            <a:ext cx="420624" cy="420624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685032"/>
            <a:ext cx="3017520" cy="45720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203348"/>
                </a:solidFill>
                <a:latin typeface="Noto Sans CJK SC"/>
              </a:rPr>
              <a:t>槽权重：Q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011680" y="4187952"/>
            <a:ext cx="0" cy="338328"/>
          </a:xfrm>
          <a:prstGeom prst="line">
            <a:avLst/>
          </a:prstGeom>
          <a:ln w="19050">
            <a:solidFill>
              <a:srgbClr val="285E8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85800" y="4645152"/>
            <a:ext cx="2651760" cy="77724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72584"/>
            <a:ext cx="2560320" cy="722376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203348"/>
                </a:solidFill>
                <a:latin typeface="Noto Sans CJK SC"/>
              </a:rPr>
              <a:t>1份特征摘要</a:t>
            </a:r>
          </a:p>
          <a:p>
            <a:pPr algn="ctr"/>
            <a:r>
              <a:rPr sz="1400" b="0">
                <a:solidFill>
                  <a:srgbClr val="203348"/>
                </a:solidFill>
                <a:latin typeface="Noto Sans CJK SC"/>
              </a:rPr>
              <a:t>1份标签组成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07992" y="1856231"/>
            <a:ext cx="420624" cy="420624"/>
          </a:xfrm>
          <a:prstGeom prst="rect">
            <a:avLst/>
          </a:prstGeom>
          <a:solidFill>
            <a:srgbClr val="FAF1E6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28616" y="1856231"/>
            <a:ext cx="420624" cy="420624"/>
          </a:xfrm>
          <a:prstGeom prst="rect">
            <a:avLst/>
          </a:prstGeom>
          <a:solidFill>
            <a:srgbClr val="EAF5F1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49240" y="1856231"/>
            <a:ext cx="420624" cy="420624"/>
          </a:xfrm>
          <a:prstGeom prst="rect">
            <a:avLst/>
          </a:prstGeom>
          <a:solidFill>
            <a:srgbClr val="FAF1E6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69864" y="1856231"/>
            <a:ext cx="420624" cy="420624"/>
          </a:xfrm>
          <a:prstGeom prst="rect">
            <a:avLst/>
          </a:prstGeom>
          <a:solidFill>
            <a:srgbClr val="EAF5F1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07992" y="2276856"/>
            <a:ext cx="420624" cy="420624"/>
          </a:xfrm>
          <a:prstGeom prst="rect">
            <a:avLst/>
          </a:prstGeom>
          <a:solidFill>
            <a:srgbClr val="EAF5F1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28616" y="2276856"/>
            <a:ext cx="420624" cy="420624"/>
          </a:xfrm>
          <a:prstGeom prst="rect">
            <a:avLst/>
          </a:prstGeom>
          <a:solidFill>
            <a:srgbClr val="FAF1E6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49240" y="2276856"/>
            <a:ext cx="420624" cy="420624"/>
          </a:xfrm>
          <a:prstGeom prst="rect">
            <a:avLst/>
          </a:prstGeom>
          <a:solidFill>
            <a:srgbClr val="EAF5F1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69864" y="2276856"/>
            <a:ext cx="420624" cy="420624"/>
          </a:xfrm>
          <a:prstGeom prst="rect">
            <a:avLst/>
          </a:prstGeom>
          <a:solidFill>
            <a:srgbClr val="FAF1E6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07992" y="2697479"/>
            <a:ext cx="420624" cy="420624"/>
          </a:xfrm>
          <a:prstGeom prst="rect">
            <a:avLst/>
          </a:prstGeom>
          <a:solidFill>
            <a:srgbClr val="FAF1E6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28616" y="2697479"/>
            <a:ext cx="420624" cy="420624"/>
          </a:xfrm>
          <a:prstGeom prst="rect">
            <a:avLst/>
          </a:prstGeom>
          <a:solidFill>
            <a:srgbClr val="EAF5F1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349240" y="2697479"/>
            <a:ext cx="420624" cy="420624"/>
          </a:xfrm>
          <a:prstGeom prst="rect">
            <a:avLst/>
          </a:prstGeom>
          <a:solidFill>
            <a:srgbClr val="FAF1E6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69864" y="2697479"/>
            <a:ext cx="420624" cy="420624"/>
          </a:xfrm>
          <a:prstGeom prst="rect">
            <a:avLst/>
          </a:prstGeom>
          <a:solidFill>
            <a:srgbClr val="EAF5F1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07992" y="3118104"/>
            <a:ext cx="420624" cy="420624"/>
          </a:xfrm>
          <a:prstGeom prst="rect">
            <a:avLst/>
          </a:prstGeom>
          <a:solidFill>
            <a:srgbClr val="EAF5F1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28616" y="3118104"/>
            <a:ext cx="420624" cy="420624"/>
          </a:xfrm>
          <a:prstGeom prst="rect">
            <a:avLst/>
          </a:prstGeom>
          <a:solidFill>
            <a:srgbClr val="FAF1E6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349240" y="3118104"/>
            <a:ext cx="420624" cy="420624"/>
          </a:xfrm>
          <a:prstGeom prst="rect">
            <a:avLst/>
          </a:prstGeom>
          <a:solidFill>
            <a:srgbClr val="EAF5F1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769864" y="3118104"/>
            <a:ext cx="420624" cy="420624"/>
          </a:xfrm>
          <a:prstGeom prst="rect">
            <a:avLst/>
          </a:prstGeom>
          <a:solidFill>
            <a:srgbClr val="FAF1E6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86200" y="3685032"/>
            <a:ext cx="3017520" cy="45720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203348"/>
                </a:solidFill>
                <a:latin typeface="Noto Sans CJK SC"/>
              </a:rPr>
              <a:t>槽权重：Q×固定空间规则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394960" y="4187952"/>
            <a:ext cx="0" cy="338328"/>
          </a:xfrm>
          <a:prstGeom prst="line">
            <a:avLst/>
          </a:prstGeom>
          <a:ln w="19050">
            <a:solidFill>
              <a:srgbClr val="285E8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4069080" y="4645152"/>
            <a:ext cx="2651760" cy="77724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0" y="4672584"/>
            <a:ext cx="2560320" cy="722376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203348"/>
                </a:solidFill>
                <a:latin typeface="Noto Sans CJK SC"/>
              </a:rPr>
              <a:t>空间位置分开汇总</a:t>
            </a:r>
          </a:p>
          <a:p>
            <a:pPr algn="ctr"/>
            <a:r>
              <a:rPr sz="1400" b="0">
                <a:solidFill>
                  <a:srgbClr val="203348"/>
                </a:solidFill>
                <a:latin typeface="Noto Sans CJK SC"/>
              </a:rPr>
              <a:t>2份内容与标签摘要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91272" y="1856231"/>
            <a:ext cx="420624" cy="420624"/>
          </a:xfrm>
          <a:prstGeom prst="rect">
            <a:avLst/>
          </a:prstGeom>
          <a:solidFill>
            <a:srgbClr val="FAF1E6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311896" y="1856231"/>
            <a:ext cx="420624" cy="420624"/>
          </a:xfrm>
          <a:prstGeom prst="rect">
            <a:avLst/>
          </a:prstGeom>
          <a:solidFill>
            <a:srgbClr val="FAF1E6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732520" y="1856231"/>
            <a:ext cx="420624" cy="420624"/>
          </a:xfrm>
          <a:prstGeom prst="rect">
            <a:avLst/>
          </a:prstGeom>
          <a:solidFill>
            <a:srgbClr val="FAF1E6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53144" y="1856231"/>
            <a:ext cx="420624" cy="420624"/>
          </a:xfrm>
          <a:prstGeom prst="rect">
            <a:avLst/>
          </a:prstGeom>
          <a:solidFill>
            <a:srgbClr val="FAF1E6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891272" y="2276856"/>
            <a:ext cx="420624" cy="420624"/>
          </a:xfrm>
          <a:prstGeom prst="rect">
            <a:avLst/>
          </a:prstGeom>
          <a:solidFill>
            <a:srgbClr val="FAF1E6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311896" y="2276856"/>
            <a:ext cx="420624" cy="420624"/>
          </a:xfrm>
          <a:prstGeom prst="rect">
            <a:avLst/>
          </a:prstGeom>
          <a:solidFill>
            <a:srgbClr val="EAF5F1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732520" y="2276856"/>
            <a:ext cx="420624" cy="420624"/>
          </a:xfrm>
          <a:prstGeom prst="rect">
            <a:avLst/>
          </a:prstGeom>
          <a:solidFill>
            <a:srgbClr val="EAF5F1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53144" y="2276856"/>
            <a:ext cx="420624" cy="420624"/>
          </a:xfrm>
          <a:prstGeom prst="rect">
            <a:avLst/>
          </a:prstGeom>
          <a:solidFill>
            <a:srgbClr val="FAF1E6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91272" y="2697479"/>
            <a:ext cx="420624" cy="420624"/>
          </a:xfrm>
          <a:prstGeom prst="rect">
            <a:avLst/>
          </a:prstGeom>
          <a:solidFill>
            <a:srgbClr val="FAF1E6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11896" y="2697479"/>
            <a:ext cx="420624" cy="420624"/>
          </a:xfrm>
          <a:prstGeom prst="rect">
            <a:avLst/>
          </a:prstGeom>
          <a:solidFill>
            <a:srgbClr val="EAF5F1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732520" y="2697479"/>
            <a:ext cx="420624" cy="420624"/>
          </a:xfrm>
          <a:prstGeom prst="rect">
            <a:avLst/>
          </a:prstGeom>
          <a:solidFill>
            <a:srgbClr val="EAF5F1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153144" y="2697479"/>
            <a:ext cx="420624" cy="420624"/>
          </a:xfrm>
          <a:prstGeom prst="rect">
            <a:avLst/>
          </a:prstGeom>
          <a:solidFill>
            <a:srgbClr val="FAF1E6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891272" y="3118104"/>
            <a:ext cx="420624" cy="420624"/>
          </a:xfrm>
          <a:prstGeom prst="rect">
            <a:avLst/>
          </a:prstGeom>
          <a:solidFill>
            <a:srgbClr val="FAF1E6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311896" y="3118104"/>
            <a:ext cx="420624" cy="420624"/>
          </a:xfrm>
          <a:prstGeom prst="rect">
            <a:avLst/>
          </a:prstGeom>
          <a:solidFill>
            <a:srgbClr val="FAF1E6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732520" y="3118104"/>
            <a:ext cx="420624" cy="420624"/>
          </a:xfrm>
          <a:prstGeom prst="rect">
            <a:avLst/>
          </a:prstGeom>
          <a:solidFill>
            <a:srgbClr val="FAF1E6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153144" y="3118104"/>
            <a:ext cx="420624" cy="420624"/>
          </a:xfrm>
          <a:prstGeom prst="rect">
            <a:avLst/>
          </a:prstGeom>
          <a:solidFill>
            <a:srgbClr val="FAF1E6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69480" y="3685032"/>
            <a:ext cx="3017520" cy="45720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203348"/>
                </a:solidFill>
                <a:latin typeface="Noto Sans CJK SC"/>
              </a:rPr>
              <a:t>槽权重：Q×B，Q×(1−B)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8778240" y="4187952"/>
            <a:ext cx="0" cy="338328"/>
          </a:xfrm>
          <a:prstGeom prst="line">
            <a:avLst/>
          </a:prstGeom>
          <a:ln w="19050">
            <a:solidFill>
              <a:srgbClr val="285E8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7452360" y="4645152"/>
            <a:ext cx="2651760" cy="777240"/>
          </a:xfrm>
          <a:prstGeom prst="round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98080" y="4672584"/>
            <a:ext cx="2560320" cy="722376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203348"/>
                </a:solidFill>
                <a:latin typeface="Noto Sans CJK SC"/>
              </a:rPr>
              <a:t>按预测建筑概率加权</a:t>
            </a:r>
          </a:p>
          <a:p>
            <a:pPr algn="ctr"/>
            <a:r>
              <a:rPr sz="1400" b="0">
                <a:solidFill>
                  <a:srgbClr val="203348"/>
                </a:solidFill>
                <a:latin typeface="Noto Sans CJK SC"/>
              </a:rPr>
              <a:t>2份内容与标签摘要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4360" y="5715000"/>
            <a:ext cx="9784080" cy="59436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203348"/>
                </a:solidFill>
                <a:latin typeface="Noto Sans CJK SC"/>
              </a:rPr>
              <a:t>所有槽均汇总同一父区域中的特征；软权重可重叠。</a:t>
            </a:r>
          </a:p>
          <a:p>
            <a:pPr algn="ctr"/>
            <a:r>
              <a:rPr sz="1400" b="0">
                <a:solidFill>
                  <a:srgbClr val="203348"/>
                </a:solidFill>
                <a:latin typeface="Noto Sans CJK SC"/>
              </a:rPr>
              <a:t>“背景侧槽”不被强制预测为背景，零质量槽需使用有效掩膜。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6784848"/>
            <a:ext cx="10241280" cy="347472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647487"/>
                </a:solidFill>
                <a:latin typeface="Noto Sans CJK SC"/>
              </a:rPr>
              <a:t>同一查询的父案例ID应在分槽比较中保持一致；Train标签按相同槽权重汇总。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0332720" cy="41148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203348"/>
                </a:solidFill>
                <a:latin typeface="Noto Sans CJK SC"/>
              </a:rPr>
              <a:t>图3  总体定性比较：同一窗口、统一类别配色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30936"/>
            <a:ext cx="10332720" cy="41148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647487"/>
                </a:solidFill>
                <a:latin typeface="Noto Sans CJK SC"/>
              </a:rPr>
              <a:t>结果版面模板｜所有预测占位框须替换为真实图像，不含合成实验结果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69848"/>
            <a:ext cx="10332720" cy="22860"/>
          </a:xfrm>
          <a:prstGeom prst="rect">
            <a:avLst/>
          </a:prstGeom>
          <a:solidFill>
            <a:srgbClr val="285E89"/>
          </a:solidFill>
          <a:ln w="12700">
            <a:solidFill>
              <a:srgbClr val="285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25296"/>
            <a:ext cx="1572768" cy="38404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03348"/>
                </a:solidFill>
                <a:latin typeface="Noto Sans CJK SC"/>
              </a:rPr>
              <a:t>灾前RGB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30552" y="1225296"/>
            <a:ext cx="1572768" cy="38404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03348"/>
                </a:solidFill>
                <a:latin typeface="Noto Sans CJK SC"/>
              </a:rPr>
              <a:t>灾后SAR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9624" y="1225296"/>
            <a:ext cx="1572768" cy="38404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03348"/>
                </a:solidFill>
                <a:latin typeface="Noto Sans CJK SC"/>
              </a:rPr>
              <a:t>参考GT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68696" y="1225296"/>
            <a:ext cx="1572768" cy="38404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03348"/>
                </a:solidFill>
                <a:latin typeface="Noto Sans CJK SC"/>
              </a:rPr>
              <a:t>像素前端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1225296"/>
            <a:ext cx="1572768" cy="38404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03348"/>
                </a:solidFill>
                <a:latin typeface="Noto Sans CJK SC"/>
              </a:rPr>
              <a:t>强对比模型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39" y="1225296"/>
            <a:ext cx="1572768" cy="38404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03348"/>
                </a:solidFill>
                <a:latin typeface="Noto Sans CJK SC"/>
              </a:rPr>
              <a:t>完整方案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1572768" cy="117043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10512"/>
            <a:ext cx="1481328" cy="111556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待填：灾前RGB</a:t>
            </a:r>
          </a:p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同一空间窗口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30552" y="1783080"/>
            <a:ext cx="1572768" cy="117043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76272" y="1810512"/>
            <a:ext cx="1481328" cy="111556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待填：灾后SAR</a:t>
            </a:r>
          </a:p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同一空间窗口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9624" y="1783080"/>
            <a:ext cx="1572768" cy="117043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95344" y="1810512"/>
            <a:ext cx="1481328" cy="111556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待填：参考GT</a:t>
            </a:r>
          </a:p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同一空间窗口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68696" y="1783080"/>
            <a:ext cx="1572768" cy="117043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14416" y="1810512"/>
            <a:ext cx="1481328" cy="111556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待填：像素前端</a:t>
            </a:r>
          </a:p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同一空间窗口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87768" y="1783080"/>
            <a:ext cx="1572768" cy="117043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33488" y="1810512"/>
            <a:ext cx="1481328" cy="111556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待填：强对比模型</a:t>
            </a:r>
          </a:p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同一空间窗口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39" y="1783080"/>
            <a:ext cx="1572768" cy="117043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59" y="1810512"/>
            <a:ext cx="1481328" cy="111556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待填：完整方案</a:t>
            </a:r>
          </a:p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同一空间窗口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2953512"/>
            <a:ext cx="10149840" cy="237744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647487"/>
                </a:solidFill>
                <a:latin typeface="Noto Sans CJK SC"/>
              </a:rPr>
              <a:t>密集建筑／等级混合：记录图像ID、事件和裁窗坐标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227832"/>
            <a:ext cx="1572768" cy="117043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255264"/>
            <a:ext cx="1481328" cy="111556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待填：灾前RGB</a:t>
            </a:r>
          </a:p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同一空间窗口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30552" y="3227832"/>
            <a:ext cx="1572768" cy="117043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76272" y="3255264"/>
            <a:ext cx="1481328" cy="111556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待填：灾后SAR</a:t>
            </a:r>
          </a:p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同一空间窗口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9624" y="3227832"/>
            <a:ext cx="1572768" cy="117043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95344" y="3255264"/>
            <a:ext cx="1481328" cy="111556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待填：参考GT</a:t>
            </a:r>
          </a:p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同一空间窗口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68696" y="3227832"/>
            <a:ext cx="1572768" cy="117043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14416" y="3255264"/>
            <a:ext cx="1481328" cy="111556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待填：像素前端</a:t>
            </a:r>
          </a:p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同一空间窗口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87768" y="3227832"/>
            <a:ext cx="1572768" cy="117043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33488" y="3255264"/>
            <a:ext cx="1481328" cy="111556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待填：强对比模型</a:t>
            </a:r>
          </a:p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同一空间窗口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06839" y="3227832"/>
            <a:ext cx="1572768" cy="117043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59" y="3255264"/>
            <a:ext cx="1481328" cy="111556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待填：完整方案</a:t>
            </a:r>
          </a:p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同一空间窗口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4398264"/>
            <a:ext cx="10149840" cy="237744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647487"/>
                </a:solidFill>
                <a:latin typeface="Noto Sans CJK SC"/>
              </a:rPr>
              <a:t>稀疏小建筑／背景：记录图像ID、事件和裁窗坐标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672584"/>
            <a:ext cx="1572768" cy="117043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700016"/>
            <a:ext cx="1481328" cy="111556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待填：灾前RGB</a:t>
            </a:r>
          </a:p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同一空间窗口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30552" y="4672584"/>
            <a:ext cx="1572768" cy="117043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76272" y="4700016"/>
            <a:ext cx="1481328" cy="111556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待填：灾后SAR</a:t>
            </a:r>
          </a:p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同一空间窗口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9624" y="4672584"/>
            <a:ext cx="1572768" cy="117043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95344" y="4700016"/>
            <a:ext cx="1481328" cy="111556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待填：参考GT</a:t>
            </a:r>
          </a:p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同一空间窗口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8696" y="4672584"/>
            <a:ext cx="1572768" cy="117043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14416" y="4700016"/>
            <a:ext cx="1481328" cy="111556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待填：像素前端</a:t>
            </a:r>
          </a:p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同一空间窗口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87768" y="4672584"/>
            <a:ext cx="1572768" cy="117043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33488" y="4700016"/>
            <a:ext cx="1481328" cy="111556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待填：强对比模型</a:t>
            </a:r>
          </a:p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同一空间窗口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06839" y="4672584"/>
            <a:ext cx="1572768" cy="117043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59" y="4700016"/>
            <a:ext cx="1481328" cy="111556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待填：完整方案</a:t>
            </a:r>
          </a:p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同一空间窗口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5843016"/>
            <a:ext cx="10149840" cy="237744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647487"/>
                </a:solidFill>
                <a:latin typeface="Noto Sans CJK SC"/>
              </a:rPr>
              <a:t>困难或失败场景：记录图像ID、事件和裁窗坐标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0" y="6355080"/>
            <a:ext cx="21945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0" y="6309360"/>
            <a:ext cx="1005840" cy="29260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03348"/>
                </a:solidFill>
                <a:latin typeface="Noto Sans CJK SC"/>
              </a:rPr>
              <a:t>背景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0" y="6355080"/>
            <a:ext cx="219456" cy="201168"/>
          </a:xfrm>
          <a:prstGeom prst="rect">
            <a:avLst/>
          </a:prstGeom>
          <a:solidFill>
            <a:srgbClr val="4EAE86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31920" y="6309360"/>
            <a:ext cx="1005840" cy="29260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03348"/>
                </a:solidFill>
                <a:latin typeface="Noto Sans CJK SC"/>
              </a:rPr>
              <a:t>完好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0" y="6355080"/>
            <a:ext cx="219456" cy="201168"/>
          </a:xfrm>
          <a:prstGeom prst="rect">
            <a:avLst/>
          </a:prstGeom>
          <a:solidFill>
            <a:srgbClr val="DEB783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60720" y="6309360"/>
            <a:ext cx="1005840" cy="29260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03348"/>
                </a:solidFill>
                <a:latin typeface="Noto Sans CJK SC"/>
              </a:rPr>
              <a:t>受损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0" y="6355080"/>
            <a:ext cx="219456" cy="201168"/>
          </a:xfrm>
          <a:prstGeom prst="rect">
            <a:avLst/>
          </a:prstGeom>
          <a:solidFill>
            <a:srgbClr val="B74349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89520" y="6309360"/>
            <a:ext cx="1005840" cy="292608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203348"/>
                </a:solidFill>
                <a:latin typeface="Noto Sans CJK SC"/>
              </a:rPr>
              <a:t>毁坏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784848"/>
            <a:ext cx="10241280" cy="347472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647487"/>
                </a:solidFill>
                <a:latin typeface="Noto Sans CJK SC"/>
              </a:rPr>
              <a:t>输出均使用离散类别图；RGB与SAR保持原始显示方式。展示成功与失败，禁止按颜色面积判断优劣。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0332720" cy="41148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203348"/>
                </a:solidFill>
                <a:latin typeface="Noto Sans CJK SC"/>
              </a:rPr>
              <a:t>图4  Q与双槽的真实响应及对应预测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30936"/>
            <a:ext cx="10332720" cy="41148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647487"/>
                </a:solidFill>
                <a:latin typeface="Noto Sans CJK SC"/>
              </a:rPr>
              <a:t>机制结果模板｜同一窗口；先看输入与Q，再看真实槽权重，最后比较输出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69848"/>
            <a:ext cx="10332720" cy="22860"/>
          </a:xfrm>
          <a:prstGeom prst="rect">
            <a:avLst/>
          </a:prstGeom>
          <a:solidFill>
            <a:srgbClr val="285E89"/>
          </a:solidFill>
          <a:ln w="12700">
            <a:solidFill>
              <a:srgbClr val="285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53312"/>
            <a:ext cx="1572768" cy="329184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203348"/>
                </a:solidFill>
                <a:latin typeface="Noto Sans CJK SC"/>
              </a:rPr>
              <a:t>灾前RGB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46504"/>
            <a:ext cx="1572768" cy="107899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73936"/>
            <a:ext cx="1481328" cy="1024127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待填：原始图像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0552" y="1353312"/>
            <a:ext cx="1572768" cy="329184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203348"/>
                </a:solidFill>
                <a:latin typeface="Noto Sans CJK SC"/>
              </a:rPr>
              <a:t>灾后SAR</a:t>
            </a:r>
          </a:p>
        </p:txBody>
      </p:sp>
      <p:sp>
        <p:nvSpPr>
          <p:cNvPr id="9" name="Rectangle 8"/>
          <p:cNvSpPr/>
          <p:nvPr/>
        </p:nvSpPr>
        <p:spPr>
          <a:xfrm>
            <a:off x="2130552" y="1746504"/>
            <a:ext cx="1572768" cy="107899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1773936"/>
            <a:ext cx="1481328" cy="1024127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待填：原始图像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9624" y="1353312"/>
            <a:ext cx="1572768" cy="329184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203348"/>
                </a:solidFill>
                <a:latin typeface="Noto Sans CJK SC"/>
              </a:rPr>
              <a:t>参考GT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9624" y="1746504"/>
            <a:ext cx="1572768" cy="107899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95344" y="1773936"/>
            <a:ext cx="1481328" cy="1024127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待填：真实标签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68696" y="1353312"/>
            <a:ext cx="1572768" cy="329184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203348"/>
                </a:solidFill>
                <a:latin typeface="Noto Sans CJK SC"/>
              </a:rPr>
              <a:t>预测建筑概率B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68696" y="1746504"/>
            <a:ext cx="1572768" cy="107899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14416" y="1773936"/>
            <a:ext cx="1481328" cy="1024127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待填：真实概率图＋色条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7768" y="1353312"/>
            <a:ext cx="1572768" cy="329184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203348"/>
                </a:solidFill>
                <a:latin typeface="Noto Sans CJK SC"/>
              </a:rPr>
              <a:t>Q区域叠加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87768" y="1746504"/>
            <a:ext cx="1572768" cy="107899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3488" y="1773936"/>
            <a:ext cx="1481328" cy="1024127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待填：真实Q响应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39" y="1353312"/>
            <a:ext cx="1572768" cy="329184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203348"/>
                </a:solidFill>
                <a:latin typeface="Noto Sans CJK SC"/>
              </a:rPr>
              <a:t>父区域局部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39" y="1746504"/>
            <a:ext cx="1572768" cy="107899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59" y="1773936"/>
            <a:ext cx="1481328" cy="1024127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待填：固定父区域ID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044952"/>
            <a:ext cx="1572768" cy="329184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203348"/>
                </a:solidFill>
                <a:latin typeface="Noto Sans CJK SC"/>
              </a:rPr>
              <a:t>单槽权重Q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438144"/>
            <a:ext cx="1572768" cy="107899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465576"/>
            <a:ext cx="1481328" cy="1024127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待填：真实route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30552" y="3044952"/>
            <a:ext cx="1572768" cy="329184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203348"/>
                </a:solidFill>
                <a:latin typeface="Noto Sans CJK SC"/>
              </a:rPr>
              <a:t>空间槽一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30552" y="3438144"/>
            <a:ext cx="1572768" cy="107899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76272" y="3465576"/>
            <a:ext cx="1481328" cy="1024127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待填：真实route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9624" y="3044952"/>
            <a:ext cx="1572768" cy="329184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203348"/>
                </a:solidFill>
                <a:latin typeface="Noto Sans CJK SC"/>
              </a:rPr>
              <a:t>空间槽二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9624" y="3438144"/>
            <a:ext cx="1572768" cy="107899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95344" y="3465576"/>
            <a:ext cx="1481328" cy="1024127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待填：真实route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68696" y="3044952"/>
            <a:ext cx="1572768" cy="329184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203348"/>
                </a:solidFill>
                <a:latin typeface="Noto Sans CJK SC"/>
              </a:rPr>
              <a:t>soft槽Q×B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68696" y="3438144"/>
            <a:ext cx="1572768" cy="107899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14416" y="3465576"/>
            <a:ext cx="1481328" cy="1024127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待填：真实route＋色条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87768" y="3044952"/>
            <a:ext cx="1572768" cy="329184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203348"/>
                </a:solidFill>
                <a:latin typeface="Noto Sans CJK SC"/>
              </a:rPr>
              <a:t>soft槽Q×(1−B)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87768" y="3438144"/>
            <a:ext cx="1572768" cy="107899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33488" y="3465576"/>
            <a:ext cx="1481328" cy="1024127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待填：真实route＋色条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39" y="3044952"/>
            <a:ext cx="1572768" cy="329184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203348"/>
                </a:solidFill>
                <a:latin typeface="Noto Sans CJK SC"/>
              </a:rPr>
              <a:t>有效槽摘要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06839" y="3438144"/>
            <a:ext cx="1572768" cy="107899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59" y="3465576"/>
            <a:ext cx="1481328" cy="1024127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待填：质量／有效掩膜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4736592"/>
            <a:ext cx="1572768" cy="329184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203348"/>
                </a:solidFill>
                <a:latin typeface="Noto Sans CJK SC"/>
              </a:rPr>
              <a:t>像素基底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5129783"/>
            <a:ext cx="1572768" cy="107899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157216"/>
            <a:ext cx="1481328" cy="1024127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待填：真实预测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30552" y="4736592"/>
            <a:ext cx="1572768" cy="329184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203348"/>
                </a:solidFill>
                <a:latin typeface="Noto Sans CJK SC"/>
              </a:rPr>
              <a:t>单槽输出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30552" y="5129783"/>
            <a:ext cx="1572768" cy="107899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76272" y="5157216"/>
            <a:ext cx="1481328" cy="1024127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待填：真实预测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9624" y="4736592"/>
            <a:ext cx="1572768" cy="329184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203348"/>
                </a:solidFill>
                <a:latin typeface="Noto Sans CJK SC"/>
              </a:rPr>
              <a:t>空间双槽输出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9624" y="5129783"/>
            <a:ext cx="1572768" cy="107899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95344" y="5157216"/>
            <a:ext cx="1481328" cy="1024127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待填：真实预测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68696" y="4736592"/>
            <a:ext cx="1572768" cy="329184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203348"/>
                </a:solidFill>
                <a:latin typeface="Noto Sans CJK SC"/>
              </a:rPr>
              <a:t>soft双槽输出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68696" y="5129783"/>
            <a:ext cx="1572768" cy="107899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14416" y="5157216"/>
            <a:ext cx="1481328" cy="1024127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待填：真实预测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87768" y="4736592"/>
            <a:ext cx="1572768" cy="329184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203348"/>
                </a:solidFill>
                <a:latin typeface="Noto Sans CJK SC"/>
              </a:rPr>
              <a:t>救回／误改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87768" y="5129783"/>
            <a:ext cx="1572768" cy="107899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33488" y="5157216"/>
            <a:ext cx="1481328" cy="1024127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待填：真实配对错误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06839" y="4736592"/>
            <a:ext cx="1572768" cy="329184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203348"/>
                </a:solidFill>
                <a:latin typeface="Noto Sans CJK SC"/>
              </a:rPr>
              <a:t>参考GT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006839" y="5129783"/>
            <a:ext cx="1572768" cy="1078992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52559" y="5157216"/>
            <a:ext cx="1481328" cy="1024127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47487"/>
                </a:solidFill>
                <a:latin typeface="Noto Sans CJK SC"/>
              </a:rPr>
              <a:t>待填：同一标签裁窗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784848"/>
            <a:ext cx="10241280" cy="347472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647487"/>
                </a:solidFill>
                <a:latin typeface="Noto Sans CJK SC"/>
              </a:rPr>
              <a:t>三行均使用同一图像/裁窗；GT仅用于评价。响应由真实张量导出，边缘与混合组不作为部署输入。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0332720" cy="41148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203348"/>
                </a:solidFill>
                <a:latin typeface="Noto Sans CJK SC"/>
              </a:rPr>
              <a:t>图5  Memory提供了哪些案例，如何改变预测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30936"/>
            <a:ext cx="10332720" cy="41148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647487"/>
                </a:solidFill>
                <a:latin typeface="Noto Sans CJK SC"/>
              </a:rPr>
              <a:t>案例证据模板｜上排展示实际选中支持，下排展示同一查询的输出变化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69848"/>
            <a:ext cx="10332720" cy="22860"/>
          </a:xfrm>
          <a:prstGeom prst="rect">
            <a:avLst/>
          </a:prstGeom>
          <a:solidFill>
            <a:srgbClr val="285E89"/>
          </a:solidFill>
          <a:ln w="12700">
            <a:solidFill>
              <a:srgbClr val="285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1920240" cy="1325880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27632"/>
            <a:ext cx="1828800" cy="1271016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647487"/>
                </a:solidFill>
                <a:latin typeface="Noto Sans CJK SC"/>
              </a:rPr>
              <a:t>待填：查询区域</a:t>
            </a:r>
          </a:p>
          <a:p>
            <a:pPr algn="ctr"/>
            <a:r>
              <a:rPr sz="1300" b="0">
                <a:solidFill>
                  <a:srgbClr val="647487"/>
                </a:solidFill>
                <a:latin typeface="Noto Sans CJK SC"/>
              </a:rPr>
              <a:t>图像／事件／父区域ID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600200"/>
            <a:ext cx="2331720" cy="1325880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1627632"/>
            <a:ext cx="2240279" cy="1271016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647487"/>
                </a:solidFill>
                <a:latin typeface="Noto Sans CJK SC"/>
              </a:rPr>
              <a:t>待填：实际支持 1</a:t>
            </a:r>
          </a:p>
          <a:p>
            <a:pPr algn="ctr"/>
            <a:r>
              <a:rPr sz="1300" b="0">
                <a:solidFill>
                  <a:srgbClr val="647487"/>
                </a:solidFill>
                <a:latin typeface="Noto Sans CJK SC"/>
              </a:rPr>
              <a:t>Train裁窗／槽示例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971800"/>
            <a:ext cx="2331720" cy="64008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647487"/>
                </a:solidFill>
                <a:latin typeface="Noto Sans CJK SC"/>
              </a:rPr>
              <a:t>来源事件：[待填]</a:t>
            </a:r>
          </a:p>
          <a:p>
            <a:pPr algn="ctr"/>
            <a:r>
              <a:rPr sz="1100" b="0">
                <a:solidFill>
                  <a:srgbClr val="647487"/>
                </a:solidFill>
                <a:latin typeface="Noto Sans CJK SC"/>
              </a:rPr>
              <a:t>相似度／软标签：[待填]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600200"/>
            <a:ext cx="2331720" cy="1325880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1627632"/>
            <a:ext cx="2240279" cy="1271016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647487"/>
                </a:solidFill>
                <a:latin typeface="Noto Sans CJK SC"/>
              </a:rPr>
              <a:t>待填：实际支持 2</a:t>
            </a:r>
          </a:p>
          <a:p>
            <a:pPr algn="ctr"/>
            <a:r>
              <a:rPr sz="1300" b="0">
                <a:solidFill>
                  <a:srgbClr val="647487"/>
                </a:solidFill>
                <a:latin typeface="Noto Sans CJK SC"/>
              </a:rPr>
              <a:t>Train裁窗／槽示例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971800"/>
            <a:ext cx="2331720" cy="64008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647487"/>
                </a:solidFill>
                <a:latin typeface="Noto Sans CJK SC"/>
              </a:rPr>
              <a:t>来源事件：[待填]</a:t>
            </a:r>
          </a:p>
          <a:p>
            <a:pPr algn="ctr"/>
            <a:r>
              <a:rPr sz="1100" b="0">
                <a:solidFill>
                  <a:srgbClr val="647487"/>
                </a:solidFill>
                <a:latin typeface="Noto Sans CJK SC"/>
              </a:rPr>
              <a:t>相似度／软标签：[待填]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600200"/>
            <a:ext cx="2331720" cy="1325880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627632"/>
            <a:ext cx="2240279" cy="1271016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647487"/>
                </a:solidFill>
                <a:latin typeface="Noto Sans CJK SC"/>
              </a:rPr>
              <a:t>待填：实际支持 3</a:t>
            </a:r>
          </a:p>
          <a:p>
            <a:pPr algn="ctr"/>
            <a:r>
              <a:rPr sz="1300" b="0">
                <a:solidFill>
                  <a:srgbClr val="647487"/>
                </a:solidFill>
                <a:latin typeface="Noto Sans CJK SC"/>
              </a:rPr>
              <a:t>Train裁窗／槽示例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971800"/>
            <a:ext cx="2331720" cy="64008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647487"/>
                </a:solidFill>
                <a:latin typeface="Noto Sans CJK SC"/>
              </a:rPr>
              <a:t>来源事件：[待填]</a:t>
            </a:r>
          </a:p>
          <a:p>
            <a:pPr algn="ctr"/>
            <a:r>
              <a:rPr sz="1100" b="0">
                <a:solidFill>
                  <a:srgbClr val="647487"/>
                </a:solidFill>
                <a:latin typeface="Noto Sans CJK SC"/>
              </a:rPr>
              <a:t>相似度／软标签：[待填]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170432"/>
            <a:ext cx="10058400" cy="32004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03348"/>
                </a:solidFill>
                <a:latin typeface="Noto Sans CJK SC"/>
              </a:rPr>
              <a:t>(a) 查询与检索支持：展示少量代表性案例，同时保留成功与错误检索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794760"/>
            <a:ext cx="2331720" cy="32004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03348"/>
                </a:solidFill>
                <a:latin typeface="Noto Sans CJK SC"/>
              </a:rPr>
              <a:t>参考GT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24528"/>
            <a:ext cx="2331720" cy="1554480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251960"/>
            <a:ext cx="2240279" cy="1499616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647487"/>
                </a:solidFill>
                <a:latin typeface="Noto Sans CJK SC"/>
              </a:rPr>
              <a:t>待填：真实同窗结果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794760"/>
            <a:ext cx="2331720" cy="32004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03348"/>
                </a:solidFill>
                <a:latin typeface="Noto Sans CJK SC"/>
              </a:rPr>
              <a:t>图内参考输出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4224528"/>
            <a:ext cx="2331720" cy="1554480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54680" y="4251960"/>
            <a:ext cx="2240279" cy="1499616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647487"/>
                </a:solidFill>
                <a:latin typeface="Noto Sans CJK SC"/>
              </a:rPr>
              <a:t>待填：真实同窗结果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3794760"/>
            <a:ext cx="2331720" cy="32004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03348"/>
                </a:solidFill>
                <a:latin typeface="Noto Sans CJK SC"/>
              </a:rPr>
              <a:t>随机支持输出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0" y="4224528"/>
            <a:ext cx="2331720" cy="1554480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4251960"/>
            <a:ext cx="2240279" cy="1499616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647487"/>
                </a:solidFill>
                <a:latin typeface="Noto Sans CJK SC"/>
              </a:rPr>
              <a:t>待填：真实同窗结果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794760"/>
            <a:ext cx="2331720" cy="32004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203348"/>
                </a:solidFill>
                <a:latin typeface="Noto Sans CJK SC"/>
              </a:rPr>
              <a:t>检索支持输出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4224528"/>
            <a:ext cx="2331720" cy="1554480"/>
          </a:xfrm>
          <a:prstGeom prst="rect">
            <a:avLst/>
          </a:prstGeom>
          <a:solidFill>
            <a:srgbClr val="EEF3F7"/>
          </a:solidFill>
          <a:ln w="12700">
            <a:solidFill>
              <a:srgbClr val="ACB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4251960"/>
            <a:ext cx="2240279" cy="1499616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647487"/>
                </a:solidFill>
                <a:latin typeface="Noto Sans CJK SC"/>
              </a:rPr>
              <a:t>待填：真实同窗结果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925312"/>
            <a:ext cx="9966960" cy="50292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203348"/>
                </a:solidFill>
                <a:latin typeface="Noto Sans CJK SC"/>
              </a:rPr>
              <a:t>同时标注救回与误改：支持看起来相似，不等于等级正确。</a:t>
            </a:r>
          </a:p>
          <a:p>
            <a:pPr algn="ctr"/>
            <a:r>
              <a:rPr sz="1300" b="0">
                <a:solidFill>
                  <a:srgbClr val="203348"/>
                </a:solidFill>
                <a:latin typeface="Noto Sans CJK SC"/>
              </a:rPr>
              <a:t>若比较固定Reader干预，明确使用同一权重；重训结果另行标注。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784848"/>
            <a:ext cx="10241280" cy="347472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647487"/>
                </a:solidFill>
                <a:latin typeface="Noto Sans CJK SC"/>
              </a:rPr>
              <a:t>检索先选父案例，再读槽内容。查询GT仅作展示；候选必须来自允许的Train成员并满足排除规则。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0332720" cy="41148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203348"/>
                </a:solidFill>
                <a:latin typeface="Noto Sans CJK SC"/>
              </a:rPr>
              <a:t>图6  完整Val轨迹、类别取舍与事件差异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30936"/>
            <a:ext cx="10332720" cy="41148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647487"/>
                </a:solidFill>
                <a:latin typeface="Noto Sans CJK SC"/>
              </a:rPr>
              <a:t>结果图模板｜坐标轴保留，未画任何假设曲线、误差条或预设性能差值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69848"/>
            <a:ext cx="10332720" cy="22860"/>
          </a:xfrm>
          <a:prstGeom prst="rect">
            <a:avLst/>
          </a:prstGeom>
          <a:solidFill>
            <a:srgbClr val="285E89"/>
          </a:solidFill>
          <a:ln w="12700">
            <a:solidFill>
              <a:srgbClr val="285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16736"/>
            <a:ext cx="4846320" cy="32004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203348"/>
                </a:solidFill>
                <a:latin typeface="Noto Sans CJK SC"/>
              </a:rPr>
              <a:t>(a) 完整Val学习轨迹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246120"/>
            <a:ext cx="4251959" cy="0"/>
          </a:xfrm>
          <a:prstGeom prst="line">
            <a:avLst/>
          </a:prstGeom>
          <a:ln w="19050">
            <a:solidFill>
              <a:srgbClr val="6474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914400" y="1847088"/>
            <a:ext cx="0" cy="1399032"/>
          </a:xfrm>
          <a:prstGeom prst="line">
            <a:avLst/>
          </a:prstGeom>
          <a:ln w="19050">
            <a:solidFill>
              <a:srgbClr val="6474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97280" y="2057400"/>
            <a:ext cx="3931920" cy="73152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647487"/>
                </a:solidFill>
                <a:latin typeface="Noto Sans CJK SC"/>
              </a:rPr>
              <a:t>待导入真实汇总数据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80"/>
            <a:ext cx="4434840" cy="32004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203348"/>
                </a:solidFill>
                <a:latin typeface="Noto Sans CJK SC"/>
              </a:rPr>
              <a:t>训练更新步数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64792"/>
            <a:ext cx="4846320" cy="27432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647487"/>
                </a:solidFill>
                <a:latin typeface="Noto Sans CJK SC"/>
              </a:rPr>
              <a:t>前景mIoU（%）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316736"/>
            <a:ext cx="4846320" cy="32004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203348"/>
                </a:solidFill>
                <a:latin typeface="Noto Sans CJK SC"/>
              </a:rPr>
              <a:t>(b) 受损类别精确率／召回率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0" y="3246120"/>
            <a:ext cx="4251960" cy="0"/>
          </a:xfrm>
          <a:prstGeom prst="line">
            <a:avLst/>
          </a:prstGeom>
          <a:ln w="19050">
            <a:solidFill>
              <a:srgbClr val="6474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126480" y="1847088"/>
            <a:ext cx="0" cy="1399032"/>
          </a:xfrm>
          <a:prstGeom prst="line">
            <a:avLst/>
          </a:prstGeom>
          <a:ln w="19050">
            <a:solidFill>
              <a:srgbClr val="6474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09360" y="2057400"/>
            <a:ext cx="3931920" cy="73152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647487"/>
                </a:solidFill>
                <a:latin typeface="Noto Sans CJK SC"/>
              </a:rPr>
              <a:t>待导入真实汇总数据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3383280"/>
            <a:ext cx="4434840" cy="32004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203348"/>
                </a:solidFill>
                <a:latin typeface="Noto Sans CJK SC"/>
              </a:rPr>
              <a:t>训练更新步数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1764792"/>
            <a:ext cx="4846320" cy="27432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647487"/>
                </a:solidFill>
                <a:latin typeface="Noto Sans CJK SC"/>
              </a:rPr>
              <a:t>Precision / Recall（%）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14215"/>
            <a:ext cx="4846320" cy="32004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203348"/>
                </a:solidFill>
                <a:latin typeface="Noto Sans CJK SC"/>
              </a:rPr>
              <a:t>(c) 同种子配对结果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5943599"/>
            <a:ext cx="4251959" cy="0"/>
          </a:xfrm>
          <a:prstGeom prst="line">
            <a:avLst/>
          </a:prstGeom>
          <a:ln w="19050">
            <a:solidFill>
              <a:srgbClr val="6474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14400" y="4544568"/>
            <a:ext cx="0" cy="1399031"/>
          </a:xfrm>
          <a:prstGeom prst="line">
            <a:avLst/>
          </a:prstGeom>
          <a:ln w="19050">
            <a:solidFill>
              <a:srgbClr val="6474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97280" y="4754879"/>
            <a:ext cx="3931920" cy="73152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647487"/>
                </a:solidFill>
                <a:latin typeface="Noto Sans CJK SC"/>
              </a:rPr>
              <a:t>待导入真实汇总数据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6080759"/>
            <a:ext cx="4434840" cy="32004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203348"/>
                </a:solidFill>
                <a:latin typeface="Noto Sans CJK SC"/>
              </a:rPr>
              <a:t>预定种子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462272"/>
            <a:ext cx="4846320" cy="27432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647487"/>
                </a:solidFill>
                <a:latin typeface="Noto Sans CJK SC"/>
              </a:rPr>
              <a:t>相对基底的差值（百分点）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014215"/>
            <a:ext cx="4846320" cy="32004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203348"/>
                </a:solidFill>
                <a:latin typeface="Noto Sans CJK SC"/>
              </a:rPr>
              <a:t>(d) 逐事件差异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26480" y="5943599"/>
            <a:ext cx="4251960" cy="0"/>
          </a:xfrm>
          <a:prstGeom prst="line">
            <a:avLst/>
          </a:prstGeom>
          <a:ln w="19050">
            <a:solidFill>
              <a:srgbClr val="6474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126480" y="4544568"/>
            <a:ext cx="0" cy="1399031"/>
          </a:xfrm>
          <a:prstGeom prst="line">
            <a:avLst/>
          </a:prstGeom>
          <a:ln w="19050">
            <a:solidFill>
              <a:srgbClr val="6474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309360" y="4754879"/>
            <a:ext cx="3931920" cy="73152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647487"/>
                </a:solidFill>
                <a:latin typeface="Noto Sans CJK SC"/>
              </a:rPr>
              <a:t>待导入真实汇总数据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6080759"/>
            <a:ext cx="4434840" cy="32004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203348"/>
                </a:solidFill>
                <a:latin typeface="Noto Sans CJK SC"/>
              </a:rPr>
              <a:t>同协议事件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4462272"/>
            <a:ext cx="4846320" cy="274320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647487"/>
                </a:solidFill>
                <a:latin typeface="Noto Sans CJK SC"/>
              </a:rPr>
              <a:t>相对基底的差值（百分点）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784848"/>
            <a:ext cx="10241280" cy="347472"/>
          </a:xfrm>
          <a:prstGeom prst="rect">
            <a:avLst/>
          </a:prstGeom>
          <a:noFill/>
        </p:spPr>
        <p:txBody>
          <a:bodyPr wrap="square" lIns="22860" rIns="2286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647487"/>
                </a:solidFill>
                <a:latin typeface="Noto Sans CJK SC"/>
              </a:rPr>
              <a:t>每个曲线点使用完整Val；阴影有重复测量才绘制。固定基底为虚线，完整方案与对照线型明确。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