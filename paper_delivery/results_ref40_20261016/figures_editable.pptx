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6120000" cy="42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Fig1_framework: 方法总体流程. Source slide 1. All original image blobs were copied without recompression. Text, geometry and picture objects remain individually editable.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Fig2_region_encoding: 建筑感知区域编码. Source slide 2. All original image blobs were copied without recompression. Text, geometry and picture objects remain individually editable.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Fig3_retrieval_reader: 检索与Reader流程. Source slide 3. All original image blobs were copied without recompression. Text, geometry and picture objects remain individually editable.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Fig4_dataset: 数据集场景与分布. Source slide 4. All original image blobs were copied without recompression. Text, geometry and picture objects remain individually editable.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Fig5a_external_models: 地震与冲突的六个局部案例. Source slide 10. All original image blobs were copied without recompression. Text, geometry and picture objects remain individually editable.</a:t>
            </a:r>
          </a:p>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Fig5b_external_models: 火山与野火的六个局部案例. Source slide 11. All original image blobs were copied without recompression. Text, geometry and picture objects remain individually editable.</a:t>
            </a:r>
          </a:p>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Fig5c_external_models: 飓风、洪灾与爆炸的六个局部案例. Source slide 12. All original image blobs were copied without recompression. Text, geometry and picture objects remain individually editable.</a:t>
            </a:r>
          </a:p>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Fig6_noto: 能登地震局部放大案例. Source slide 1. All original image blobs were copied without recompression. Text, geometry and picture objects remain individually editable.</a:t>
            </a:r>
          </a:p>
          <a:p>
            <a:r>
              <a:t>noto-earthquake_00000038. MPF is the legacy A1 multimodal pixel frontend (DamageFormer_S8_MICB_DSMIL), not the complete retrieval system. Source slide 8. Scientific image blobs are copied byte for byte; only headers, frames and layout were changed. No numerical gain is asserted by this figure.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Fig7_turkey: 土耳其地震局部放大案例. Source slide 2. All original image blobs were copied without recompression. Text, geometry and picture objects remain individually editable.</a:t>
            </a:r>
          </a:p>
          <a:p>
            <a:r>
              <a:t>turkey-earthquake_00001065. MPF is the legacy A1 multimodal pixel frontend (DamageFormer_S8_MICB_DSMIL), not the complete retrieval system. Source slide 9. Scientific image blobs are copied byte for byte; only headers, frames and layout were changed. No numerical gain is asserted by this figure.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Fig8_myanmar: 缅甸飓风局部放大案例. Source slide 3. All original image blobs were copied without recompression. Text, geometry and picture objects remain individually editable.</a:t>
            </a:r>
          </a:p>
          <a:p>
            <a:r>
              <a:t>myanmar-hurricane_00000099. MPF is the legacy A1 multimodal pixel frontend (DamageFormer_S8_MICB_DSMIL), not the complete retrieval system. Source slide 10. Scientific image blobs are copied byte for byte; only headers, frames and layout were changed. No numerical gain is asserted by this figure.</a:t>
            </a:r>
          </a:p>
          <a:p>
            <a:r>
              <a:t>MPF denotes the legacy A1 multimodal pixel frontend, not the full retrieval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Fig9_structure_diagnostic_template: 结构诊断空模板（待填实测输出）. Source slide 7. All original image blobs were copied without recompression. Text, geometry and picture objects remain individually editable.</a:t>
            </a:r>
          </a:p>
          <a:p>
            <a:r>
              <a:t>Only the original RGB, SAR and GT are present. All model-response panels are empty. Q-off and Q-on must use the identical query window and matched checkpoints. B is predicted building probability; b(Q) is assignment discrepancy, H(Q) is association entropy. No GT map is substituted for a model response.</a:t>
            </a:r>
          </a:p>
          <a:p>
            <a:r>
              <a:t>This is a layout template, not a measured model result. Empty cells require actual experiment outputs.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Fig10_retrieval_diagnostic_template: 检索诊断空模板（待填实测输出）. Source slide 8. All original image blobs were copied without recompression. Text, geometry and picture objects remain individually editable.</a:t>
            </a:r>
          </a:p>
          <a:p>
            <a:r>
              <a:t>Support panels are empty. They must come from genuinely selected Train IDs, with exclusion of the query image and event. Query GT is for post-hoc evaluation only. Raw cosine and supervised retrieval similarities use distinct spaces and must be identified, not compared as calibrated confidence.</a:t>
            </a:r>
          </a:p>
          <a:p>
            <a:r>
              <a:t>This is a layout template, not a measured model result. Empty cells require actual experiment outputs.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19.png"/><Relationship Id="rId20" Type="http://schemas.openxmlformats.org/officeDocument/2006/relationships/image" Target="../media/image20.png"/><Relationship Id="rId21" Type="http://schemas.openxmlformats.org/officeDocument/2006/relationships/image" Target="../media/image21.png"/><Relationship Id="rId22" Type="http://schemas.openxmlformats.org/officeDocument/2006/relationships/image" Target="../media/image22.png"/><Relationship Id="rId23" Type="http://schemas.openxmlformats.org/officeDocument/2006/relationships/image" Target="../media/image23.png"/><Relationship Id="rId24" Type="http://schemas.openxmlformats.org/officeDocument/2006/relationships/image" Target="../media/image24.png"/><Relationship Id="rId25" Type="http://schemas.openxmlformats.org/officeDocument/2006/relationships/image" Target="../media/image25.png"/><Relationship Id="rId26" Type="http://schemas.openxmlformats.org/officeDocument/2006/relationships/image" Target="../media/image26.png"/><Relationship Id="rId27" Type="http://schemas.openxmlformats.org/officeDocument/2006/relationships/image" Target="../media/image27.png"/><Relationship Id="rId28" Type="http://schemas.openxmlformats.org/officeDocument/2006/relationships/image" Target="../media/image28.png"/><Relationship Id="rId29" Type="http://schemas.openxmlformats.org/officeDocument/2006/relationships/image" Target="../media/image29.png"/><Relationship Id="rId30" Type="http://schemas.openxmlformats.org/officeDocument/2006/relationships/image" Target="../media/image30.png"/><Relationship Id="rId31" Type="http://schemas.openxmlformats.org/officeDocument/2006/relationships/image" Target="../media/image31.png"/><Relationship Id="rId32" Type="http://schemas.openxmlformats.org/officeDocument/2006/relationships/image" Target="../media/image32.png"/><Relationship Id="rId33" Type="http://schemas.openxmlformats.org/officeDocument/2006/relationships/image" Target="../media/image33.png"/><Relationship Id="rId34" Type="http://schemas.openxmlformats.org/officeDocument/2006/relationships/image" Target="../media/image34.png"/><Relationship Id="rId35" Type="http://schemas.openxmlformats.org/officeDocument/2006/relationships/image" Target="../media/image35.png"/><Relationship Id="rId36" Type="http://schemas.openxmlformats.org/officeDocument/2006/relationships/image" Target="../media/image36.png"/><Relationship Id="rId37" Type="http://schemas.openxmlformats.org/officeDocument/2006/relationships/image" Target="../media/image37.png"/><Relationship Id="rId38" Type="http://schemas.openxmlformats.org/officeDocument/2006/relationships/image" Target="../media/image38.png"/><Relationship Id="rId39" Type="http://schemas.openxmlformats.org/officeDocument/2006/relationships/image" Target="../media/image39.png"/><Relationship Id="rId40" Type="http://schemas.openxmlformats.org/officeDocument/2006/relationships/image" Target="../media/image40.png"/><Relationship Id="rId41" Type="http://schemas.openxmlformats.org/officeDocument/2006/relationships/image" Target="../media/image41.png"/><Relationship Id="rId42" Type="http://schemas.openxmlformats.org/officeDocument/2006/relationships/image" Target="../media/image42.png"/><Relationship Id="rId43" Type="http://schemas.openxmlformats.org/officeDocument/2006/relationships/image" Target="../media/image43.png"/><Relationship Id="rId44" Type="http://schemas.openxmlformats.org/officeDocument/2006/relationships/image" Target="../media/image44.png"/><Relationship Id="rId45" Type="http://schemas.openxmlformats.org/officeDocument/2006/relationships/image" Target="../media/image45.png"/><Relationship Id="rId46" Type="http://schemas.openxmlformats.org/officeDocument/2006/relationships/image" Target="../media/image46.png"/><Relationship Id="rId47" Type="http://schemas.openxmlformats.org/officeDocument/2006/relationships/image" Target="../media/image47.png"/><Relationship Id="rId48" Type="http://schemas.openxmlformats.org/officeDocument/2006/relationships/image" Target="../media/image48.png"/><Relationship Id="rId49" Type="http://schemas.openxmlformats.org/officeDocument/2006/relationships/image" Target="../media/image49.png"/><Relationship Id="rId50" Type="http://schemas.openxmlformats.org/officeDocument/2006/relationships/image" Target="../media/image50.png"/><Relationship Id="rId51" Type="http://schemas.openxmlformats.org/officeDocument/2006/relationships/image" Target="../media/image51.png"/><Relationship Id="rId52" Type="http://schemas.openxmlformats.org/officeDocument/2006/relationships/image" Target="../media/image52.png"/><Relationship Id="rId53" Type="http://schemas.openxmlformats.org/officeDocument/2006/relationships/image" Target="../media/image53.png"/><Relationship Id="rId54" Type="http://schemas.openxmlformats.org/officeDocument/2006/relationships/image" Target="../media/image54.png"/><Relationship Id="rId55" Type="http://schemas.openxmlformats.org/officeDocument/2006/relationships/image" Target="../media/image55.png"/><Relationship Id="rId5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image" Target="../media/image68.png"/><Relationship Id="rId15" Type="http://schemas.openxmlformats.org/officeDocument/2006/relationships/image" Target="../media/image69.png"/><Relationship Id="rId16" Type="http://schemas.openxmlformats.org/officeDocument/2006/relationships/image" Target="../media/image70.png"/><Relationship Id="rId17" Type="http://schemas.openxmlformats.org/officeDocument/2006/relationships/image" Target="../media/image71.png"/><Relationship Id="rId18" Type="http://schemas.openxmlformats.org/officeDocument/2006/relationships/image" Target="../media/image72.png"/><Relationship Id="rId19" Type="http://schemas.openxmlformats.org/officeDocument/2006/relationships/image" Target="../media/image73.png"/><Relationship Id="rId20" Type="http://schemas.openxmlformats.org/officeDocument/2006/relationships/image" Target="../media/image74.png"/><Relationship Id="rId21" Type="http://schemas.openxmlformats.org/officeDocument/2006/relationships/image" Target="../media/image75.png"/><Relationship Id="rId22" Type="http://schemas.openxmlformats.org/officeDocument/2006/relationships/image" Target="../media/image76.png"/><Relationship Id="rId23" Type="http://schemas.openxmlformats.org/officeDocument/2006/relationships/image" Target="../media/image77.png"/><Relationship Id="rId24" Type="http://schemas.openxmlformats.org/officeDocument/2006/relationships/image" Target="../media/image78.png"/><Relationship Id="rId25" Type="http://schemas.openxmlformats.org/officeDocument/2006/relationships/image" Target="../media/image79.png"/><Relationship Id="rId26" Type="http://schemas.openxmlformats.org/officeDocument/2006/relationships/image" Target="../media/image80.png"/><Relationship Id="rId27" Type="http://schemas.openxmlformats.org/officeDocument/2006/relationships/image" Target="../media/image81.png"/><Relationship Id="rId28" Type="http://schemas.openxmlformats.org/officeDocument/2006/relationships/image" Target="../media/image82.png"/><Relationship Id="rId29" Type="http://schemas.openxmlformats.org/officeDocument/2006/relationships/image" Target="../media/image83.png"/><Relationship Id="rId30" Type="http://schemas.openxmlformats.org/officeDocument/2006/relationships/image" Target="../media/image84.png"/><Relationship Id="rId31" Type="http://schemas.openxmlformats.org/officeDocument/2006/relationships/image" Target="../media/image85.png"/><Relationship Id="rId32" Type="http://schemas.openxmlformats.org/officeDocument/2006/relationships/image" Target="../media/image86.png"/><Relationship Id="rId33" Type="http://schemas.openxmlformats.org/officeDocument/2006/relationships/image" Target="../media/image87.png"/><Relationship Id="rId34" Type="http://schemas.openxmlformats.org/officeDocument/2006/relationships/image" Target="../media/image88.png"/><Relationship Id="rId35" Type="http://schemas.openxmlformats.org/officeDocument/2006/relationships/image" Target="../media/image89.png"/><Relationship Id="rId36" Type="http://schemas.openxmlformats.org/officeDocument/2006/relationships/image" Target="../media/image90.png"/><Relationship Id="rId37" Type="http://schemas.openxmlformats.org/officeDocument/2006/relationships/image" Target="../media/image91.png"/><Relationship Id="rId38" Type="http://schemas.openxmlformats.org/officeDocument/2006/relationships/image" Target="../media/image92.png"/><Relationship Id="rId39" Type="http://schemas.openxmlformats.org/officeDocument/2006/relationships/image" Target="../media/image93.png"/><Relationship Id="rId40" Type="http://schemas.openxmlformats.org/officeDocument/2006/relationships/image" Target="../media/image94.png"/><Relationship Id="rId41" Type="http://schemas.openxmlformats.org/officeDocument/2006/relationships/image" Target="../media/image95.png"/><Relationship Id="rId42" Type="http://schemas.openxmlformats.org/officeDocument/2006/relationships/image" Target="../media/image96.png"/><Relationship Id="rId43" Type="http://schemas.openxmlformats.org/officeDocument/2006/relationships/image" Target="../media/image97.png"/><Relationship Id="rId44" Type="http://schemas.openxmlformats.org/officeDocument/2006/relationships/image" Target="../media/image98.png"/><Relationship Id="rId45" Type="http://schemas.openxmlformats.org/officeDocument/2006/relationships/image" Target="../media/image99.png"/><Relationship Id="rId46" Type="http://schemas.openxmlformats.org/officeDocument/2006/relationships/image" Target="../media/image100.png"/><Relationship Id="rId47" Type="http://schemas.openxmlformats.org/officeDocument/2006/relationships/image" Target="../media/image101.png"/><Relationship Id="rId48" Type="http://schemas.openxmlformats.org/officeDocument/2006/relationships/image" Target="../media/image102.png"/><Relationship Id="rId49" Type="http://schemas.openxmlformats.org/officeDocument/2006/relationships/image" Target="../media/image103.png"/><Relationship Id="rId50" Type="http://schemas.openxmlformats.org/officeDocument/2006/relationships/image" Target="../media/image104.png"/><Relationship Id="rId51" Type="http://schemas.openxmlformats.org/officeDocument/2006/relationships/image" Target="../media/image105.png"/><Relationship Id="rId52" Type="http://schemas.openxmlformats.org/officeDocument/2006/relationships/image" Target="../media/image106.png"/><Relationship Id="rId53" Type="http://schemas.openxmlformats.org/officeDocument/2006/relationships/image" Target="../media/image107.png"/><Relationship Id="rId54" Type="http://schemas.openxmlformats.org/officeDocument/2006/relationships/image" Target="../media/image108.png"/><Relationship Id="rId55" Type="http://schemas.openxmlformats.org/officeDocument/2006/relationships/image" Target="../media/image109.png"/><Relationship Id="rId5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 Id="rId14" Type="http://schemas.openxmlformats.org/officeDocument/2006/relationships/image" Target="../media/image122.png"/><Relationship Id="rId15" Type="http://schemas.openxmlformats.org/officeDocument/2006/relationships/image" Target="../media/image123.png"/><Relationship Id="rId16" Type="http://schemas.openxmlformats.org/officeDocument/2006/relationships/image" Target="../media/image124.png"/><Relationship Id="rId17" Type="http://schemas.openxmlformats.org/officeDocument/2006/relationships/image" Target="../media/image125.png"/><Relationship Id="rId18" Type="http://schemas.openxmlformats.org/officeDocument/2006/relationships/image" Target="../media/image126.png"/><Relationship Id="rId19" Type="http://schemas.openxmlformats.org/officeDocument/2006/relationships/image" Target="../media/image127.png"/><Relationship Id="rId20" Type="http://schemas.openxmlformats.org/officeDocument/2006/relationships/image" Target="../media/image128.png"/><Relationship Id="rId21" Type="http://schemas.openxmlformats.org/officeDocument/2006/relationships/image" Target="../media/image129.png"/><Relationship Id="rId22" Type="http://schemas.openxmlformats.org/officeDocument/2006/relationships/image" Target="../media/image130.png"/><Relationship Id="rId23" Type="http://schemas.openxmlformats.org/officeDocument/2006/relationships/image" Target="../media/image131.png"/><Relationship Id="rId24" Type="http://schemas.openxmlformats.org/officeDocument/2006/relationships/image" Target="../media/image132.png"/><Relationship Id="rId25" Type="http://schemas.openxmlformats.org/officeDocument/2006/relationships/image" Target="../media/image133.png"/><Relationship Id="rId26" Type="http://schemas.openxmlformats.org/officeDocument/2006/relationships/image" Target="../media/image134.png"/><Relationship Id="rId27" Type="http://schemas.openxmlformats.org/officeDocument/2006/relationships/image" Target="../media/image135.png"/><Relationship Id="rId28" Type="http://schemas.openxmlformats.org/officeDocument/2006/relationships/image" Target="../media/image136.png"/><Relationship Id="rId29" Type="http://schemas.openxmlformats.org/officeDocument/2006/relationships/image" Target="../media/image137.png"/><Relationship Id="rId30" Type="http://schemas.openxmlformats.org/officeDocument/2006/relationships/image" Target="../media/image138.png"/><Relationship Id="rId31" Type="http://schemas.openxmlformats.org/officeDocument/2006/relationships/image" Target="../media/image139.png"/><Relationship Id="rId32" Type="http://schemas.openxmlformats.org/officeDocument/2006/relationships/image" Target="../media/image140.png"/><Relationship Id="rId33" Type="http://schemas.openxmlformats.org/officeDocument/2006/relationships/image" Target="../media/image141.png"/><Relationship Id="rId34" Type="http://schemas.openxmlformats.org/officeDocument/2006/relationships/image" Target="../media/image142.png"/><Relationship Id="rId35" Type="http://schemas.openxmlformats.org/officeDocument/2006/relationships/image" Target="../media/image143.png"/><Relationship Id="rId36" Type="http://schemas.openxmlformats.org/officeDocument/2006/relationships/image" Target="../media/image144.png"/><Relationship Id="rId37" Type="http://schemas.openxmlformats.org/officeDocument/2006/relationships/image" Target="../media/image145.png"/><Relationship Id="rId38" Type="http://schemas.openxmlformats.org/officeDocument/2006/relationships/image" Target="../media/image146.png"/><Relationship Id="rId39" Type="http://schemas.openxmlformats.org/officeDocument/2006/relationships/image" Target="../media/image147.png"/><Relationship Id="rId40" Type="http://schemas.openxmlformats.org/officeDocument/2006/relationships/image" Target="../media/image148.png"/><Relationship Id="rId41" Type="http://schemas.openxmlformats.org/officeDocument/2006/relationships/image" Target="../media/image149.png"/><Relationship Id="rId42" Type="http://schemas.openxmlformats.org/officeDocument/2006/relationships/image" Target="../media/image150.png"/><Relationship Id="rId43" Type="http://schemas.openxmlformats.org/officeDocument/2006/relationships/image" Target="../media/image151.png"/><Relationship Id="rId44" Type="http://schemas.openxmlformats.org/officeDocument/2006/relationships/image" Target="../media/image152.png"/><Relationship Id="rId45" Type="http://schemas.openxmlformats.org/officeDocument/2006/relationships/image" Target="../media/image153.png"/><Relationship Id="rId46" Type="http://schemas.openxmlformats.org/officeDocument/2006/relationships/image" Target="../media/image154.png"/><Relationship Id="rId47" Type="http://schemas.openxmlformats.org/officeDocument/2006/relationships/image" Target="../media/image155.png"/><Relationship Id="rId48" Type="http://schemas.openxmlformats.org/officeDocument/2006/relationships/image" Target="../media/image156.png"/><Relationship Id="rId49" Type="http://schemas.openxmlformats.org/officeDocument/2006/relationships/image" Target="../media/image157.png"/><Relationship Id="rId50" Type="http://schemas.openxmlformats.org/officeDocument/2006/relationships/image" Target="../media/image158.png"/><Relationship Id="rId51" Type="http://schemas.openxmlformats.org/officeDocument/2006/relationships/image" Target="../media/image159.png"/><Relationship Id="rId52" Type="http://schemas.openxmlformats.org/officeDocument/2006/relationships/image" Target="../media/image160.png"/><Relationship Id="rId53" Type="http://schemas.openxmlformats.org/officeDocument/2006/relationships/image" Target="../media/image161.png"/><Relationship Id="rId54" Type="http://schemas.openxmlformats.org/officeDocument/2006/relationships/image" Target="../media/image162.png"/><Relationship Id="rId55" Type="http://schemas.openxmlformats.org/officeDocument/2006/relationships/image" Target="../media/image163.png"/><Relationship Id="rId5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4.png"/><Relationship Id="rId4" Type="http://schemas.openxmlformats.org/officeDocument/2006/relationships/image" Target="../media/image22.png"/><Relationship Id="rId5" Type="http://schemas.openxmlformats.org/officeDocument/2006/relationships/image" Target="../media/image165.png"/><Relationship Id="rId6" Type="http://schemas.openxmlformats.org/officeDocument/2006/relationships/image" Target="../media/image27.png"/><Relationship Id="rId7" Type="http://schemas.openxmlformats.org/officeDocument/2006/relationships/image" Target="../media/image166.png"/><Relationship Id="rId8" Type="http://schemas.openxmlformats.org/officeDocument/2006/relationships/image" Target="../media/image28.png"/><Relationship Id="rId9" Type="http://schemas.openxmlformats.org/officeDocument/2006/relationships/image" Target="../media/image167.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8.png"/><Relationship Id="rId4" Type="http://schemas.openxmlformats.org/officeDocument/2006/relationships/image" Target="../media/image4.png"/><Relationship Id="rId5" Type="http://schemas.openxmlformats.org/officeDocument/2006/relationships/image" Target="../media/image169.png"/><Relationship Id="rId6" Type="http://schemas.openxmlformats.org/officeDocument/2006/relationships/image" Target="../media/image9.png"/><Relationship Id="rId7" Type="http://schemas.openxmlformats.org/officeDocument/2006/relationships/image" Target="../media/image170.png"/><Relationship Id="rId8" Type="http://schemas.openxmlformats.org/officeDocument/2006/relationships/image" Target="../media/image10.png"/><Relationship Id="rId9" Type="http://schemas.openxmlformats.org/officeDocument/2006/relationships/image" Target="../media/image171.png"/><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image" Target="../media/image172.png"/><Relationship Id="rId4" Type="http://schemas.openxmlformats.org/officeDocument/2006/relationships/image" Target="../media/image129.png"/><Relationship Id="rId5" Type="http://schemas.openxmlformats.org/officeDocument/2006/relationships/image" Target="../media/image173.png"/><Relationship Id="rId6" Type="http://schemas.openxmlformats.org/officeDocument/2006/relationships/image" Target="../media/image130.png"/><Relationship Id="rId7" Type="http://schemas.openxmlformats.org/officeDocument/2006/relationships/image" Target="../media/image174.png"/><Relationship Id="rId8" Type="http://schemas.openxmlformats.org/officeDocument/2006/relationships/image" Target="../media/image135.png"/><Relationship Id="rId9" Type="http://schemas.openxmlformats.org/officeDocument/2006/relationships/image" Target="../media/image175.png"/><Relationship Id="rId10" Type="http://schemas.openxmlformats.org/officeDocument/2006/relationships/image" Target="../media/image136.png"/><Relationship Id="rId11" Type="http://schemas.openxmlformats.org/officeDocument/2006/relationships/image" Target="../media/image176.pn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36000"/>
            <a:ext cx="6012000" cy="936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46800"/>
            <a:ext cx="5954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Offline: fixed Train-only case bank</a:t>
            </a:r>
          </a:p>
        </p:txBody>
      </p:sp>
      <p:sp>
        <p:nvSpPr>
          <p:cNvPr id="4" name="Rectangle 3"/>
          <p:cNvSpPr/>
          <p:nvPr/>
        </p:nvSpPr>
        <p:spPr>
          <a:xfrm>
            <a:off x="144000" y="378000"/>
            <a:ext cx="936000" cy="288000"/>
          </a:xfrm>
          <a:prstGeom prst="rect">
            <a:avLst/>
          </a:prstGeom>
          <a:solidFill>
            <a:srgbClr val="F3F4F5"/>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54800" y="388800"/>
            <a:ext cx="914400" cy="266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RGB / SAR</a:t>
            </a:r>
          </a:p>
        </p:txBody>
      </p:sp>
      <p:sp>
        <p:nvSpPr>
          <p:cNvPr id="6" name="Rectangle 5"/>
          <p:cNvSpPr/>
          <p:nvPr/>
        </p:nvSpPr>
        <p:spPr>
          <a:xfrm>
            <a:off x="1260000" y="352800"/>
            <a:ext cx="1296000" cy="413999"/>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70800" y="363600"/>
            <a:ext cx="1274400" cy="392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 frozen encoder</a:t>
            </a:r>
          </a:p>
          <a:p>
            <a:pPr algn="ctr">
              <a:spcBef>
                <a:spcPts val="0"/>
              </a:spcBef>
              <a:spcAft>
                <a:spcPts val="0"/>
              </a:spcAft>
            </a:pPr>
            <a:r>
              <a:rPr sz="900" b="0">
                <a:solidFill>
                  <a:srgbClr val="263746"/>
                </a:solidFill>
                <a:latin typeface="Arial"/>
              </a:rPr>
              <a:t>MPF + region encoding</a:t>
            </a:r>
          </a:p>
        </p:txBody>
      </p:sp>
      <p:sp>
        <p:nvSpPr>
          <p:cNvPr id="8" name="Rectangle 7"/>
          <p:cNvSpPr/>
          <p:nvPr/>
        </p:nvSpPr>
        <p:spPr>
          <a:xfrm>
            <a:off x="2898000" y="604800"/>
            <a:ext cx="1206000" cy="216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908800" y="615600"/>
            <a:ext cx="1184400" cy="194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Q-weighted label pool</a:t>
            </a:r>
          </a:p>
        </p:txBody>
      </p:sp>
      <p:sp>
        <p:nvSpPr>
          <p:cNvPr id="10" name="TextBox 9"/>
          <p:cNvSpPr txBox="1"/>
          <p:nvPr/>
        </p:nvSpPr>
        <p:spPr>
          <a:xfrm>
            <a:off x="2988000" y="349200"/>
            <a:ext cx="1007999" cy="144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GT</a:t>
            </a:r>
          </a:p>
        </p:txBody>
      </p:sp>
      <p:cxnSp>
        <p:nvCxnSpPr>
          <p:cNvPr id="11" name="Connector 10"/>
          <p:cNvCxnSpPr/>
          <p:nvPr/>
        </p:nvCxnSpPr>
        <p:spPr>
          <a:xfrm>
            <a:off x="3499200" y="493200"/>
            <a:ext cx="0" cy="1116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12" name="Rectangle 11"/>
          <p:cNvSpPr/>
          <p:nvPr/>
        </p:nvSpPr>
        <p:spPr>
          <a:xfrm>
            <a:off x="4320000" y="352800"/>
            <a:ext cx="1584000" cy="413999"/>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330800" y="363600"/>
            <a:ext cx="1562400" cy="392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Event × class sampling</a:t>
            </a:r>
          </a:p>
          <a:p>
            <a:pPr algn="ctr">
              <a:spcBef>
                <a:spcPts val="0"/>
              </a:spcBef>
              <a:spcAft>
                <a:spcPts val="0"/>
              </a:spcAft>
            </a:pPr>
            <a:r>
              <a:rPr sz="900" b="0">
                <a:solidFill>
                  <a:srgbClr val="263746"/>
                </a:solidFill>
                <a:latin typeface="Arial"/>
              </a:rPr>
              <a:t>M = {Tₛ, πₛ, mₛ, ID}</a:t>
            </a:r>
          </a:p>
        </p:txBody>
      </p:sp>
      <p:cxnSp>
        <p:nvCxnSpPr>
          <p:cNvPr id="14" name="Connector 13"/>
          <p:cNvCxnSpPr/>
          <p:nvPr/>
        </p:nvCxnSpPr>
        <p:spPr>
          <a:xfrm>
            <a:off x="1080000" y="5220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2556000" y="666000"/>
            <a:ext cx="342000" cy="468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574000" y="712800"/>
            <a:ext cx="251999" cy="144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Qₛ</a:t>
            </a:r>
          </a:p>
        </p:txBody>
      </p:sp>
      <p:cxnSp>
        <p:nvCxnSpPr>
          <p:cNvPr id="17" name="Connector 16"/>
          <p:cNvCxnSpPr/>
          <p:nvPr/>
        </p:nvCxnSpPr>
        <p:spPr>
          <a:xfrm>
            <a:off x="2556000" y="378000"/>
            <a:ext cx="144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700000" y="237600"/>
            <a:ext cx="0" cy="1404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2700000" y="237600"/>
            <a:ext cx="216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4860000" y="237600"/>
            <a:ext cx="0" cy="1152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3671999" y="108000"/>
            <a:ext cx="720000" cy="144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Tₛ, mₛ</a:t>
            </a:r>
          </a:p>
        </p:txBody>
      </p:sp>
      <p:cxnSp>
        <p:nvCxnSpPr>
          <p:cNvPr id="22" name="Connector 21"/>
          <p:cNvCxnSpPr/>
          <p:nvPr/>
        </p:nvCxnSpPr>
        <p:spPr>
          <a:xfrm>
            <a:off x="4104000" y="712800"/>
            <a:ext cx="216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086000" y="781200"/>
            <a:ext cx="251999" cy="1259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πₛ</a:t>
            </a:r>
          </a:p>
        </p:txBody>
      </p:sp>
      <p:sp>
        <p:nvSpPr>
          <p:cNvPr id="24" name="Rectangle 23"/>
          <p:cNvSpPr/>
          <p:nvPr/>
        </p:nvSpPr>
        <p:spPr>
          <a:xfrm>
            <a:off x="54000" y="1044000"/>
            <a:ext cx="1475999" cy="2484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800" y="1054800"/>
            <a:ext cx="1418399"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(a) Multimodal pixel frontend</a:t>
            </a:r>
          </a:p>
        </p:txBody>
      </p:sp>
      <p:sp>
        <p:nvSpPr>
          <p:cNvPr id="26" name="Rectangle 25"/>
          <p:cNvSpPr/>
          <p:nvPr/>
        </p:nvSpPr>
        <p:spPr>
          <a:xfrm>
            <a:off x="1638000" y="1044000"/>
            <a:ext cx="1584000" cy="2484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666800" y="1054800"/>
            <a:ext cx="1526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(b) Structure-guided regions</a:t>
            </a:r>
          </a:p>
        </p:txBody>
      </p:sp>
      <p:sp>
        <p:nvSpPr>
          <p:cNvPr id="28" name="Rectangle 27"/>
          <p:cNvSpPr/>
          <p:nvPr/>
        </p:nvSpPr>
        <p:spPr>
          <a:xfrm>
            <a:off x="3330000" y="1044000"/>
            <a:ext cx="2736000" cy="2484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358800" y="1054800"/>
            <a:ext cx="2678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(c) Retrieval-enhanced prediction</a:t>
            </a:r>
          </a:p>
        </p:txBody>
      </p:sp>
      <p:sp>
        <p:nvSpPr>
          <p:cNvPr id="30" name="Rectangle 29"/>
          <p:cNvSpPr/>
          <p:nvPr/>
        </p:nvSpPr>
        <p:spPr>
          <a:xfrm>
            <a:off x="144000" y="1440000"/>
            <a:ext cx="503999" cy="360000"/>
          </a:xfrm>
          <a:prstGeom prst="rect">
            <a:avLst/>
          </a:prstGeom>
          <a:solidFill>
            <a:srgbClr val="F3F4F5"/>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54800" y="1450800"/>
            <a:ext cx="482399"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Pre RGB</a:t>
            </a:r>
          </a:p>
        </p:txBody>
      </p:sp>
      <p:sp>
        <p:nvSpPr>
          <p:cNvPr id="32" name="Rectangle 31"/>
          <p:cNvSpPr/>
          <p:nvPr/>
        </p:nvSpPr>
        <p:spPr>
          <a:xfrm>
            <a:off x="144000" y="1998000"/>
            <a:ext cx="503999" cy="360000"/>
          </a:xfrm>
          <a:prstGeom prst="rect">
            <a:avLst/>
          </a:prstGeom>
          <a:solidFill>
            <a:srgbClr val="F3F4F5"/>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54800" y="2008800"/>
            <a:ext cx="482399"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Post SAR</a:t>
            </a:r>
          </a:p>
        </p:txBody>
      </p:sp>
      <p:sp>
        <p:nvSpPr>
          <p:cNvPr id="34" name="Rectangle 33"/>
          <p:cNvSpPr/>
          <p:nvPr/>
        </p:nvSpPr>
        <p:spPr>
          <a:xfrm>
            <a:off x="792000" y="1584000"/>
            <a:ext cx="630000" cy="630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02800" y="1594800"/>
            <a:ext cx="608400" cy="60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Frozen</a:t>
            </a:r>
          </a:p>
          <a:p>
            <a:pPr algn="ctr">
              <a:spcBef>
                <a:spcPts val="0"/>
              </a:spcBef>
              <a:spcAft>
                <a:spcPts val="0"/>
              </a:spcAft>
            </a:pPr>
            <a:r>
              <a:rPr sz="900" b="0">
                <a:solidFill>
                  <a:srgbClr val="263746"/>
                </a:solidFill>
                <a:latin typeface="Arial"/>
              </a:rPr>
              <a:t>MPF</a:t>
            </a:r>
          </a:p>
        </p:txBody>
      </p:sp>
      <p:cxnSp>
        <p:nvCxnSpPr>
          <p:cNvPr id="36" name="Connector 35"/>
          <p:cNvCxnSpPr/>
          <p:nvPr/>
        </p:nvCxnSpPr>
        <p:spPr>
          <a:xfrm>
            <a:off x="648000" y="1620000"/>
            <a:ext cx="144000" cy="10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648000" y="2052000"/>
            <a:ext cx="144000" cy="126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162000" y="2556000"/>
            <a:ext cx="1260000" cy="540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 fused pixel features</a:t>
            </a:r>
          </a:p>
          <a:p>
            <a:pPr algn="ctr">
              <a:spcBef>
                <a:spcPts val="0"/>
              </a:spcBef>
              <a:spcAft>
                <a:spcPts val="0"/>
              </a:spcAft>
            </a:pPr>
            <a:r>
              <a:rPr sz="900" b="0">
                <a:solidFill>
                  <a:srgbClr val="263746"/>
                </a:solidFill>
                <a:latin typeface="Arial"/>
              </a:rPr>
              <a:t>R: RGB structure</a:t>
            </a:r>
          </a:p>
          <a:p>
            <a:pPr algn="ctr">
              <a:spcBef>
                <a:spcPts val="0"/>
              </a:spcBef>
              <a:spcAft>
                <a:spcPts val="0"/>
              </a:spcAft>
            </a:pPr>
            <a:r>
              <a:rPr sz="900" b="0">
                <a:solidFill>
                  <a:srgbClr val="263746"/>
                </a:solidFill>
                <a:latin typeface="Arial"/>
              </a:rPr>
              <a:t>B: building probability</a:t>
            </a:r>
          </a:p>
        </p:txBody>
      </p:sp>
      <p:sp>
        <p:nvSpPr>
          <p:cNvPr id="39" name="Rectangle 38"/>
          <p:cNvSpPr/>
          <p:nvPr/>
        </p:nvSpPr>
        <p:spPr>
          <a:xfrm>
            <a:off x="1764000" y="1368000"/>
            <a:ext cx="1332000" cy="432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774800" y="1378799"/>
            <a:ext cx="1310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R + B</a:t>
            </a:r>
          </a:p>
          <a:p>
            <a:pPr algn="ctr">
              <a:spcBef>
                <a:spcPts val="0"/>
              </a:spcBef>
              <a:spcAft>
                <a:spcPts val="0"/>
              </a:spcAft>
            </a:pPr>
            <a:r>
              <a:rPr sz="900" b="0">
                <a:solidFill>
                  <a:srgbClr val="263746"/>
                </a:solidFill>
                <a:latin typeface="Arial"/>
              </a:rPr>
              <a:t>Local soft association</a:t>
            </a:r>
          </a:p>
        </p:txBody>
      </p:sp>
      <p:sp>
        <p:nvSpPr>
          <p:cNvPr id="41" name="Rectangle 40"/>
          <p:cNvSpPr/>
          <p:nvPr/>
        </p:nvSpPr>
        <p:spPr>
          <a:xfrm>
            <a:off x="1764000" y="2034000"/>
            <a:ext cx="1332000" cy="450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774800" y="2044800"/>
            <a:ext cx="1310400" cy="42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 + B + b(Q) + H(Q)</a:t>
            </a:r>
          </a:p>
          <a:p>
            <a:pPr algn="ctr">
              <a:spcBef>
                <a:spcPts val="0"/>
              </a:spcBef>
              <a:spcAft>
                <a:spcPts val="0"/>
              </a:spcAft>
            </a:pPr>
            <a:r>
              <a:rPr sz="900" b="0">
                <a:solidFill>
                  <a:srgbClr val="263746"/>
                </a:solidFill>
                <a:latin typeface="Arial"/>
              </a:rPr>
              <a:t>Structure-conditioned Adapter</a:t>
            </a:r>
          </a:p>
        </p:txBody>
      </p:sp>
      <p:sp>
        <p:nvSpPr>
          <p:cNvPr id="43" name="Rectangle 42"/>
          <p:cNvSpPr/>
          <p:nvPr/>
        </p:nvSpPr>
        <p:spPr>
          <a:xfrm>
            <a:off x="1764000" y="2700000"/>
            <a:ext cx="1332000" cy="522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774800" y="2710800"/>
            <a:ext cx="1310400" cy="50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Q-weighted content</a:t>
            </a:r>
          </a:p>
          <a:p>
            <a:pPr algn="ctr">
              <a:spcBef>
                <a:spcPts val="0"/>
              </a:spcBef>
              <a:spcAft>
                <a:spcPts val="0"/>
              </a:spcAft>
            </a:pPr>
            <a:r>
              <a:rPr sz="900" b="0">
                <a:solidFill>
                  <a:srgbClr val="263746"/>
                </a:solidFill>
                <a:latin typeface="Arial"/>
              </a:rPr>
              <a:t>+ pre-Adapter F statistics</a:t>
            </a:r>
          </a:p>
          <a:p>
            <a:pPr algn="ctr">
              <a:spcBef>
                <a:spcPts val="0"/>
              </a:spcBef>
              <a:spcAft>
                <a:spcPts val="0"/>
              </a:spcAft>
            </a:pPr>
            <a:r>
              <a:rPr sz="900" b="0">
                <a:solidFill>
                  <a:srgbClr val="263746"/>
                </a:solidFill>
                <a:latin typeface="Arial"/>
              </a:rPr>
              <a:t>+ soft geometry</a:t>
            </a:r>
          </a:p>
        </p:txBody>
      </p:sp>
      <p:cxnSp>
        <p:nvCxnSpPr>
          <p:cNvPr id="45" name="Connector 44"/>
          <p:cNvCxnSpPr/>
          <p:nvPr/>
        </p:nvCxnSpPr>
        <p:spPr>
          <a:xfrm flipV="1">
            <a:off x="1422000" y="1584000"/>
            <a:ext cx="342000" cy="10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3096000" y="1800000"/>
            <a:ext cx="0" cy="19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2951999" y="1828800"/>
            <a:ext cx="180000" cy="144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a:t>
            </a:r>
          </a:p>
        </p:txBody>
      </p:sp>
      <p:cxnSp>
        <p:nvCxnSpPr>
          <p:cNvPr id="48" name="Connector 47"/>
          <p:cNvCxnSpPr/>
          <p:nvPr/>
        </p:nvCxnSpPr>
        <p:spPr>
          <a:xfrm>
            <a:off x="2430000" y="2484000"/>
            <a:ext cx="0" cy="216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3052800" y="3204000"/>
            <a:ext cx="144000" cy="144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T</a:t>
            </a:r>
          </a:p>
        </p:txBody>
      </p:sp>
      <p:sp>
        <p:nvSpPr>
          <p:cNvPr id="50" name="Rectangle 49"/>
          <p:cNvSpPr/>
          <p:nvPr/>
        </p:nvSpPr>
        <p:spPr>
          <a:xfrm>
            <a:off x="3474000" y="1368000"/>
            <a:ext cx="2376000" cy="396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484800" y="1378799"/>
            <a:ext cx="2354400" cy="374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Select IDs</a:t>
            </a:r>
          </a:p>
          <a:p>
            <a:pPr algn="ctr">
              <a:spcBef>
                <a:spcPts val="0"/>
              </a:spcBef>
              <a:spcAft>
                <a:spcPts val="0"/>
              </a:spcAft>
            </a:pPr>
            <a:r>
              <a:rPr sz="900" b="0">
                <a:solidFill>
                  <a:srgbClr val="263746"/>
                </a:solidFill>
                <a:latin typeface="Arial"/>
              </a:rPr>
              <a:t>cosine or supervised projection</a:t>
            </a:r>
          </a:p>
        </p:txBody>
      </p:sp>
      <p:sp>
        <p:nvSpPr>
          <p:cNvPr id="52" name="Rectangle 51"/>
          <p:cNvSpPr/>
          <p:nvPr/>
        </p:nvSpPr>
        <p:spPr>
          <a:xfrm>
            <a:off x="3474000" y="1944000"/>
            <a:ext cx="2376000" cy="360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484800" y="1954800"/>
            <a:ext cx="2354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Fetch original records</a:t>
            </a:r>
          </a:p>
          <a:p>
            <a:pPr algn="ctr">
              <a:spcBef>
                <a:spcPts val="0"/>
              </a:spcBef>
              <a:spcAft>
                <a:spcPts val="0"/>
              </a:spcAft>
            </a:pPr>
            <a:r>
              <a:rPr sz="900" b="0">
                <a:solidFill>
                  <a:srgbClr val="263746"/>
                </a:solidFill>
                <a:latin typeface="Arial"/>
              </a:rPr>
              <a:t>Tₛ, Train soft labels πₛ, metadata mₛ</a:t>
            </a:r>
          </a:p>
        </p:txBody>
      </p:sp>
      <p:sp>
        <p:nvSpPr>
          <p:cNvPr id="54" name="Rectangle 53"/>
          <p:cNvSpPr/>
          <p:nvPr/>
        </p:nvSpPr>
        <p:spPr>
          <a:xfrm>
            <a:off x="3474000" y="2484000"/>
            <a:ext cx="2376000" cy="360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484800" y="2494800"/>
            <a:ext cx="2354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Reader</a:t>
            </a:r>
          </a:p>
          <a:p>
            <a:pPr algn="ctr">
              <a:spcBef>
                <a:spcPts val="0"/>
              </a:spcBef>
              <a:spcAft>
                <a:spcPts val="0"/>
              </a:spcAft>
            </a:pPr>
            <a:r>
              <a:rPr sz="900" b="0">
                <a:solidFill>
                  <a:srgbClr val="263746"/>
                </a:solidFill>
                <a:latin typeface="Arial"/>
              </a:rPr>
              <a:t>query T + original support content</a:t>
            </a:r>
          </a:p>
        </p:txBody>
      </p:sp>
      <p:sp>
        <p:nvSpPr>
          <p:cNvPr id="56" name="Rectangle 55"/>
          <p:cNvSpPr/>
          <p:nvPr/>
        </p:nvSpPr>
        <p:spPr>
          <a:xfrm>
            <a:off x="3474000" y="3024000"/>
            <a:ext cx="2376000" cy="360000"/>
          </a:xfrm>
          <a:prstGeom prst="rect">
            <a:avLst/>
          </a:prstGeom>
          <a:solidFill>
            <a:srgbClr val="DBEEF0"/>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484800" y="3034800"/>
            <a:ext cx="2354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Same-Q back-projection → C</a:t>
            </a:r>
          </a:p>
          <a:p>
            <a:pPr algn="ctr">
              <a:spcBef>
                <a:spcPts val="0"/>
              </a:spcBef>
              <a:spcAft>
                <a:spcPts val="0"/>
              </a:spcAft>
            </a:pPr>
            <a:r>
              <a:rPr sz="900" b="0">
                <a:solidFill>
                  <a:srgbClr val="263746"/>
                </a:solidFill>
                <a:latin typeface="Arial"/>
              </a:rPr>
              <a:t>Joint prediction: z = WₚF + W꜀C + b</a:t>
            </a:r>
          </a:p>
        </p:txBody>
      </p:sp>
      <p:cxnSp>
        <p:nvCxnSpPr>
          <p:cNvPr id="58" name="Connector 57"/>
          <p:cNvCxnSpPr/>
          <p:nvPr/>
        </p:nvCxnSpPr>
        <p:spPr>
          <a:xfrm>
            <a:off x="4662000" y="1764000"/>
            <a:ext cx="0" cy="180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a:off x="4662000" y="2304000"/>
            <a:ext cx="0" cy="180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4662000" y="2844000"/>
            <a:ext cx="0" cy="180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5130000" y="917999"/>
            <a:ext cx="0" cy="414001"/>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V="1">
            <a:off x="3096000" y="2682000"/>
            <a:ext cx="378000" cy="28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1422000" y="2088000"/>
            <a:ext cx="162000" cy="0"/>
          </a:xfrm>
          <a:prstGeom prst="line">
            <a:avLst/>
          </a:prstGeom>
          <a:ln w="11430">
            <a:solidFill>
              <a:srgbClr val="30758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1584000" y="2088000"/>
            <a:ext cx="0" cy="1583999"/>
          </a:xfrm>
          <a:prstGeom prst="line">
            <a:avLst/>
          </a:prstGeom>
          <a:ln w="11430">
            <a:solidFill>
              <a:srgbClr val="30758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a:off x="1584000" y="3671999"/>
            <a:ext cx="3078000" cy="0"/>
          </a:xfrm>
          <a:prstGeom prst="line">
            <a:avLst/>
          </a:prstGeom>
          <a:ln w="11430">
            <a:solidFill>
              <a:srgbClr val="30758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4662000" y="3384000"/>
            <a:ext cx="0" cy="287999"/>
          </a:xfrm>
          <a:prstGeom prst="line">
            <a:avLst/>
          </a:prstGeom>
          <a:ln w="11430">
            <a:solidFill>
              <a:srgbClr val="30758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a:off x="1584000" y="2250000"/>
            <a:ext cx="180000" cy="0"/>
          </a:xfrm>
          <a:prstGeom prst="line">
            <a:avLst/>
          </a:prstGeom>
          <a:ln w="11430">
            <a:solidFill>
              <a:srgbClr val="307580"/>
            </a:solidFill>
            <a:tailEnd type="triangle"/>
          </a:ln>
          <a:effectLst/>
        </p:spPr>
        <p:style>
          <a:lnRef idx="2">
            <a:schemeClr val="accent1"/>
          </a:lnRef>
          <a:fillRef idx="0">
            <a:schemeClr val="accent1"/>
          </a:fillRef>
          <a:effectRef idx="0">
            <a:schemeClr val="accent1"/>
          </a:effectRef>
          <a:fontRef idx="minor">
            <a:schemeClr val="tx1"/>
          </a:fontRef>
        </p:style>
      </p:cxnSp>
      <p:sp>
        <p:nvSpPr>
          <p:cNvPr id="68" name="TextBox 67"/>
          <p:cNvSpPr txBox="1"/>
          <p:nvPr/>
        </p:nvSpPr>
        <p:spPr>
          <a:xfrm>
            <a:off x="1728000" y="3690000"/>
            <a:ext cx="2772000" cy="144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Preserved pixel feature F</a:t>
            </a:r>
          </a:p>
        </p:txBody>
      </p:sp>
      <p:cxnSp>
        <p:nvCxnSpPr>
          <p:cNvPr id="69" name="Connector 68"/>
          <p:cNvCxnSpPr/>
          <p:nvPr/>
        </p:nvCxnSpPr>
        <p:spPr>
          <a:xfrm>
            <a:off x="3096000" y="2951999"/>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3276000" y="1565999"/>
            <a:ext cx="0" cy="1386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3276000" y="1565999"/>
            <a:ext cx="198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72" name="TextBox 71"/>
          <p:cNvSpPr txBox="1"/>
          <p:nvPr/>
        </p:nvSpPr>
        <p:spPr>
          <a:xfrm>
            <a:off x="54000" y="3978000"/>
            <a:ext cx="6012000" cy="23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Solid arrows: feature flow. Dashed arrow: case-bank lookup. Val / Test GT is never an input.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54000"/>
            <a:ext cx="6012000" cy="1494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64800"/>
            <a:ext cx="5954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(a) Building-aware soft association Q</a:t>
            </a:r>
          </a:p>
        </p:txBody>
      </p:sp>
      <p:sp>
        <p:nvSpPr>
          <p:cNvPr id="4" name="Rectangle 3"/>
          <p:cNvSpPr/>
          <p:nvPr/>
        </p:nvSpPr>
        <p:spPr>
          <a:xfrm>
            <a:off x="180000" y="468000"/>
            <a:ext cx="1152000" cy="413999"/>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90800" y="478800"/>
            <a:ext cx="1130400" cy="392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RGB structure R</a:t>
            </a:r>
          </a:p>
          <a:p>
            <a:pPr algn="ctr">
              <a:spcBef>
                <a:spcPts val="0"/>
              </a:spcBef>
              <a:spcAft>
                <a:spcPts val="0"/>
              </a:spcAft>
            </a:pPr>
            <a:r>
              <a:rPr sz="900" b="0">
                <a:solidFill>
                  <a:srgbClr val="263746"/>
                </a:solidFill>
                <a:latin typeface="Arial"/>
              </a:rPr>
              <a:t>+ pixel coordinates</a:t>
            </a:r>
          </a:p>
        </p:txBody>
      </p:sp>
      <p:sp>
        <p:nvSpPr>
          <p:cNvPr id="6" name="Rectangle 5"/>
          <p:cNvSpPr/>
          <p:nvPr/>
        </p:nvSpPr>
        <p:spPr>
          <a:xfrm>
            <a:off x="1494000" y="468000"/>
            <a:ext cx="1007999" cy="413999"/>
          </a:xfrm>
          <a:prstGeom prst="rect">
            <a:avLst/>
          </a:prstGeom>
          <a:solidFill>
            <a:srgbClr val="F3F4F5"/>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504800" y="478800"/>
            <a:ext cx="986399" cy="392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Local candidates</a:t>
            </a:r>
          </a:p>
          <a:p>
            <a:pPr algn="ctr">
              <a:spcBef>
                <a:spcPts val="0"/>
              </a:spcBef>
              <a:spcAft>
                <a:spcPts val="0"/>
              </a:spcAft>
            </a:pPr>
            <a:r>
              <a:rPr sz="900" b="0">
                <a:solidFill>
                  <a:srgbClr val="263746"/>
                </a:solidFill>
                <a:latin typeface="Arial"/>
              </a:rPr>
              <a:t>|N(i)| ≤ 9</a:t>
            </a:r>
          </a:p>
        </p:txBody>
      </p:sp>
      <p:sp>
        <p:nvSpPr>
          <p:cNvPr id="8" name="Rectangle 7"/>
          <p:cNvSpPr/>
          <p:nvPr/>
        </p:nvSpPr>
        <p:spPr>
          <a:xfrm>
            <a:off x="2664000" y="468000"/>
            <a:ext cx="1475999" cy="413999"/>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674800" y="478800"/>
            <a:ext cx="1454400" cy="392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Affinity + distance</a:t>
            </a:r>
          </a:p>
          <a:p>
            <a:pPr algn="ctr">
              <a:spcBef>
                <a:spcPts val="0"/>
              </a:spcBef>
              <a:spcAft>
                <a:spcPts val="0"/>
              </a:spcAft>
            </a:pPr>
            <a:r>
              <a:rPr sz="900" b="0">
                <a:solidFill>
                  <a:srgbClr val="263746"/>
                </a:solidFill>
                <a:latin typeface="Arial"/>
              </a:rPr>
              <a:t>+ B compatibility</a:t>
            </a:r>
          </a:p>
        </p:txBody>
      </p:sp>
      <p:sp>
        <p:nvSpPr>
          <p:cNvPr id="10" name="Rectangle 9"/>
          <p:cNvSpPr/>
          <p:nvPr/>
        </p:nvSpPr>
        <p:spPr>
          <a:xfrm>
            <a:off x="4320000" y="413999"/>
            <a:ext cx="1530000" cy="522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30800" y="424800"/>
            <a:ext cx="1508400" cy="50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Assignment /</a:t>
            </a:r>
          </a:p>
          <a:p>
            <a:pPr algn="ctr">
              <a:spcBef>
                <a:spcPts val="0"/>
              </a:spcBef>
              <a:spcAft>
                <a:spcPts val="0"/>
              </a:spcAft>
            </a:pPr>
            <a:r>
              <a:rPr sz="900" b="0">
                <a:solidFill>
                  <a:srgbClr val="263746"/>
                </a:solidFill>
                <a:latin typeface="Arial"/>
              </a:rPr>
              <a:t>center update</a:t>
            </a:r>
          </a:p>
          <a:p>
            <a:pPr algn="ctr">
              <a:spcBef>
                <a:spcPts val="0"/>
              </a:spcBef>
              <a:spcAft>
                <a:spcPts val="0"/>
              </a:spcAft>
            </a:pPr>
            <a:r>
              <a:rPr sz="900" b="0">
                <a:solidFill>
                  <a:srgbClr val="263746"/>
                </a:solidFill>
                <a:latin typeface="Arial"/>
              </a:rPr>
              <a:t>3 iterations</a:t>
            </a:r>
          </a:p>
        </p:txBody>
      </p:sp>
      <p:cxnSp>
        <p:nvCxnSpPr>
          <p:cNvPr id="12" name="Connector 11"/>
          <p:cNvCxnSpPr/>
          <p:nvPr/>
        </p:nvCxnSpPr>
        <p:spPr>
          <a:xfrm>
            <a:off x="1332000" y="676800"/>
            <a:ext cx="162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2502000" y="676800"/>
            <a:ext cx="162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4140000" y="6768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360000" y="1080000"/>
            <a:ext cx="5364000" cy="234000"/>
          </a:xfrm>
          <a:prstGeom prst="rect">
            <a:avLst/>
          </a:prstGeom>
          <a:noFill/>
          <a:effectLst/>
        </p:spPr>
        <p:txBody>
          <a:bodyPr wrap="square" lIns="10800" rIns="10800" tIns="3600" bIns="3600" anchor="ctr">
            <a:spAutoFit/>
          </a:bodyPr>
          <a:lstStyle/>
          <a:p>
            <a:pPr algn="ctr">
              <a:spcBef>
                <a:spcPts val="0"/>
              </a:spcBef>
              <a:spcAft>
                <a:spcPts val="0"/>
              </a:spcAft>
            </a:pPr>
            <a:r>
              <a:rPr sz="1000" b="0">
                <a:solidFill>
                  <a:srgbClr val="263746"/>
                </a:solidFill>
                <a:latin typeface="Arial"/>
              </a:rPr>
              <a:t>qᵢₖ = softmaxₖ∈N(i)(sᵢₖ)       Σₖ qᵢₖ = 1</a:t>
            </a:r>
          </a:p>
        </p:txBody>
      </p:sp>
      <p:sp>
        <p:nvSpPr>
          <p:cNvPr id="16" name="Rectangle 15"/>
          <p:cNvSpPr/>
          <p:nvPr/>
        </p:nvSpPr>
        <p:spPr>
          <a:xfrm>
            <a:off x="54000" y="1655999"/>
            <a:ext cx="6012000" cy="2160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800" y="1666800"/>
            <a:ext cx="5954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(b) Structure-conditioned region embedding</a:t>
            </a:r>
          </a:p>
        </p:txBody>
      </p:sp>
      <p:sp>
        <p:nvSpPr>
          <p:cNvPr id="18" name="Rectangle 17"/>
          <p:cNvSpPr/>
          <p:nvPr/>
        </p:nvSpPr>
        <p:spPr>
          <a:xfrm>
            <a:off x="180000" y="2052000"/>
            <a:ext cx="1800000" cy="432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90800" y="2062800"/>
            <a:ext cx="1778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 + B + b(Q) + H(Q)</a:t>
            </a:r>
          </a:p>
          <a:p>
            <a:pPr algn="ctr">
              <a:spcBef>
                <a:spcPts val="0"/>
              </a:spcBef>
              <a:spcAft>
                <a:spcPts val="0"/>
              </a:spcAft>
            </a:pPr>
            <a:r>
              <a:rPr sz="900" b="0">
                <a:solidFill>
                  <a:srgbClr val="263746"/>
                </a:solidFill>
                <a:latin typeface="Arial"/>
              </a:rPr>
              <a:t>Structure-conditioned Adapter</a:t>
            </a:r>
          </a:p>
        </p:txBody>
      </p:sp>
      <p:sp>
        <p:nvSpPr>
          <p:cNvPr id="20" name="Rectangle 19"/>
          <p:cNvSpPr/>
          <p:nvPr/>
        </p:nvSpPr>
        <p:spPr>
          <a:xfrm>
            <a:off x="180000" y="2646000"/>
            <a:ext cx="1800000" cy="558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90800" y="2656800"/>
            <a:ext cx="1778400" cy="536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Adapted feature F̃</a:t>
            </a:r>
          </a:p>
          <a:p>
            <a:pPr algn="ctr">
              <a:spcBef>
                <a:spcPts val="0"/>
              </a:spcBef>
              <a:spcAft>
                <a:spcPts val="0"/>
              </a:spcAft>
            </a:pPr>
            <a:r>
              <a:rPr sz="900" b="0">
                <a:solidFill>
                  <a:srgbClr val="263746"/>
                </a:solidFill>
                <a:latin typeface="Arial"/>
              </a:rPr>
              <a:t>Q × importance a</a:t>
            </a:r>
          </a:p>
          <a:p>
            <a:pPr algn="ctr">
              <a:spcBef>
                <a:spcPts val="0"/>
              </a:spcBef>
              <a:spcAft>
                <a:spcPts val="0"/>
              </a:spcAft>
            </a:pPr>
            <a:r>
              <a:rPr sz="900" b="0">
                <a:solidFill>
                  <a:srgbClr val="263746"/>
                </a:solidFill>
                <a:latin typeface="Arial"/>
              </a:rPr>
              <a:t>φ(weighted content mean)</a:t>
            </a:r>
          </a:p>
        </p:txBody>
      </p:sp>
      <p:cxnSp>
        <p:nvCxnSpPr>
          <p:cNvPr id="22" name="Connector 21"/>
          <p:cNvCxnSpPr/>
          <p:nvPr/>
        </p:nvCxnSpPr>
        <p:spPr>
          <a:xfrm>
            <a:off x="1080000" y="2484000"/>
            <a:ext cx="0" cy="162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Rectangle 22"/>
          <p:cNvSpPr/>
          <p:nvPr/>
        </p:nvSpPr>
        <p:spPr>
          <a:xfrm>
            <a:off x="2160000" y="2412000"/>
            <a:ext cx="1728000" cy="594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170800" y="2422800"/>
            <a:ext cx="1706400" cy="572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Pre-Adapter fused F</a:t>
            </a:r>
          </a:p>
          <a:p>
            <a:pPr algn="ctr">
              <a:spcBef>
                <a:spcPts val="0"/>
              </a:spcBef>
              <a:spcAft>
                <a:spcPts val="0"/>
              </a:spcAft>
            </a:pPr>
            <a:r>
              <a:rPr sz="900" b="0">
                <a:solidFill>
                  <a:srgbClr val="263746"/>
                </a:solidFill>
                <a:latin typeface="Arial"/>
              </a:rPr>
              <a:t>Q-weighted μ and σ</a:t>
            </a:r>
          </a:p>
          <a:p>
            <a:pPr algn="ctr">
              <a:spcBef>
                <a:spcPts val="0"/>
              </a:spcBef>
              <a:spcAft>
                <a:spcPts val="0"/>
              </a:spcAft>
            </a:pPr>
            <a:r>
              <a:rPr sz="900" b="0">
                <a:solidFill>
                  <a:srgbClr val="263746"/>
                </a:solidFill>
                <a:latin typeface="Arial"/>
              </a:rPr>
              <a:t>ψ(μ, σ) × tanh α</a:t>
            </a:r>
          </a:p>
        </p:txBody>
      </p:sp>
      <p:sp>
        <p:nvSpPr>
          <p:cNvPr id="25" name="Rectangle 24"/>
          <p:cNvSpPr/>
          <p:nvPr/>
        </p:nvSpPr>
        <p:spPr>
          <a:xfrm>
            <a:off x="4068000" y="2412000"/>
            <a:ext cx="1800000" cy="594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078800" y="2422800"/>
            <a:ext cx="1778400" cy="572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Soft geometry from Q</a:t>
            </a:r>
          </a:p>
          <a:p>
            <a:pPr algn="ctr">
              <a:spcBef>
                <a:spcPts val="0"/>
              </a:spcBef>
              <a:spcAft>
                <a:spcPts val="0"/>
              </a:spcAft>
            </a:pPr>
            <a:r>
              <a:rPr sz="900" b="0">
                <a:solidFill>
                  <a:srgbClr val="263746"/>
                </a:solidFill>
                <a:latin typeface="Arial"/>
              </a:rPr>
              <a:t>centroid, mass, shape</a:t>
            </a:r>
          </a:p>
          <a:p>
            <a:pPr algn="ctr">
              <a:spcBef>
                <a:spcPts val="0"/>
              </a:spcBef>
              <a:spcAft>
                <a:spcPts val="0"/>
              </a:spcAft>
            </a:pPr>
            <a:r>
              <a:rPr sz="900" b="0">
                <a:solidFill>
                  <a:srgbClr val="263746"/>
                </a:solidFill>
                <a:latin typeface="Arial"/>
              </a:rPr>
              <a:t>γ(gₖ)</a:t>
            </a:r>
          </a:p>
        </p:txBody>
      </p:sp>
      <p:sp>
        <p:nvSpPr>
          <p:cNvPr id="27" name="Rectangle 26"/>
          <p:cNvSpPr/>
          <p:nvPr/>
        </p:nvSpPr>
        <p:spPr>
          <a:xfrm>
            <a:off x="2124000" y="3420000"/>
            <a:ext cx="1980000" cy="288000"/>
          </a:xfrm>
          <a:prstGeom prst="rect">
            <a:avLst/>
          </a:prstGeom>
          <a:solidFill>
            <a:srgbClr val="DBEEF0"/>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2134800" y="3430800"/>
            <a:ext cx="1958400" cy="266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Add + LayerNorm → Tₖ ∈ R¹²⁸</a:t>
            </a:r>
          </a:p>
        </p:txBody>
      </p:sp>
      <p:cxnSp>
        <p:nvCxnSpPr>
          <p:cNvPr id="29" name="Connector 28"/>
          <p:cNvCxnSpPr/>
          <p:nvPr/>
        </p:nvCxnSpPr>
        <p:spPr>
          <a:xfrm>
            <a:off x="1080000" y="3204000"/>
            <a:ext cx="0" cy="360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1080000" y="3564000"/>
            <a:ext cx="1044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3024000" y="3006000"/>
            <a:ext cx="0" cy="414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4968000" y="3006000"/>
            <a:ext cx="0" cy="55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4104000" y="3564000"/>
            <a:ext cx="864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54000" y="3960000"/>
            <a:ext cx="6012000" cy="23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B is predicted building probability; b(Q) is assignment discrepancy; H(Q) is association entropy. Neither is a GT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54000"/>
            <a:ext cx="6012000" cy="1152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64800"/>
            <a:ext cx="5954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(a) Select support identities</a:t>
            </a:r>
          </a:p>
        </p:txBody>
      </p:sp>
      <p:sp>
        <p:nvSpPr>
          <p:cNvPr id="4" name="Rectangle 3"/>
          <p:cNvSpPr/>
          <p:nvPr/>
        </p:nvSpPr>
        <p:spPr>
          <a:xfrm>
            <a:off x="180000" y="413999"/>
            <a:ext cx="720000" cy="306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90800" y="424800"/>
            <a:ext cx="698400" cy="284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Query Tₖ</a:t>
            </a:r>
          </a:p>
        </p:txBody>
      </p:sp>
      <p:sp>
        <p:nvSpPr>
          <p:cNvPr id="6" name="Rectangle 5"/>
          <p:cNvSpPr/>
          <p:nvPr/>
        </p:nvSpPr>
        <p:spPr>
          <a:xfrm>
            <a:off x="1080000" y="352800"/>
            <a:ext cx="1620000" cy="432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90800" y="363600"/>
            <a:ext cx="1598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Similarity space</a:t>
            </a:r>
          </a:p>
          <a:p>
            <a:pPr algn="ctr">
              <a:spcBef>
                <a:spcPts val="0"/>
              </a:spcBef>
              <a:spcAft>
                <a:spcPts val="0"/>
              </a:spcAft>
            </a:pPr>
            <a:r>
              <a:rPr sz="900" b="0">
                <a:solidFill>
                  <a:srgbClr val="263746"/>
                </a:solidFill>
                <a:latin typeface="Arial"/>
              </a:rPr>
              <a:t>identity or supervised G(T)</a:t>
            </a:r>
          </a:p>
        </p:txBody>
      </p:sp>
      <p:sp>
        <p:nvSpPr>
          <p:cNvPr id="8" name="Rectangle 7"/>
          <p:cNvSpPr/>
          <p:nvPr/>
        </p:nvSpPr>
        <p:spPr>
          <a:xfrm>
            <a:off x="2880000" y="352800"/>
            <a:ext cx="1548000" cy="432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890800" y="363600"/>
            <a:ext cx="1526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Exclude same image / event</a:t>
            </a:r>
          </a:p>
          <a:p>
            <a:pPr algn="ctr">
              <a:spcBef>
                <a:spcPts val="0"/>
              </a:spcBef>
              <a:spcAft>
                <a:spcPts val="0"/>
              </a:spcAft>
            </a:pPr>
            <a:r>
              <a:rPr sz="900" b="0">
                <a:solidFill>
                  <a:srgbClr val="263746"/>
                </a:solidFill>
                <a:latin typeface="Arial"/>
              </a:rPr>
              <a:t>Top-K support IDs</a:t>
            </a:r>
          </a:p>
        </p:txBody>
      </p:sp>
      <p:sp>
        <p:nvSpPr>
          <p:cNvPr id="10" name="Rectangle 9"/>
          <p:cNvSpPr/>
          <p:nvPr/>
        </p:nvSpPr>
        <p:spPr>
          <a:xfrm>
            <a:off x="4608000" y="352800"/>
            <a:ext cx="1260000" cy="432000"/>
          </a:xfrm>
          <a:prstGeom prst="rect">
            <a:avLst/>
          </a:prstGeom>
          <a:solidFill>
            <a:srgbClr val="F3F4F5"/>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618800" y="363600"/>
            <a:ext cx="1238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Fixed Train bank</a:t>
            </a:r>
          </a:p>
          <a:p>
            <a:pPr algn="ctr">
              <a:spcBef>
                <a:spcPts val="0"/>
              </a:spcBef>
              <a:spcAft>
                <a:spcPts val="0"/>
              </a:spcAft>
            </a:pPr>
            <a:r>
              <a:rPr sz="900" b="0">
                <a:solidFill>
                  <a:srgbClr val="263746"/>
                </a:solidFill>
                <a:latin typeface="Arial"/>
              </a:rPr>
              <a:t>{Tₛ, πₛ, mₛ}</a:t>
            </a:r>
          </a:p>
        </p:txBody>
      </p:sp>
      <p:cxnSp>
        <p:nvCxnSpPr>
          <p:cNvPr id="12" name="Connector 11"/>
          <p:cNvCxnSpPr/>
          <p:nvPr/>
        </p:nvCxnSpPr>
        <p:spPr>
          <a:xfrm>
            <a:off x="900000" y="5688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2700000" y="5688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5238000" y="216000"/>
            <a:ext cx="0" cy="13680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H="1">
            <a:off x="1890000" y="216000"/>
            <a:ext cx="3348000" cy="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890000" y="216000"/>
            <a:ext cx="0" cy="13680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3348000" y="36000"/>
            <a:ext cx="1080000" cy="180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Stored keys</a:t>
            </a:r>
          </a:p>
        </p:txBody>
      </p:sp>
      <p:cxnSp>
        <p:nvCxnSpPr>
          <p:cNvPr id="18" name="Connector 17"/>
          <p:cNvCxnSpPr/>
          <p:nvPr/>
        </p:nvCxnSpPr>
        <p:spPr>
          <a:xfrm flipH="1">
            <a:off x="4428000" y="5688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3654000" y="784800"/>
            <a:ext cx="0" cy="9720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H="1">
            <a:off x="10800" y="882000"/>
            <a:ext cx="3643200" cy="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800" y="882000"/>
            <a:ext cx="0" cy="97200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0800" y="1854000"/>
            <a:ext cx="169200" cy="0"/>
          </a:xfrm>
          <a:prstGeom prst="line">
            <a:avLst/>
          </a:prstGeom>
          <a:ln w="11430">
            <a:solidFill>
              <a:srgbClr val="526675"/>
            </a:solidFill>
            <a:tailEnd type="triangle"/>
            <a:prstDash val="dash"/>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180000" y="917999"/>
            <a:ext cx="5688000" cy="198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Projection G affects IDs only. The Reader receives the original stored case content.</a:t>
            </a:r>
          </a:p>
        </p:txBody>
      </p:sp>
      <p:sp>
        <p:nvSpPr>
          <p:cNvPr id="24" name="Rectangle 23"/>
          <p:cNvSpPr/>
          <p:nvPr/>
        </p:nvSpPr>
        <p:spPr>
          <a:xfrm>
            <a:off x="54000" y="1314000"/>
            <a:ext cx="3816000" cy="2430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800" y="1324800"/>
            <a:ext cx="3758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(b) Read original support content</a:t>
            </a:r>
          </a:p>
        </p:txBody>
      </p:sp>
      <p:sp>
        <p:nvSpPr>
          <p:cNvPr id="26" name="Rectangle 25"/>
          <p:cNvSpPr/>
          <p:nvPr/>
        </p:nvSpPr>
        <p:spPr>
          <a:xfrm>
            <a:off x="180000" y="1674000"/>
            <a:ext cx="1655999" cy="360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90800" y="1684800"/>
            <a:ext cx="1634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Original support Tₛ</a:t>
            </a:r>
          </a:p>
          <a:p>
            <a:pPr algn="ctr">
              <a:spcBef>
                <a:spcPts val="0"/>
              </a:spcBef>
              <a:spcAft>
                <a:spcPts val="0"/>
              </a:spcAft>
            </a:pPr>
            <a:r>
              <a:rPr sz="900" b="0">
                <a:solidFill>
                  <a:srgbClr val="263746"/>
                </a:solidFill>
                <a:latin typeface="Arial"/>
              </a:rPr>
              <a:t>Kᵢₙ = Tₛ</a:t>
            </a:r>
          </a:p>
        </p:txBody>
      </p:sp>
      <p:sp>
        <p:nvSpPr>
          <p:cNvPr id="28" name="Rectangle 27"/>
          <p:cNvSpPr/>
          <p:nvPr/>
        </p:nvSpPr>
        <p:spPr>
          <a:xfrm>
            <a:off x="1998000" y="1674000"/>
            <a:ext cx="1674000" cy="360000"/>
          </a:xfrm>
          <a:prstGeom prst="rect">
            <a:avLst/>
          </a:prstGeom>
          <a:solidFill>
            <a:srgbClr val="FFF0DD"/>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008800" y="1684800"/>
            <a:ext cx="1652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label / metadata encoding</a:t>
            </a:r>
          </a:p>
          <a:p>
            <a:pPr algn="ctr">
              <a:spcBef>
                <a:spcPts val="0"/>
              </a:spcBef>
              <a:spcAft>
                <a:spcPts val="0"/>
              </a:spcAft>
            </a:pPr>
            <a:r>
              <a:rPr sz="900" b="0">
                <a:solidFill>
                  <a:srgbClr val="263746"/>
                </a:solidFill>
                <a:latin typeface="Arial"/>
              </a:rPr>
              <a:t>Vᵢₙ = Tₛ + E(πₛ, mₛ)</a:t>
            </a:r>
          </a:p>
        </p:txBody>
      </p:sp>
      <p:sp>
        <p:nvSpPr>
          <p:cNvPr id="30" name="Rectangle 29"/>
          <p:cNvSpPr/>
          <p:nvPr/>
        </p:nvSpPr>
        <p:spPr>
          <a:xfrm>
            <a:off x="180000" y="2286000"/>
            <a:ext cx="1080000" cy="378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90800" y="2296800"/>
            <a:ext cx="1058400" cy="356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Query Tₖ</a:t>
            </a:r>
          </a:p>
          <a:p>
            <a:pPr algn="ctr">
              <a:spcBef>
                <a:spcPts val="0"/>
              </a:spcBef>
              <a:spcAft>
                <a:spcPts val="0"/>
              </a:spcAft>
            </a:pPr>
            <a:r>
              <a:rPr sz="900" b="0">
                <a:solidFill>
                  <a:srgbClr val="263746"/>
                </a:solidFill>
                <a:latin typeface="Arial"/>
              </a:rPr>
              <a:t>Qᵢₙ = Tₖ</a:t>
            </a:r>
          </a:p>
        </p:txBody>
      </p:sp>
      <p:sp>
        <p:nvSpPr>
          <p:cNvPr id="32" name="Rectangle 31"/>
          <p:cNvSpPr/>
          <p:nvPr/>
        </p:nvSpPr>
        <p:spPr>
          <a:xfrm>
            <a:off x="1440000" y="2286000"/>
            <a:ext cx="2232000" cy="378000"/>
          </a:xfrm>
          <a:prstGeom prst="rect">
            <a:avLst/>
          </a:prstGeom>
          <a:solidFill>
            <a:srgbClr val="F0EAF7"/>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450800" y="2296800"/>
            <a:ext cx="2210400" cy="356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Pre-LN cross-attention</a:t>
            </a:r>
          </a:p>
          <a:p>
            <a:pPr algn="ctr">
              <a:spcBef>
                <a:spcPts val="0"/>
              </a:spcBef>
              <a:spcAft>
                <a:spcPts val="0"/>
              </a:spcAft>
            </a:pPr>
            <a:r>
              <a:rPr sz="900" b="0">
                <a:solidFill>
                  <a:srgbClr val="263746"/>
                </a:solidFill>
                <a:latin typeface="Arial"/>
              </a:rPr>
              <a:t>+ residual FFN</a:t>
            </a:r>
          </a:p>
        </p:txBody>
      </p:sp>
      <p:cxnSp>
        <p:nvCxnSpPr>
          <p:cNvPr id="34" name="Connector 33"/>
          <p:cNvCxnSpPr/>
          <p:nvPr/>
        </p:nvCxnSpPr>
        <p:spPr>
          <a:xfrm>
            <a:off x="1260000" y="2476800"/>
            <a:ext cx="180000"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1007999" y="2034000"/>
            <a:ext cx="900001" cy="252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2844000" y="2034000"/>
            <a:ext cx="0" cy="252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936000" y="2988000"/>
            <a:ext cx="2232000" cy="360000"/>
          </a:xfrm>
          <a:prstGeom prst="rect">
            <a:avLst/>
          </a:prstGeom>
          <a:solidFill>
            <a:srgbClr val="DBEEF0"/>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46800" y="2998800"/>
            <a:ext cx="2210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Enhanced regional content T′ₖ</a:t>
            </a:r>
          </a:p>
        </p:txBody>
      </p:sp>
      <p:cxnSp>
        <p:nvCxnSpPr>
          <p:cNvPr id="39" name="Connector 38"/>
          <p:cNvCxnSpPr/>
          <p:nvPr/>
        </p:nvCxnSpPr>
        <p:spPr>
          <a:xfrm>
            <a:off x="2556000" y="2664000"/>
            <a:ext cx="0" cy="324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3978000" y="1314000"/>
            <a:ext cx="2088000" cy="2430000"/>
          </a:xfrm>
          <a:prstGeom prst="rect">
            <a:avLst/>
          </a:prstGeom>
          <a:noFill/>
          <a:ln w="8890">
            <a:solidFill>
              <a:srgbClr val="B5C0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4006800" y="1324800"/>
            <a:ext cx="2030400" cy="32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(c) Joint classification</a:t>
            </a:r>
          </a:p>
        </p:txBody>
      </p:sp>
      <p:sp>
        <p:nvSpPr>
          <p:cNvPr id="42" name="Rectangle 41"/>
          <p:cNvSpPr/>
          <p:nvPr/>
        </p:nvSpPr>
        <p:spPr>
          <a:xfrm>
            <a:off x="4121999" y="1674000"/>
            <a:ext cx="1800000" cy="432000"/>
          </a:xfrm>
          <a:prstGeom prst="rect">
            <a:avLst/>
          </a:prstGeom>
          <a:solidFill>
            <a:srgbClr val="DBEEF0"/>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4132799" y="1684800"/>
            <a:ext cx="1778400" cy="410399"/>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Same-Q back-projection</a:t>
            </a:r>
          </a:p>
          <a:p>
            <a:pPr algn="ctr">
              <a:spcBef>
                <a:spcPts val="0"/>
              </a:spcBef>
              <a:spcAft>
                <a:spcPts val="0"/>
              </a:spcAft>
            </a:pPr>
            <a:r>
              <a:rPr sz="900" b="0">
                <a:solidFill>
                  <a:srgbClr val="263746"/>
                </a:solidFill>
                <a:latin typeface="Arial"/>
              </a:rPr>
              <a:t>Cᵢ = Σₖ qᵢₖ T′ₖ</a:t>
            </a:r>
          </a:p>
        </p:txBody>
      </p:sp>
      <p:sp>
        <p:nvSpPr>
          <p:cNvPr id="44" name="Rectangle 43"/>
          <p:cNvSpPr/>
          <p:nvPr/>
        </p:nvSpPr>
        <p:spPr>
          <a:xfrm>
            <a:off x="4121999" y="2304000"/>
            <a:ext cx="1800000" cy="306000"/>
          </a:xfrm>
          <a:prstGeom prst="rect">
            <a:avLst/>
          </a:prstGeom>
          <a:solidFill>
            <a:srgbClr val="EAF1F8"/>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4132799" y="2314800"/>
            <a:ext cx="1778400" cy="284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Preserved pixel feature Fᵢ</a:t>
            </a:r>
          </a:p>
        </p:txBody>
      </p:sp>
      <p:sp>
        <p:nvSpPr>
          <p:cNvPr id="46" name="Rectangle 45"/>
          <p:cNvSpPr/>
          <p:nvPr/>
        </p:nvSpPr>
        <p:spPr>
          <a:xfrm>
            <a:off x="4121999" y="2988000"/>
            <a:ext cx="1800000" cy="360000"/>
          </a:xfrm>
          <a:prstGeom prst="rect">
            <a:avLst/>
          </a:prstGeom>
          <a:solidFill>
            <a:srgbClr val="DBEEF0"/>
          </a:solidFill>
          <a:ln w="8890">
            <a:solidFill>
              <a:srgbClr val="52667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132799" y="2998800"/>
            <a:ext cx="1778400" cy="3384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zᵢ = WₚFᵢ + W꜀Cᵢ + b</a:t>
            </a:r>
          </a:p>
          <a:p>
            <a:pPr algn="ctr">
              <a:spcBef>
                <a:spcPts val="0"/>
              </a:spcBef>
              <a:spcAft>
                <a:spcPts val="0"/>
              </a:spcAft>
            </a:pPr>
            <a:r>
              <a:rPr sz="900" b="0">
                <a:solidFill>
                  <a:srgbClr val="263746"/>
                </a:solidFill>
                <a:latin typeface="Arial"/>
              </a:rPr>
              <a:t>Four-class prediction</a:t>
            </a:r>
          </a:p>
        </p:txBody>
      </p:sp>
      <p:cxnSp>
        <p:nvCxnSpPr>
          <p:cNvPr id="48" name="Connector 47"/>
          <p:cNvCxnSpPr/>
          <p:nvPr/>
        </p:nvCxnSpPr>
        <p:spPr>
          <a:xfrm>
            <a:off x="5922000" y="1890000"/>
            <a:ext cx="71999"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5993999" y="1890000"/>
            <a:ext cx="0" cy="936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H="1">
            <a:off x="5544000" y="2826000"/>
            <a:ext cx="449999" cy="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5544000" y="2826000"/>
            <a:ext cx="0" cy="162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5022000" y="2610000"/>
            <a:ext cx="0" cy="37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V="1">
            <a:off x="3168000" y="1890000"/>
            <a:ext cx="953999" cy="1278000"/>
          </a:xfrm>
          <a:prstGeom prst="line">
            <a:avLst/>
          </a:prstGeom>
          <a:ln w="11430">
            <a:solidFill>
              <a:srgbClr val="526675"/>
            </a:solidFill>
            <a:tailEnd type="triangle"/>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54000" y="3960000"/>
            <a:ext cx="6012000" cy="23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Parametric-support control uses learned reference vectors instead of Train cases. It is an ablation, not a claim of memory 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54000" y="484645"/>
            <a:ext cx="6012000" cy="3278709"/>
          </a:xfrm>
          <a:prstGeom prst="rect">
            <a:avLst/>
          </a:prstGeom>
          <a:effectLst/>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Earthquake and conflict: six selected crops</a:t>
            </a:r>
          </a:p>
        </p:txBody>
      </p:sp>
      <p:sp>
        <p:nvSpPr>
          <p:cNvPr id="3" name="TextBox 2"/>
          <p:cNvSpPr txBox="1"/>
          <p:nvPr/>
        </p:nvSpPr>
        <p:spPr>
          <a:xfrm>
            <a:off x="81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Türkiye</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00001065</a:t>
            </a:r>
          </a:p>
          <a:p>
            <a:pPr algn="ctr">
              <a:spcBef>
                <a:spcPts val="0"/>
              </a:spcBef>
              <a:spcAft>
                <a:spcPts val="0"/>
              </a:spcAft>
            </a:pPr>
            <a:r>
              <a:rPr sz="800" b="0">
                <a:solidFill>
                  <a:srgbClr val="263746"/>
                </a:solidFill>
                <a:latin typeface="Arial"/>
              </a:rPr>
              <a:t>512 × 512 px</a:t>
            </a:r>
          </a:p>
        </p:txBody>
      </p:sp>
      <p:pic>
        <p:nvPicPr>
          <p:cNvPr id="13" name="Picture 12" descr="turkey-earthquake_00001065_0_RGB.png"/>
          <p:cNvPicPr>
            <a:picLocks noChangeAspect="1"/>
          </p:cNvPicPr>
          <p:nvPr/>
        </p:nvPicPr>
        <p:blipFill>
          <a:blip r:embed="rId2"/>
          <a:stretch>
            <a:fillRect/>
          </a:stretch>
        </p:blipFill>
        <p:spPr>
          <a:xfrm>
            <a:off x="810000" y="503999"/>
            <a:ext cx="525600" cy="525600"/>
          </a:xfrm>
          <a:prstGeom prst="rect">
            <a:avLst/>
          </a:prstGeom>
          <a:ln w="5080">
            <a:solidFill>
              <a:srgbClr val="A7ADB3"/>
            </a:solidFill>
          </a:ln>
          <a:effectLst/>
        </p:spPr>
      </p:pic>
      <p:pic>
        <p:nvPicPr>
          <p:cNvPr id="14" name="Picture 13" descr="turkey-earthquake_00001065_1_SAR.png"/>
          <p:cNvPicPr>
            <a:picLocks noChangeAspect="1"/>
          </p:cNvPicPr>
          <p:nvPr/>
        </p:nvPicPr>
        <p:blipFill>
          <a:blip r:embed="rId3"/>
          <a:stretch>
            <a:fillRect/>
          </a:stretch>
        </p:blipFill>
        <p:spPr>
          <a:xfrm>
            <a:off x="1386000" y="503999"/>
            <a:ext cx="525600" cy="525600"/>
          </a:xfrm>
          <a:prstGeom prst="rect">
            <a:avLst/>
          </a:prstGeom>
          <a:ln w="5080">
            <a:solidFill>
              <a:srgbClr val="A7ADB3"/>
            </a:solidFill>
          </a:ln>
          <a:effectLst/>
        </p:spPr>
      </p:pic>
      <p:pic>
        <p:nvPicPr>
          <p:cNvPr id="15" name="Picture 14" descr="turkey-earthquake_00001065_2_GT.png"/>
          <p:cNvPicPr>
            <a:picLocks noChangeAspect="1"/>
          </p:cNvPicPr>
          <p:nvPr/>
        </p:nvPicPr>
        <p:blipFill>
          <a:blip r:embed="rId4"/>
          <a:stretch>
            <a:fillRect/>
          </a:stretch>
        </p:blipFill>
        <p:spPr>
          <a:xfrm>
            <a:off x="1962000" y="503999"/>
            <a:ext cx="525600" cy="525600"/>
          </a:xfrm>
          <a:prstGeom prst="rect">
            <a:avLst/>
          </a:prstGeom>
          <a:ln w="5080">
            <a:solidFill>
              <a:srgbClr val="A7ADB3"/>
            </a:solidFill>
          </a:ln>
          <a:effectLst/>
        </p:spPr>
      </p:pic>
      <p:pic>
        <p:nvPicPr>
          <p:cNvPr id="16" name="Picture 15" descr="turkey-earthquake_00001065_3_U-Net.png"/>
          <p:cNvPicPr>
            <a:picLocks noChangeAspect="1"/>
          </p:cNvPicPr>
          <p:nvPr/>
        </p:nvPicPr>
        <p:blipFill>
          <a:blip r:embed="rId5"/>
          <a:stretch>
            <a:fillRect/>
          </a:stretch>
        </p:blipFill>
        <p:spPr>
          <a:xfrm>
            <a:off x="2538000" y="503999"/>
            <a:ext cx="525600" cy="525600"/>
          </a:xfrm>
          <a:prstGeom prst="rect">
            <a:avLst/>
          </a:prstGeom>
          <a:ln w="5080">
            <a:solidFill>
              <a:srgbClr val="A7ADB3"/>
            </a:solidFill>
          </a:ln>
          <a:effectLst/>
        </p:spPr>
      </p:pic>
      <p:pic>
        <p:nvPicPr>
          <p:cNvPr id="17" name="Picture 16" descr="turkey-earthquake_00001065_4_DeepLabv3+.png"/>
          <p:cNvPicPr>
            <a:picLocks noChangeAspect="1"/>
          </p:cNvPicPr>
          <p:nvPr/>
        </p:nvPicPr>
        <p:blipFill>
          <a:blip r:embed="rId6"/>
          <a:stretch>
            <a:fillRect/>
          </a:stretch>
        </p:blipFill>
        <p:spPr>
          <a:xfrm>
            <a:off x="3114000" y="503999"/>
            <a:ext cx="525600" cy="525600"/>
          </a:xfrm>
          <a:prstGeom prst="rect">
            <a:avLst/>
          </a:prstGeom>
          <a:ln w="5080">
            <a:solidFill>
              <a:srgbClr val="A7ADB3"/>
            </a:solidFill>
          </a:ln>
          <a:effectLst/>
        </p:spPr>
      </p:pic>
      <p:pic>
        <p:nvPicPr>
          <p:cNvPr id="18" name="Picture 17" descr="turkey-earthquake_00001065_5_SiamAttnUNet.png"/>
          <p:cNvPicPr>
            <a:picLocks noChangeAspect="1"/>
          </p:cNvPicPr>
          <p:nvPr/>
        </p:nvPicPr>
        <p:blipFill>
          <a:blip r:embed="rId7"/>
          <a:stretch>
            <a:fillRect/>
          </a:stretch>
        </p:blipFill>
        <p:spPr>
          <a:xfrm>
            <a:off x="3690000" y="503999"/>
            <a:ext cx="525600" cy="525600"/>
          </a:xfrm>
          <a:prstGeom prst="rect">
            <a:avLst/>
          </a:prstGeom>
          <a:ln w="5080">
            <a:solidFill>
              <a:srgbClr val="A7ADB3"/>
            </a:solidFill>
          </a:ln>
          <a:effectLst/>
        </p:spPr>
      </p:pic>
      <p:pic>
        <p:nvPicPr>
          <p:cNvPr id="19" name="Picture 18" descr="turkey-earthquake_00001065_6_SiamCRNN.png"/>
          <p:cNvPicPr>
            <a:picLocks noChangeAspect="1"/>
          </p:cNvPicPr>
          <p:nvPr/>
        </p:nvPicPr>
        <p:blipFill>
          <a:blip r:embed="rId8"/>
          <a:stretch>
            <a:fillRect/>
          </a:stretch>
        </p:blipFill>
        <p:spPr>
          <a:xfrm>
            <a:off x="4266000" y="503999"/>
            <a:ext cx="525600" cy="525600"/>
          </a:xfrm>
          <a:prstGeom prst="rect">
            <a:avLst/>
          </a:prstGeom>
          <a:ln w="5080">
            <a:solidFill>
              <a:srgbClr val="A7ADB3"/>
            </a:solidFill>
          </a:ln>
          <a:effectLst/>
        </p:spPr>
      </p:pic>
      <p:pic>
        <p:nvPicPr>
          <p:cNvPr id="20" name="Picture 19" descr="turkey-earthquake_00001065_7_DamageFormer.png"/>
          <p:cNvPicPr>
            <a:picLocks noChangeAspect="1"/>
          </p:cNvPicPr>
          <p:nvPr/>
        </p:nvPicPr>
        <p:blipFill>
          <a:blip r:embed="rId9"/>
          <a:stretch>
            <a:fillRect/>
          </a:stretch>
        </p:blipFill>
        <p:spPr>
          <a:xfrm>
            <a:off x="4842000" y="503999"/>
            <a:ext cx="525600" cy="525600"/>
          </a:xfrm>
          <a:prstGeom prst="rect">
            <a:avLst/>
          </a:prstGeom>
          <a:ln w="5080">
            <a:solidFill>
              <a:srgbClr val="A7ADB3"/>
            </a:solidFill>
          </a:ln>
          <a:effectLst/>
        </p:spPr>
      </p:pic>
      <p:pic>
        <p:nvPicPr>
          <p:cNvPr id="21" name="Picture 20" descr="turkey-earthquake_00001065_8_MPF.png"/>
          <p:cNvPicPr>
            <a:picLocks noChangeAspect="1"/>
          </p:cNvPicPr>
          <p:nvPr/>
        </p:nvPicPr>
        <p:blipFill>
          <a:blip r:embed="rId10"/>
          <a:stretch>
            <a:fillRect/>
          </a:stretch>
        </p:blipFill>
        <p:spPr>
          <a:xfrm>
            <a:off x="5418000" y="503999"/>
            <a:ext cx="525600" cy="525600"/>
          </a:xfrm>
          <a:prstGeom prst="rect">
            <a:avLst/>
          </a:prstGeom>
          <a:ln w="5080">
            <a:solidFill>
              <a:srgbClr val="A7ADB3"/>
            </a:solidFill>
          </a:ln>
          <a:effectLst/>
        </p:spPr>
      </p:pic>
      <p:sp>
        <p:nvSpPr>
          <p:cNvPr id="22" name="TextBox 21"/>
          <p:cNvSpPr txBox="1"/>
          <p:nvPr/>
        </p:nvSpPr>
        <p:spPr>
          <a:xfrm>
            <a:off x="36000" y="104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Türkiye</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00001074</a:t>
            </a:r>
          </a:p>
          <a:p>
            <a:pPr algn="ctr">
              <a:spcBef>
                <a:spcPts val="0"/>
              </a:spcBef>
              <a:spcAft>
                <a:spcPts val="0"/>
              </a:spcAft>
            </a:pPr>
            <a:r>
              <a:rPr sz="800" b="0">
                <a:solidFill>
                  <a:srgbClr val="263746"/>
                </a:solidFill>
                <a:latin typeface="Arial"/>
              </a:rPr>
              <a:t>512 × 512 px</a:t>
            </a:r>
          </a:p>
        </p:txBody>
      </p:sp>
      <p:pic>
        <p:nvPicPr>
          <p:cNvPr id="23" name="Picture 22" descr="turkey-earthquake_00001074_0_RGB.png"/>
          <p:cNvPicPr>
            <a:picLocks noChangeAspect="1"/>
          </p:cNvPicPr>
          <p:nvPr/>
        </p:nvPicPr>
        <p:blipFill>
          <a:blip r:embed="rId11"/>
          <a:stretch>
            <a:fillRect/>
          </a:stretch>
        </p:blipFill>
        <p:spPr>
          <a:xfrm>
            <a:off x="810000" y="1044000"/>
            <a:ext cx="525600" cy="525600"/>
          </a:xfrm>
          <a:prstGeom prst="rect">
            <a:avLst/>
          </a:prstGeom>
          <a:ln w="5080">
            <a:solidFill>
              <a:srgbClr val="A7ADB3"/>
            </a:solidFill>
          </a:ln>
          <a:effectLst/>
        </p:spPr>
      </p:pic>
      <p:pic>
        <p:nvPicPr>
          <p:cNvPr id="24" name="Picture 23" descr="turkey-earthquake_00001074_1_SAR.png"/>
          <p:cNvPicPr>
            <a:picLocks noChangeAspect="1"/>
          </p:cNvPicPr>
          <p:nvPr/>
        </p:nvPicPr>
        <p:blipFill>
          <a:blip r:embed="rId12"/>
          <a:stretch>
            <a:fillRect/>
          </a:stretch>
        </p:blipFill>
        <p:spPr>
          <a:xfrm>
            <a:off x="1386000" y="1044000"/>
            <a:ext cx="525600" cy="525600"/>
          </a:xfrm>
          <a:prstGeom prst="rect">
            <a:avLst/>
          </a:prstGeom>
          <a:ln w="5080">
            <a:solidFill>
              <a:srgbClr val="A7ADB3"/>
            </a:solidFill>
          </a:ln>
          <a:effectLst/>
        </p:spPr>
      </p:pic>
      <p:pic>
        <p:nvPicPr>
          <p:cNvPr id="25" name="Picture 24" descr="turkey-earthquake_00001074_2_GT.png"/>
          <p:cNvPicPr>
            <a:picLocks noChangeAspect="1"/>
          </p:cNvPicPr>
          <p:nvPr/>
        </p:nvPicPr>
        <p:blipFill>
          <a:blip r:embed="rId13"/>
          <a:stretch>
            <a:fillRect/>
          </a:stretch>
        </p:blipFill>
        <p:spPr>
          <a:xfrm>
            <a:off x="1962000" y="1044000"/>
            <a:ext cx="525600" cy="525600"/>
          </a:xfrm>
          <a:prstGeom prst="rect">
            <a:avLst/>
          </a:prstGeom>
          <a:ln w="5080">
            <a:solidFill>
              <a:srgbClr val="A7ADB3"/>
            </a:solidFill>
          </a:ln>
          <a:effectLst/>
        </p:spPr>
      </p:pic>
      <p:pic>
        <p:nvPicPr>
          <p:cNvPr id="26" name="Picture 25" descr="turkey-earthquake_00001074_3_U-Net.png"/>
          <p:cNvPicPr>
            <a:picLocks noChangeAspect="1"/>
          </p:cNvPicPr>
          <p:nvPr/>
        </p:nvPicPr>
        <p:blipFill>
          <a:blip r:embed="rId14"/>
          <a:stretch>
            <a:fillRect/>
          </a:stretch>
        </p:blipFill>
        <p:spPr>
          <a:xfrm>
            <a:off x="2538000" y="1044000"/>
            <a:ext cx="525600" cy="525600"/>
          </a:xfrm>
          <a:prstGeom prst="rect">
            <a:avLst/>
          </a:prstGeom>
          <a:ln w="5080">
            <a:solidFill>
              <a:srgbClr val="A7ADB3"/>
            </a:solidFill>
          </a:ln>
          <a:effectLst/>
        </p:spPr>
      </p:pic>
      <p:pic>
        <p:nvPicPr>
          <p:cNvPr id="27" name="Picture 26" descr="turkey-earthquake_00001074_4_DeepLabv3+.png"/>
          <p:cNvPicPr>
            <a:picLocks noChangeAspect="1"/>
          </p:cNvPicPr>
          <p:nvPr/>
        </p:nvPicPr>
        <p:blipFill>
          <a:blip r:embed="rId15"/>
          <a:stretch>
            <a:fillRect/>
          </a:stretch>
        </p:blipFill>
        <p:spPr>
          <a:xfrm>
            <a:off x="3114000" y="1044000"/>
            <a:ext cx="525600" cy="525600"/>
          </a:xfrm>
          <a:prstGeom prst="rect">
            <a:avLst/>
          </a:prstGeom>
          <a:ln w="5080">
            <a:solidFill>
              <a:srgbClr val="A7ADB3"/>
            </a:solidFill>
          </a:ln>
          <a:effectLst/>
        </p:spPr>
      </p:pic>
      <p:pic>
        <p:nvPicPr>
          <p:cNvPr id="28" name="Picture 27" descr="turkey-earthquake_00001074_5_SiamAttnUNet.png"/>
          <p:cNvPicPr>
            <a:picLocks noChangeAspect="1"/>
          </p:cNvPicPr>
          <p:nvPr/>
        </p:nvPicPr>
        <p:blipFill>
          <a:blip r:embed="rId16"/>
          <a:stretch>
            <a:fillRect/>
          </a:stretch>
        </p:blipFill>
        <p:spPr>
          <a:xfrm>
            <a:off x="3690000" y="1044000"/>
            <a:ext cx="525600" cy="525600"/>
          </a:xfrm>
          <a:prstGeom prst="rect">
            <a:avLst/>
          </a:prstGeom>
          <a:ln w="5080">
            <a:solidFill>
              <a:srgbClr val="A7ADB3"/>
            </a:solidFill>
          </a:ln>
          <a:effectLst/>
        </p:spPr>
      </p:pic>
      <p:pic>
        <p:nvPicPr>
          <p:cNvPr id="29" name="Picture 28" descr="turkey-earthquake_00001074_6_SiamCRNN.png"/>
          <p:cNvPicPr>
            <a:picLocks noChangeAspect="1"/>
          </p:cNvPicPr>
          <p:nvPr/>
        </p:nvPicPr>
        <p:blipFill>
          <a:blip r:embed="rId17"/>
          <a:stretch>
            <a:fillRect/>
          </a:stretch>
        </p:blipFill>
        <p:spPr>
          <a:xfrm>
            <a:off x="4266000" y="1044000"/>
            <a:ext cx="525600" cy="525600"/>
          </a:xfrm>
          <a:prstGeom prst="rect">
            <a:avLst/>
          </a:prstGeom>
          <a:ln w="5080">
            <a:solidFill>
              <a:srgbClr val="A7ADB3"/>
            </a:solidFill>
          </a:ln>
          <a:effectLst/>
        </p:spPr>
      </p:pic>
      <p:pic>
        <p:nvPicPr>
          <p:cNvPr id="30" name="Picture 29" descr="turkey-earthquake_00001074_7_DamageFormer.png"/>
          <p:cNvPicPr>
            <a:picLocks noChangeAspect="1"/>
          </p:cNvPicPr>
          <p:nvPr/>
        </p:nvPicPr>
        <p:blipFill>
          <a:blip r:embed="rId18"/>
          <a:stretch>
            <a:fillRect/>
          </a:stretch>
        </p:blipFill>
        <p:spPr>
          <a:xfrm>
            <a:off x="4842000" y="1044000"/>
            <a:ext cx="525600" cy="525600"/>
          </a:xfrm>
          <a:prstGeom prst="rect">
            <a:avLst/>
          </a:prstGeom>
          <a:ln w="5080">
            <a:solidFill>
              <a:srgbClr val="A7ADB3"/>
            </a:solidFill>
          </a:ln>
          <a:effectLst/>
        </p:spPr>
      </p:pic>
      <p:pic>
        <p:nvPicPr>
          <p:cNvPr id="31" name="Picture 30" descr="turkey-earthquake_00001074_8_MPF.png"/>
          <p:cNvPicPr>
            <a:picLocks noChangeAspect="1"/>
          </p:cNvPicPr>
          <p:nvPr/>
        </p:nvPicPr>
        <p:blipFill>
          <a:blip r:embed="rId19"/>
          <a:stretch>
            <a:fillRect/>
          </a:stretch>
        </p:blipFill>
        <p:spPr>
          <a:xfrm>
            <a:off x="5418000" y="1044000"/>
            <a:ext cx="525600" cy="525600"/>
          </a:xfrm>
          <a:prstGeom prst="rect">
            <a:avLst/>
          </a:prstGeom>
          <a:ln w="5080">
            <a:solidFill>
              <a:srgbClr val="A7ADB3"/>
            </a:solidFill>
          </a:ln>
          <a:effectLst/>
        </p:spPr>
      </p:pic>
      <p:sp>
        <p:nvSpPr>
          <p:cNvPr id="32" name="TextBox 31"/>
          <p:cNvSpPr txBox="1"/>
          <p:nvPr/>
        </p:nvSpPr>
        <p:spPr>
          <a:xfrm>
            <a:off x="36000" y="158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noto</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00000038</a:t>
            </a:r>
          </a:p>
          <a:p>
            <a:pPr algn="ctr">
              <a:spcBef>
                <a:spcPts val="0"/>
              </a:spcBef>
              <a:spcAft>
                <a:spcPts val="0"/>
              </a:spcAft>
            </a:pPr>
            <a:r>
              <a:rPr sz="800" b="0">
                <a:solidFill>
                  <a:srgbClr val="263746"/>
                </a:solidFill>
                <a:latin typeface="Arial"/>
              </a:rPr>
              <a:t>768 × 768 px</a:t>
            </a:r>
          </a:p>
        </p:txBody>
      </p:sp>
      <p:pic>
        <p:nvPicPr>
          <p:cNvPr id="33" name="Picture 32" descr="noto-earthquake_00000038_0_RGB.png"/>
          <p:cNvPicPr>
            <a:picLocks noChangeAspect="1"/>
          </p:cNvPicPr>
          <p:nvPr/>
        </p:nvPicPr>
        <p:blipFill>
          <a:blip r:embed="rId20"/>
          <a:stretch>
            <a:fillRect/>
          </a:stretch>
        </p:blipFill>
        <p:spPr>
          <a:xfrm>
            <a:off x="810000" y="1584000"/>
            <a:ext cx="525600" cy="525600"/>
          </a:xfrm>
          <a:prstGeom prst="rect">
            <a:avLst/>
          </a:prstGeom>
          <a:ln w="5080">
            <a:solidFill>
              <a:srgbClr val="A7ADB3"/>
            </a:solidFill>
          </a:ln>
          <a:effectLst/>
        </p:spPr>
      </p:pic>
      <p:pic>
        <p:nvPicPr>
          <p:cNvPr id="34" name="Picture 33" descr="noto-earthquake_00000038_1_SAR.png"/>
          <p:cNvPicPr>
            <a:picLocks noChangeAspect="1"/>
          </p:cNvPicPr>
          <p:nvPr/>
        </p:nvPicPr>
        <p:blipFill>
          <a:blip r:embed="rId21"/>
          <a:stretch>
            <a:fillRect/>
          </a:stretch>
        </p:blipFill>
        <p:spPr>
          <a:xfrm>
            <a:off x="1386000" y="1584000"/>
            <a:ext cx="525600" cy="525600"/>
          </a:xfrm>
          <a:prstGeom prst="rect">
            <a:avLst/>
          </a:prstGeom>
          <a:ln w="5080">
            <a:solidFill>
              <a:srgbClr val="A7ADB3"/>
            </a:solidFill>
          </a:ln>
          <a:effectLst/>
        </p:spPr>
      </p:pic>
      <p:pic>
        <p:nvPicPr>
          <p:cNvPr id="35" name="Picture 34" descr="noto-earthquake_00000038_2_GT.png"/>
          <p:cNvPicPr>
            <a:picLocks noChangeAspect="1"/>
          </p:cNvPicPr>
          <p:nvPr/>
        </p:nvPicPr>
        <p:blipFill>
          <a:blip r:embed="rId22"/>
          <a:stretch>
            <a:fillRect/>
          </a:stretch>
        </p:blipFill>
        <p:spPr>
          <a:xfrm>
            <a:off x="1962000" y="1584000"/>
            <a:ext cx="525600" cy="525600"/>
          </a:xfrm>
          <a:prstGeom prst="rect">
            <a:avLst/>
          </a:prstGeom>
          <a:ln w="5080">
            <a:solidFill>
              <a:srgbClr val="A7ADB3"/>
            </a:solidFill>
          </a:ln>
          <a:effectLst/>
        </p:spPr>
      </p:pic>
      <p:pic>
        <p:nvPicPr>
          <p:cNvPr id="36" name="Picture 35" descr="noto-earthquake_00000038_3_U-Net.png"/>
          <p:cNvPicPr>
            <a:picLocks noChangeAspect="1"/>
          </p:cNvPicPr>
          <p:nvPr/>
        </p:nvPicPr>
        <p:blipFill>
          <a:blip r:embed="rId23"/>
          <a:stretch>
            <a:fillRect/>
          </a:stretch>
        </p:blipFill>
        <p:spPr>
          <a:xfrm>
            <a:off x="2538000" y="1584000"/>
            <a:ext cx="525600" cy="525600"/>
          </a:xfrm>
          <a:prstGeom prst="rect">
            <a:avLst/>
          </a:prstGeom>
          <a:ln w="5080">
            <a:solidFill>
              <a:srgbClr val="A7ADB3"/>
            </a:solidFill>
          </a:ln>
          <a:effectLst/>
        </p:spPr>
      </p:pic>
      <p:pic>
        <p:nvPicPr>
          <p:cNvPr id="37" name="Picture 36" descr="noto-earthquake_00000038_4_DeepLabv3+.png"/>
          <p:cNvPicPr>
            <a:picLocks noChangeAspect="1"/>
          </p:cNvPicPr>
          <p:nvPr/>
        </p:nvPicPr>
        <p:blipFill>
          <a:blip r:embed="rId24"/>
          <a:stretch>
            <a:fillRect/>
          </a:stretch>
        </p:blipFill>
        <p:spPr>
          <a:xfrm>
            <a:off x="3114000" y="1584000"/>
            <a:ext cx="525600" cy="525600"/>
          </a:xfrm>
          <a:prstGeom prst="rect">
            <a:avLst/>
          </a:prstGeom>
          <a:ln w="5080">
            <a:solidFill>
              <a:srgbClr val="A7ADB3"/>
            </a:solidFill>
          </a:ln>
          <a:effectLst/>
        </p:spPr>
      </p:pic>
      <p:pic>
        <p:nvPicPr>
          <p:cNvPr id="38" name="Picture 37" descr="noto-earthquake_00000038_5_SiamAttnUNet.png"/>
          <p:cNvPicPr>
            <a:picLocks noChangeAspect="1"/>
          </p:cNvPicPr>
          <p:nvPr/>
        </p:nvPicPr>
        <p:blipFill>
          <a:blip r:embed="rId25"/>
          <a:stretch>
            <a:fillRect/>
          </a:stretch>
        </p:blipFill>
        <p:spPr>
          <a:xfrm>
            <a:off x="3690000" y="1584000"/>
            <a:ext cx="525600" cy="525600"/>
          </a:xfrm>
          <a:prstGeom prst="rect">
            <a:avLst/>
          </a:prstGeom>
          <a:ln w="5080">
            <a:solidFill>
              <a:srgbClr val="A7ADB3"/>
            </a:solidFill>
          </a:ln>
          <a:effectLst/>
        </p:spPr>
      </p:pic>
      <p:pic>
        <p:nvPicPr>
          <p:cNvPr id="39" name="Picture 38" descr="noto-earthquake_00000038_6_SiamCRNN.png"/>
          <p:cNvPicPr>
            <a:picLocks noChangeAspect="1"/>
          </p:cNvPicPr>
          <p:nvPr/>
        </p:nvPicPr>
        <p:blipFill>
          <a:blip r:embed="rId26"/>
          <a:stretch>
            <a:fillRect/>
          </a:stretch>
        </p:blipFill>
        <p:spPr>
          <a:xfrm>
            <a:off x="4266000" y="1584000"/>
            <a:ext cx="525600" cy="525600"/>
          </a:xfrm>
          <a:prstGeom prst="rect">
            <a:avLst/>
          </a:prstGeom>
          <a:ln w="5080">
            <a:solidFill>
              <a:srgbClr val="A7ADB3"/>
            </a:solidFill>
          </a:ln>
          <a:effectLst/>
        </p:spPr>
      </p:pic>
      <p:pic>
        <p:nvPicPr>
          <p:cNvPr id="40" name="Picture 39" descr="noto-earthquake_00000038_7_DamageFormer.png"/>
          <p:cNvPicPr>
            <a:picLocks noChangeAspect="1"/>
          </p:cNvPicPr>
          <p:nvPr/>
        </p:nvPicPr>
        <p:blipFill>
          <a:blip r:embed="rId27"/>
          <a:stretch>
            <a:fillRect/>
          </a:stretch>
        </p:blipFill>
        <p:spPr>
          <a:xfrm>
            <a:off x="4842000" y="1584000"/>
            <a:ext cx="525600" cy="525600"/>
          </a:xfrm>
          <a:prstGeom prst="rect">
            <a:avLst/>
          </a:prstGeom>
          <a:ln w="5080">
            <a:solidFill>
              <a:srgbClr val="A7ADB3"/>
            </a:solidFill>
          </a:ln>
          <a:effectLst/>
        </p:spPr>
      </p:pic>
      <p:pic>
        <p:nvPicPr>
          <p:cNvPr id="41" name="Picture 40" descr="noto-earthquake_00000038_8_MPF.png"/>
          <p:cNvPicPr>
            <a:picLocks noChangeAspect="1"/>
          </p:cNvPicPr>
          <p:nvPr/>
        </p:nvPicPr>
        <p:blipFill>
          <a:blip r:embed="rId28"/>
          <a:stretch>
            <a:fillRect/>
          </a:stretch>
        </p:blipFill>
        <p:spPr>
          <a:xfrm>
            <a:off x="5418000" y="1584000"/>
            <a:ext cx="525600" cy="525600"/>
          </a:xfrm>
          <a:prstGeom prst="rect">
            <a:avLst/>
          </a:prstGeom>
          <a:ln w="5080">
            <a:solidFill>
              <a:srgbClr val="A7ADB3"/>
            </a:solidFill>
          </a:ln>
          <a:effectLst/>
        </p:spPr>
      </p:pic>
      <p:sp>
        <p:nvSpPr>
          <p:cNvPr id="42" name="TextBox 41"/>
          <p:cNvSpPr txBox="1"/>
          <p:nvPr/>
        </p:nvSpPr>
        <p:spPr>
          <a:xfrm>
            <a:off x="36000" y="212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noto</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00000049</a:t>
            </a:r>
          </a:p>
          <a:p>
            <a:pPr algn="ctr">
              <a:spcBef>
                <a:spcPts val="0"/>
              </a:spcBef>
              <a:spcAft>
                <a:spcPts val="0"/>
              </a:spcAft>
            </a:pPr>
            <a:r>
              <a:rPr sz="800" b="0">
                <a:solidFill>
                  <a:srgbClr val="263746"/>
                </a:solidFill>
                <a:latin typeface="Arial"/>
              </a:rPr>
              <a:t>512 × 512 px</a:t>
            </a:r>
          </a:p>
        </p:txBody>
      </p:sp>
      <p:pic>
        <p:nvPicPr>
          <p:cNvPr id="43" name="Picture 42" descr="noto-earthquake_00000049_0_RGB.png"/>
          <p:cNvPicPr>
            <a:picLocks noChangeAspect="1"/>
          </p:cNvPicPr>
          <p:nvPr/>
        </p:nvPicPr>
        <p:blipFill>
          <a:blip r:embed="rId29"/>
          <a:stretch>
            <a:fillRect/>
          </a:stretch>
        </p:blipFill>
        <p:spPr>
          <a:xfrm>
            <a:off x="810000" y="2124000"/>
            <a:ext cx="525600" cy="525600"/>
          </a:xfrm>
          <a:prstGeom prst="rect">
            <a:avLst/>
          </a:prstGeom>
          <a:ln w="5080">
            <a:solidFill>
              <a:srgbClr val="A7ADB3"/>
            </a:solidFill>
          </a:ln>
          <a:effectLst/>
        </p:spPr>
      </p:pic>
      <p:pic>
        <p:nvPicPr>
          <p:cNvPr id="44" name="Picture 43" descr="noto-earthquake_00000049_1_SAR.png"/>
          <p:cNvPicPr>
            <a:picLocks noChangeAspect="1"/>
          </p:cNvPicPr>
          <p:nvPr/>
        </p:nvPicPr>
        <p:blipFill>
          <a:blip r:embed="rId30"/>
          <a:stretch>
            <a:fillRect/>
          </a:stretch>
        </p:blipFill>
        <p:spPr>
          <a:xfrm>
            <a:off x="1386000" y="2124000"/>
            <a:ext cx="525600" cy="525600"/>
          </a:xfrm>
          <a:prstGeom prst="rect">
            <a:avLst/>
          </a:prstGeom>
          <a:ln w="5080">
            <a:solidFill>
              <a:srgbClr val="A7ADB3"/>
            </a:solidFill>
          </a:ln>
          <a:effectLst/>
        </p:spPr>
      </p:pic>
      <p:pic>
        <p:nvPicPr>
          <p:cNvPr id="45" name="Picture 44" descr="noto-earthquake_00000049_2_GT.png"/>
          <p:cNvPicPr>
            <a:picLocks noChangeAspect="1"/>
          </p:cNvPicPr>
          <p:nvPr/>
        </p:nvPicPr>
        <p:blipFill>
          <a:blip r:embed="rId31"/>
          <a:stretch>
            <a:fillRect/>
          </a:stretch>
        </p:blipFill>
        <p:spPr>
          <a:xfrm>
            <a:off x="1962000" y="2124000"/>
            <a:ext cx="525600" cy="525600"/>
          </a:xfrm>
          <a:prstGeom prst="rect">
            <a:avLst/>
          </a:prstGeom>
          <a:ln w="5080">
            <a:solidFill>
              <a:srgbClr val="A7ADB3"/>
            </a:solidFill>
          </a:ln>
          <a:effectLst/>
        </p:spPr>
      </p:pic>
      <p:pic>
        <p:nvPicPr>
          <p:cNvPr id="46" name="Picture 45" descr="noto-earthquake_00000049_3_U-Net.png"/>
          <p:cNvPicPr>
            <a:picLocks noChangeAspect="1"/>
          </p:cNvPicPr>
          <p:nvPr/>
        </p:nvPicPr>
        <p:blipFill>
          <a:blip r:embed="rId32"/>
          <a:stretch>
            <a:fillRect/>
          </a:stretch>
        </p:blipFill>
        <p:spPr>
          <a:xfrm>
            <a:off x="2538000" y="2124000"/>
            <a:ext cx="525600" cy="525600"/>
          </a:xfrm>
          <a:prstGeom prst="rect">
            <a:avLst/>
          </a:prstGeom>
          <a:ln w="5080">
            <a:solidFill>
              <a:srgbClr val="A7ADB3"/>
            </a:solidFill>
          </a:ln>
          <a:effectLst/>
        </p:spPr>
      </p:pic>
      <p:pic>
        <p:nvPicPr>
          <p:cNvPr id="47" name="Picture 46" descr="noto-earthquake_00000049_4_DeepLabv3+.png"/>
          <p:cNvPicPr>
            <a:picLocks noChangeAspect="1"/>
          </p:cNvPicPr>
          <p:nvPr/>
        </p:nvPicPr>
        <p:blipFill>
          <a:blip r:embed="rId33"/>
          <a:stretch>
            <a:fillRect/>
          </a:stretch>
        </p:blipFill>
        <p:spPr>
          <a:xfrm>
            <a:off x="3114000" y="2124000"/>
            <a:ext cx="525600" cy="525600"/>
          </a:xfrm>
          <a:prstGeom prst="rect">
            <a:avLst/>
          </a:prstGeom>
          <a:ln w="5080">
            <a:solidFill>
              <a:srgbClr val="A7ADB3"/>
            </a:solidFill>
          </a:ln>
          <a:effectLst/>
        </p:spPr>
      </p:pic>
      <p:pic>
        <p:nvPicPr>
          <p:cNvPr id="48" name="Picture 47" descr="noto-earthquake_00000049_5_SiamAttnUNet.png"/>
          <p:cNvPicPr>
            <a:picLocks noChangeAspect="1"/>
          </p:cNvPicPr>
          <p:nvPr/>
        </p:nvPicPr>
        <p:blipFill>
          <a:blip r:embed="rId34"/>
          <a:stretch>
            <a:fillRect/>
          </a:stretch>
        </p:blipFill>
        <p:spPr>
          <a:xfrm>
            <a:off x="3690000" y="2124000"/>
            <a:ext cx="525600" cy="525600"/>
          </a:xfrm>
          <a:prstGeom prst="rect">
            <a:avLst/>
          </a:prstGeom>
          <a:ln w="5080">
            <a:solidFill>
              <a:srgbClr val="A7ADB3"/>
            </a:solidFill>
          </a:ln>
          <a:effectLst/>
        </p:spPr>
      </p:pic>
      <p:pic>
        <p:nvPicPr>
          <p:cNvPr id="49" name="Picture 48" descr="noto-earthquake_00000049_6_SiamCRNN.png"/>
          <p:cNvPicPr>
            <a:picLocks noChangeAspect="1"/>
          </p:cNvPicPr>
          <p:nvPr/>
        </p:nvPicPr>
        <p:blipFill>
          <a:blip r:embed="rId35"/>
          <a:stretch>
            <a:fillRect/>
          </a:stretch>
        </p:blipFill>
        <p:spPr>
          <a:xfrm>
            <a:off x="4266000" y="2124000"/>
            <a:ext cx="525600" cy="525600"/>
          </a:xfrm>
          <a:prstGeom prst="rect">
            <a:avLst/>
          </a:prstGeom>
          <a:ln w="5080">
            <a:solidFill>
              <a:srgbClr val="A7ADB3"/>
            </a:solidFill>
          </a:ln>
          <a:effectLst/>
        </p:spPr>
      </p:pic>
      <p:pic>
        <p:nvPicPr>
          <p:cNvPr id="50" name="Picture 49" descr="noto-earthquake_00000049_7_DamageFormer.png"/>
          <p:cNvPicPr>
            <a:picLocks noChangeAspect="1"/>
          </p:cNvPicPr>
          <p:nvPr/>
        </p:nvPicPr>
        <p:blipFill>
          <a:blip r:embed="rId36"/>
          <a:stretch>
            <a:fillRect/>
          </a:stretch>
        </p:blipFill>
        <p:spPr>
          <a:xfrm>
            <a:off x="4842000" y="2124000"/>
            <a:ext cx="525600" cy="525600"/>
          </a:xfrm>
          <a:prstGeom prst="rect">
            <a:avLst/>
          </a:prstGeom>
          <a:ln w="5080">
            <a:solidFill>
              <a:srgbClr val="A7ADB3"/>
            </a:solidFill>
          </a:ln>
          <a:effectLst/>
        </p:spPr>
      </p:pic>
      <p:pic>
        <p:nvPicPr>
          <p:cNvPr id="51" name="Picture 50" descr="noto-earthquake_00000049_8_MPF.png"/>
          <p:cNvPicPr>
            <a:picLocks noChangeAspect="1"/>
          </p:cNvPicPr>
          <p:nvPr/>
        </p:nvPicPr>
        <p:blipFill>
          <a:blip r:embed="rId37"/>
          <a:stretch>
            <a:fillRect/>
          </a:stretch>
        </p:blipFill>
        <p:spPr>
          <a:xfrm>
            <a:off x="5418000" y="2124000"/>
            <a:ext cx="525600" cy="525600"/>
          </a:xfrm>
          <a:prstGeom prst="rect">
            <a:avLst/>
          </a:prstGeom>
          <a:ln w="5080">
            <a:solidFill>
              <a:srgbClr val="A7ADB3"/>
            </a:solidFill>
          </a:ln>
          <a:effectLst/>
        </p:spPr>
      </p:pic>
      <p:sp>
        <p:nvSpPr>
          <p:cNvPr id="52" name="TextBox 51"/>
          <p:cNvSpPr txBox="1"/>
          <p:nvPr/>
        </p:nvSpPr>
        <p:spPr>
          <a:xfrm>
            <a:off x="36000" y="266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ukraine</a:t>
            </a:r>
          </a:p>
          <a:p>
            <a:pPr algn="ctr">
              <a:spcBef>
                <a:spcPts val="0"/>
              </a:spcBef>
              <a:spcAft>
                <a:spcPts val="0"/>
              </a:spcAft>
            </a:pPr>
            <a:r>
              <a:rPr sz="800" b="0">
                <a:solidFill>
                  <a:srgbClr val="263746"/>
                </a:solidFill>
                <a:latin typeface="Arial"/>
              </a:rPr>
              <a:t>conflict</a:t>
            </a:r>
          </a:p>
          <a:p>
            <a:pPr algn="ctr">
              <a:spcBef>
                <a:spcPts val="0"/>
              </a:spcBef>
              <a:spcAft>
                <a:spcPts val="0"/>
              </a:spcAft>
            </a:pPr>
            <a:r>
              <a:rPr sz="800" b="0">
                <a:solidFill>
                  <a:srgbClr val="263746"/>
                </a:solidFill>
                <a:latin typeface="Arial"/>
              </a:rPr>
              <a:t>00000354</a:t>
            </a:r>
          </a:p>
          <a:p>
            <a:pPr algn="ctr">
              <a:spcBef>
                <a:spcPts val="0"/>
              </a:spcBef>
              <a:spcAft>
                <a:spcPts val="0"/>
              </a:spcAft>
            </a:pPr>
            <a:r>
              <a:rPr sz="800" b="0">
                <a:solidFill>
                  <a:srgbClr val="263746"/>
                </a:solidFill>
                <a:latin typeface="Arial"/>
              </a:rPr>
              <a:t>512 × 512 px</a:t>
            </a:r>
          </a:p>
        </p:txBody>
      </p:sp>
      <p:pic>
        <p:nvPicPr>
          <p:cNvPr id="53" name="Picture 52" descr="ukraine-conflict_00000354_0_RGB.png"/>
          <p:cNvPicPr>
            <a:picLocks noChangeAspect="1"/>
          </p:cNvPicPr>
          <p:nvPr/>
        </p:nvPicPr>
        <p:blipFill>
          <a:blip r:embed="rId38"/>
          <a:stretch>
            <a:fillRect/>
          </a:stretch>
        </p:blipFill>
        <p:spPr>
          <a:xfrm>
            <a:off x="810000" y="2664000"/>
            <a:ext cx="525600" cy="525600"/>
          </a:xfrm>
          <a:prstGeom prst="rect">
            <a:avLst/>
          </a:prstGeom>
          <a:ln w="5080">
            <a:solidFill>
              <a:srgbClr val="A7ADB3"/>
            </a:solidFill>
          </a:ln>
          <a:effectLst/>
        </p:spPr>
      </p:pic>
      <p:pic>
        <p:nvPicPr>
          <p:cNvPr id="54" name="Picture 53" descr="ukraine-conflict_00000354_1_SAR.png"/>
          <p:cNvPicPr>
            <a:picLocks noChangeAspect="1"/>
          </p:cNvPicPr>
          <p:nvPr/>
        </p:nvPicPr>
        <p:blipFill>
          <a:blip r:embed="rId39"/>
          <a:stretch>
            <a:fillRect/>
          </a:stretch>
        </p:blipFill>
        <p:spPr>
          <a:xfrm>
            <a:off x="1386000" y="2664000"/>
            <a:ext cx="525600" cy="525600"/>
          </a:xfrm>
          <a:prstGeom prst="rect">
            <a:avLst/>
          </a:prstGeom>
          <a:ln w="5080">
            <a:solidFill>
              <a:srgbClr val="A7ADB3"/>
            </a:solidFill>
          </a:ln>
          <a:effectLst/>
        </p:spPr>
      </p:pic>
      <p:pic>
        <p:nvPicPr>
          <p:cNvPr id="55" name="Picture 54" descr="ukraine-conflict_00000354_2_GT.png"/>
          <p:cNvPicPr>
            <a:picLocks noChangeAspect="1"/>
          </p:cNvPicPr>
          <p:nvPr/>
        </p:nvPicPr>
        <p:blipFill>
          <a:blip r:embed="rId40"/>
          <a:stretch>
            <a:fillRect/>
          </a:stretch>
        </p:blipFill>
        <p:spPr>
          <a:xfrm>
            <a:off x="1962000" y="2664000"/>
            <a:ext cx="525600" cy="525600"/>
          </a:xfrm>
          <a:prstGeom prst="rect">
            <a:avLst/>
          </a:prstGeom>
          <a:ln w="5080">
            <a:solidFill>
              <a:srgbClr val="A7ADB3"/>
            </a:solidFill>
          </a:ln>
          <a:effectLst/>
        </p:spPr>
      </p:pic>
      <p:pic>
        <p:nvPicPr>
          <p:cNvPr id="56" name="Picture 55" descr="ukraine-conflict_00000354_3_U-Net.png"/>
          <p:cNvPicPr>
            <a:picLocks noChangeAspect="1"/>
          </p:cNvPicPr>
          <p:nvPr/>
        </p:nvPicPr>
        <p:blipFill>
          <a:blip r:embed="rId41"/>
          <a:stretch>
            <a:fillRect/>
          </a:stretch>
        </p:blipFill>
        <p:spPr>
          <a:xfrm>
            <a:off x="2538000" y="2664000"/>
            <a:ext cx="525600" cy="525600"/>
          </a:xfrm>
          <a:prstGeom prst="rect">
            <a:avLst/>
          </a:prstGeom>
          <a:ln w="5080">
            <a:solidFill>
              <a:srgbClr val="A7ADB3"/>
            </a:solidFill>
          </a:ln>
          <a:effectLst/>
        </p:spPr>
      </p:pic>
      <p:pic>
        <p:nvPicPr>
          <p:cNvPr id="57" name="Picture 56" descr="ukraine-conflict_00000354_4_DeepLabv3+.png"/>
          <p:cNvPicPr>
            <a:picLocks noChangeAspect="1"/>
          </p:cNvPicPr>
          <p:nvPr/>
        </p:nvPicPr>
        <p:blipFill>
          <a:blip r:embed="rId42"/>
          <a:stretch>
            <a:fillRect/>
          </a:stretch>
        </p:blipFill>
        <p:spPr>
          <a:xfrm>
            <a:off x="3114000" y="2664000"/>
            <a:ext cx="525600" cy="525600"/>
          </a:xfrm>
          <a:prstGeom prst="rect">
            <a:avLst/>
          </a:prstGeom>
          <a:ln w="5080">
            <a:solidFill>
              <a:srgbClr val="A7ADB3"/>
            </a:solidFill>
          </a:ln>
          <a:effectLst/>
        </p:spPr>
      </p:pic>
      <p:pic>
        <p:nvPicPr>
          <p:cNvPr id="58" name="Picture 57" descr="ukraine-conflict_00000354_5_SiamAttnUNet.png"/>
          <p:cNvPicPr>
            <a:picLocks noChangeAspect="1"/>
          </p:cNvPicPr>
          <p:nvPr/>
        </p:nvPicPr>
        <p:blipFill>
          <a:blip r:embed="rId43"/>
          <a:stretch>
            <a:fillRect/>
          </a:stretch>
        </p:blipFill>
        <p:spPr>
          <a:xfrm>
            <a:off x="3690000" y="2664000"/>
            <a:ext cx="525600" cy="525600"/>
          </a:xfrm>
          <a:prstGeom prst="rect">
            <a:avLst/>
          </a:prstGeom>
          <a:ln w="5080">
            <a:solidFill>
              <a:srgbClr val="A7ADB3"/>
            </a:solidFill>
          </a:ln>
          <a:effectLst/>
        </p:spPr>
      </p:pic>
      <p:pic>
        <p:nvPicPr>
          <p:cNvPr id="59" name="Picture 58" descr="ukraine-conflict_00000354_6_SiamCRNN.png"/>
          <p:cNvPicPr>
            <a:picLocks noChangeAspect="1"/>
          </p:cNvPicPr>
          <p:nvPr/>
        </p:nvPicPr>
        <p:blipFill>
          <a:blip r:embed="rId44"/>
          <a:stretch>
            <a:fillRect/>
          </a:stretch>
        </p:blipFill>
        <p:spPr>
          <a:xfrm>
            <a:off x="4266000" y="2664000"/>
            <a:ext cx="525600" cy="525600"/>
          </a:xfrm>
          <a:prstGeom prst="rect">
            <a:avLst/>
          </a:prstGeom>
          <a:ln w="5080">
            <a:solidFill>
              <a:srgbClr val="A7ADB3"/>
            </a:solidFill>
          </a:ln>
          <a:effectLst/>
        </p:spPr>
      </p:pic>
      <p:pic>
        <p:nvPicPr>
          <p:cNvPr id="60" name="Picture 59" descr="ukraine-conflict_00000354_7_DamageFormer.png"/>
          <p:cNvPicPr>
            <a:picLocks noChangeAspect="1"/>
          </p:cNvPicPr>
          <p:nvPr/>
        </p:nvPicPr>
        <p:blipFill>
          <a:blip r:embed="rId45"/>
          <a:stretch>
            <a:fillRect/>
          </a:stretch>
        </p:blipFill>
        <p:spPr>
          <a:xfrm>
            <a:off x="4842000" y="2664000"/>
            <a:ext cx="525600" cy="525600"/>
          </a:xfrm>
          <a:prstGeom prst="rect">
            <a:avLst/>
          </a:prstGeom>
          <a:ln w="5080">
            <a:solidFill>
              <a:srgbClr val="A7ADB3"/>
            </a:solidFill>
          </a:ln>
          <a:effectLst/>
        </p:spPr>
      </p:pic>
      <p:pic>
        <p:nvPicPr>
          <p:cNvPr id="61" name="Picture 60" descr="ukraine-conflict_00000354_8_MPF.png"/>
          <p:cNvPicPr>
            <a:picLocks noChangeAspect="1"/>
          </p:cNvPicPr>
          <p:nvPr/>
        </p:nvPicPr>
        <p:blipFill>
          <a:blip r:embed="rId46"/>
          <a:stretch>
            <a:fillRect/>
          </a:stretch>
        </p:blipFill>
        <p:spPr>
          <a:xfrm>
            <a:off x="5418000" y="2664000"/>
            <a:ext cx="525600" cy="525600"/>
          </a:xfrm>
          <a:prstGeom prst="rect">
            <a:avLst/>
          </a:prstGeom>
          <a:ln w="5080">
            <a:solidFill>
              <a:srgbClr val="A7ADB3"/>
            </a:solidFill>
          </a:ln>
          <a:effectLst/>
        </p:spPr>
      </p:pic>
      <p:sp>
        <p:nvSpPr>
          <p:cNvPr id="62" name="TextBox 61"/>
          <p:cNvSpPr txBox="1"/>
          <p:nvPr/>
        </p:nvSpPr>
        <p:spPr>
          <a:xfrm>
            <a:off x="36000" y="320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ukraine</a:t>
            </a:r>
          </a:p>
          <a:p>
            <a:pPr algn="ctr">
              <a:spcBef>
                <a:spcPts val="0"/>
              </a:spcBef>
              <a:spcAft>
                <a:spcPts val="0"/>
              </a:spcAft>
            </a:pPr>
            <a:r>
              <a:rPr sz="800" b="0">
                <a:solidFill>
                  <a:srgbClr val="263746"/>
                </a:solidFill>
                <a:latin typeface="Arial"/>
              </a:rPr>
              <a:t>conflict</a:t>
            </a:r>
          </a:p>
          <a:p>
            <a:pPr algn="ctr">
              <a:spcBef>
                <a:spcPts val="0"/>
              </a:spcBef>
              <a:spcAft>
                <a:spcPts val="0"/>
              </a:spcAft>
            </a:pPr>
            <a:r>
              <a:rPr sz="800" b="0">
                <a:solidFill>
                  <a:srgbClr val="263746"/>
                </a:solidFill>
                <a:latin typeface="Arial"/>
              </a:rPr>
              <a:t>00000315</a:t>
            </a:r>
          </a:p>
          <a:p>
            <a:pPr algn="ctr">
              <a:spcBef>
                <a:spcPts val="0"/>
              </a:spcBef>
              <a:spcAft>
                <a:spcPts val="0"/>
              </a:spcAft>
            </a:pPr>
            <a:r>
              <a:rPr sz="800" b="0">
                <a:solidFill>
                  <a:srgbClr val="263746"/>
                </a:solidFill>
                <a:latin typeface="Arial"/>
              </a:rPr>
              <a:t>768 × 768 px</a:t>
            </a:r>
          </a:p>
        </p:txBody>
      </p:sp>
      <p:pic>
        <p:nvPicPr>
          <p:cNvPr id="63" name="Picture 62" descr="ukraine-conflict_00000315_0_RGB.png"/>
          <p:cNvPicPr>
            <a:picLocks noChangeAspect="1"/>
          </p:cNvPicPr>
          <p:nvPr/>
        </p:nvPicPr>
        <p:blipFill>
          <a:blip r:embed="rId47"/>
          <a:stretch>
            <a:fillRect/>
          </a:stretch>
        </p:blipFill>
        <p:spPr>
          <a:xfrm>
            <a:off x="810000" y="3204000"/>
            <a:ext cx="525600" cy="525600"/>
          </a:xfrm>
          <a:prstGeom prst="rect">
            <a:avLst/>
          </a:prstGeom>
          <a:ln w="5080">
            <a:solidFill>
              <a:srgbClr val="A7ADB3"/>
            </a:solidFill>
          </a:ln>
          <a:effectLst/>
        </p:spPr>
      </p:pic>
      <p:pic>
        <p:nvPicPr>
          <p:cNvPr id="64" name="Picture 63" descr="ukraine-conflict_00000315_1_SAR.png"/>
          <p:cNvPicPr>
            <a:picLocks noChangeAspect="1"/>
          </p:cNvPicPr>
          <p:nvPr/>
        </p:nvPicPr>
        <p:blipFill>
          <a:blip r:embed="rId48"/>
          <a:stretch>
            <a:fillRect/>
          </a:stretch>
        </p:blipFill>
        <p:spPr>
          <a:xfrm>
            <a:off x="1386000" y="3204000"/>
            <a:ext cx="525600" cy="525600"/>
          </a:xfrm>
          <a:prstGeom prst="rect">
            <a:avLst/>
          </a:prstGeom>
          <a:ln w="5080">
            <a:solidFill>
              <a:srgbClr val="A7ADB3"/>
            </a:solidFill>
          </a:ln>
          <a:effectLst/>
        </p:spPr>
      </p:pic>
      <p:pic>
        <p:nvPicPr>
          <p:cNvPr id="65" name="Picture 64" descr="ukraine-conflict_00000315_2_GT.png"/>
          <p:cNvPicPr>
            <a:picLocks noChangeAspect="1"/>
          </p:cNvPicPr>
          <p:nvPr/>
        </p:nvPicPr>
        <p:blipFill>
          <a:blip r:embed="rId49"/>
          <a:stretch>
            <a:fillRect/>
          </a:stretch>
        </p:blipFill>
        <p:spPr>
          <a:xfrm>
            <a:off x="1962000" y="3204000"/>
            <a:ext cx="525600" cy="525600"/>
          </a:xfrm>
          <a:prstGeom prst="rect">
            <a:avLst/>
          </a:prstGeom>
          <a:ln w="5080">
            <a:solidFill>
              <a:srgbClr val="A7ADB3"/>
            </a:solidFill>
          </a:ln>
          <a:effectLst/>
        </p:spPr>
      </p:pic>
      <p:pic>
        <p:nvPicPr>
          <p:cNvPr id="66" name="Picture 65" descr="ukraine-conflict_00000315_3_U-Net.png"/>
          <p:cNvPicPr>
            <a:picLocks noChangeAspect="1"/>
          </p:cNvPicPr>
          <p:nvPr/>
        </p:nvPicPr>
        <p:blipFill>
          <a:blip r:embed="rId50"/>
          <a:stretch>
            <a:fillRect/>
          </a:stretch>
        </p:blipFill>
        <p:spPr>
          <a:xfrm>
            <a:off x="2538000" y="3204000"/>
            <a:ext cx="525600" cy="525600"/>
          </a:xfrm>
          <a:prstGeom prst="rect">
            <a:avLst/>
          </a:prstGeom>
          <a:ln w="5080">
            <a:solidFill>
              <a:srgbClr val="A7ADB3"/>
            </a:solidFill>
          </a:ln>
          <a:effectLst/>
        </p:spPr>
      </p:pic>
      <p:pic>
        <p:nvPicPr>
          <p:cNvPr id="67" name="Picture 66" descr="ukraine-conflict_00000315_4_DeepLabv3+.png"/>
          <p:cNvPicPr>
            <a:picLocks noChangeAspect="1"/>
          </p:cNvPicPr>
          <p:nvPr/>
        </p:nvPicPr>
        <p:blipFill>
          <a:blip r:embed="rId51"/>
          <a:stretch>
            <a:fillRect/>
          </a:stretch>
        </p:blipFill>
        <p:spPr>
          <a:xfrm>
            <a:off x="3114000" y="3204000"/>
            <a:ext cx="525600" cy="525600"/>
          </a:xfrm>
          <a:prstGeom prst="rect">
            <a:avLst/>
          </a:prstGeom>
          <a:ln w="5080">
            <a:solidFill>
              <a:srgbClr val="A7ADB3"/>
            </a:solidFill>
          </a:ln>
          <a:effectLst/>
        </p:spPr>
      </p:pic>
      <p:pic>
        <p:nvPicPr>
          <p:cNvPr id="68" name="Picture 67" descr="ukraine-conflict_00000315_5_SiamAttnUNet.png"/>
          <p:cNvPicPr>
            <a:picLocks noChangeAspect="1"/>
          </p:cNvPicPr>
          <p:nvPr/>
        </p:nvPicPr>
        <p:blipFill>
          <a:blip r:embed="rId52"/>
          <a:stretch>
            <a:fillRect/>
          </a:stretch>
        </p:blipFill>
        <p:spPr>
          <a:xfrm>
            <a:off x="3690000" y="3204000"/>
            <a:ext cx="525600" cy="525600"/>
          </a:xfrm>
          <a:prstGeom prst="rect">
            <a:avLst/>
          </a:prstGeom>
          <a:ln w="5080">
            <a:solidFill>
              <a:srgbClr val="A7ADB3"/>
            </a:solidFill>
          </a:ln>
          <a:effectLst/>
        </p:spPr>
      </p:pic>
      <p:pic>
        <p:nvPicPr>
          <p:cNvPr id="69" name="Picture 68" descr="ukraine-conflict_00000315_6_SiamCRNN.png"/>
          <p:cNvPicPr>
            <a:picLocks noChangeAspect="1"/>
          </p:cNvPicPr>
          <p:nvPr/>
        </p:nvPicPr>
        <p:blipFill>
          <a:blip r:embed="rId53"/>
          <a:stretch>
            <a:fillRect/>
          </a:stretch>
        </p:blipFill>
        <p:spPr>
          <a:xfrm>
            <a:off x="4266000" y="3204000"/>
            <a:ext cx="525600" cy="525600"/>
          </a:xfrm>
          <a:prstGeom prst="rect">
            <a:avLst/>
          </a:prstGeom>
          <a:ln w="5080">
            <a:solidFill>
              <a:srgbClr val="A7ADB3"/>
            </a:solidFill>
          </a:ln>
          <a:effectLst/>
        </p:spPr>
      </p:pic>
      <p:pic>
        <p:nvPicPr>
          <p:cNvPr id="70" name="Picture 69" descr="ukraine-conflict_00000315_7_DamageFormer.png"/>
          <p:cNvPicPr>
            <a:picLocks noChangeAspect="1"/>
          </p:cNvPicPr>
          <p:nvPr/>
        </p:nvPicPr>
        <p:blipFill>
          <a:blip r:embed="rId54"/>
          <a:stretch>
            <a:fillRect/>
          </a:stretch>
        </p:blipFill>
        <p:spPr>
          <a:xfrm>
            <a:off x="4842000" y="3204000"/>
            <a:ext cx="525600" cy="525600"/>
          </a:xfrm>
          <a:prstGeom prst="rect">
            <a:avLst/>
          </a:prstGeom>
          <a:ln w="5080">
            <a:solidFill>
              <a:srgbClr val="A7ADB3"/>
            </a:solidFill>
          </a:ln>
          <a:effectLst/>
        </p:spPr>
      </p:pic>
      <p:pic>
        <p:nvPicPr>
          <p:cNvPr id="71" name="Picture 70" descr="ukraine-conflict_00000315_8_MPF.png"/>
          <p:cNvPicPr>
            <a:picLocks noChangeAspect="1"/>
          </p:cNvPicPr>
          <p:nvPr/>
        </p:nvPicPr>
        <p:blipFill>
          <a:blip r:embed="rId55"/>
          <a:stretch>
            <a:fillRect/>
          </a:stretch>
        </p:blipFill>
        <p:spPr>
          <a:xfrm>
            <a:off x="5418000" y="3204000"/>
            <a:ext cx="525600" cy="525600"/>
          </a:xfrm>
          <a:prstGeom prst="rect">
            <a:avLst/>
          </a:prstGeom>
          <a:ln w="5080">
            <a:solidFill>
              <a:srgbClr val="A7ADB3"/>
            </a:solidFill>
          </a:ln>
          <a:effectLst/>
        </p:spPr>
      </p:pic>
      <p:sp>
        <p:nvSpPr>
          <p:cNvPr id="72" name="Rectangle 71"/>
          <p:cNvSpPr/>
          <p:nvPr/>
        </p:nvSpPr>
        <p:spPr>
          <a:xfrm>
            <a:off x="846000" y="3751200"/>
            <a:ext cx="100800" cy="100800"/>
          </a:xfrm>
          <a:prstGeom prst="rect">
            <a:avLst/>
          </a:prstGeom>
          <a:solidFill>
            <a:srgbClr val="FFFFFF"/>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Volcano and wildfire: six selected crops</a:t>
            </a:r>
          </a:p>
        </p:txBody>
      </p:sp>
      <p:sp>
        <p:nvSpPr>
          <p:cNvPr id="3" name="TextBox 2"/>
          <p:cNvSpPr txBox="1"/>
          <p:nvPr/>
        </p:nvSpPr>
        <p:spPr>
          <a:xfrm>
            <a:off x="81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congo</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00000085</a:t>
            </a:r>
          </a:p>
          <a:p>
            <a:pPr algn="ctr">
              <a:spcBef>
                <a:spcPts val="0"/>
              </a:spcBef>
              <a:spcAft>
                <a:spcPts val="0"/>
              </a:spcAft>
            </a:pPr>
            <a:r>
              <a:rPr sz="800" b="0">
                <a:solidFill>
                  <a:srgbClr val="263746"/>
                </a:solidFill>
                <a:latin typeface="Arial"/>
              </a:rPr>
              <a:t>512 × 512 px</a:t>
            </a:r>
          </a:p>
        </p:txBody>
      </p:sp>
      <p:pic>
        <p:nvPicPr>
          <p:cNvPr id="13" name="Picture 12" descr="congo-volcano_00000085_0_RGB.png"/>
          <p:cNvPicPr>
            <a:picLocks noChangeAspect="1"/>
          </p:cNvPicPr>
          <p:nvPr/>
        </p:nvPicPr>
        <p:blipFill>
          <a:blip r:embed="rId2"/>
          <a:stretch>
            <a:fillRect/>
          </a:stretch>
        </p:blipFill>
        <p:spPr>
          <a:xfrm>
            <a:off x="810000" y="503999"/>
            <a:ext cx="525600" cy="525600"/>
          </a:xfrm>
          <a:prstGeom prst="rect">
            <a:avLst/>
          </a:prstGeom>
          <a:ln w="5080">
            <a:solidFill>
              <a:srgbClr val="A7ADB3"/>
            </a:solidFill>
          </a:ln>
          <a:effectLst/>
        </p:spPr>
      </p:pic>
      <p:pic>
        <p:nvPicPr>
          <p:cNvPr id="14" name="Picture 13" descr="congo-volcano_00000085_1_SAR.png"/>
          <p:cNvPicPr>
            <a:picLocks noChangeAspect="1"/>
          </p:cNvPicPr>
          <p:nvPr/>
        </p:nvPicPr>
        <p:blipFill>
          <a:blip r:embed="rId3"/>
          <a:stretch>
            <a:fillRect/>
          </a:stretch>
        </p:blipFill>
        <p:spPr>
          <a:xfrm>
            <a:off x="1386000" y="503999"/>
            <a:ext cx="525600" cy="525600"/>
          </a:xfrm>
          <a:prstGeom prst="rect">
            <a:avLst/>
          </a:prstGeom>
          <a:ln w="5080">
            <a:solidFill>
              <a:srgbClr val="A7ADB3"/>
            </a:solidFill>
          </a:ln>
          <a:effectLst/>
        </p:spPr>
      </p:pic>
      <p:pic>
        <p:nvPicPr>
          <p:cNvPr id="15" name="Picture 14" descr="congo-volcano_00000085_2_GT.png"/>
          <p:cNvPicPr>
            <a:picLocks noChangeAspect="1"/>
          </p:cNvPicPr>
          <p:nvPr/>
        </p:nvPicPr>
        <p:blipFill>
          <a:blip r:embed="rId4"/>
          <a:stretch>
            <a:fillRect/>
          </a:stretch>
        </p:blipFill>
        <p:spPr>
          <a:xfrm>
            <a:off x="1962000" y="503999"/>
            <a:ext cx="525600" cy="525600"/>
          </a:xfrm>
          <a:prstGeom prst="rect">
            <a:avLst/>
          </a:prstGeom>
          <a:ln w="5080">
            <a:solidFill>
              <a:srgbClr val="A7ADB3"/>
            </a:solidFill>
          </a:ln>
          <a:effectLst/>
        </p:spPr>
      </p:pic>
      <p:pic>
        <p:nvPicPr>
          <p:cNvPr id="16" name="Picture 15" descr="congo-volcano_00000085_3_U-Net.png"/>
          <p:cNvPicPr>
            <a:picLocks noChangeAspect="1"/>
          </p:cNvPicPr>
          <p:nvPr/>
        </p:nvPicPr>
        <p:blipFill>
          <a:blip r:embed="rId5"/>
          <a:stretch>
            <a:fillRect/>
          </a:stretch>
        </p:blipFill>
        <p:spPr>
          <a:xfrm>
            <a:off x="2538000" y="503999"/>
            <a:ext cx="525600" cy="525600"/>
          </a:xfrm>
          <a:prstGeom prst="rect">
            <a:avLst/>
          </a:prstGeom>
          <a:ln w="5080">
            <a:solidFill>
              <a:srgbClr val="A7ADB3"/>
            </a:solidFill>
          </a:ln>
          <a:effectLst/>
        </p:spPr>
      </p:pic>
      <p:pic>
        <p:nvPicPr>
          <p:cNvPr id="17" name="Picture 16" descr="congo-volcano_00000085_4_DeepLabv3+.png"/>
          <p:cNvPicPr>
            <a:picLocks noChangeAspect="1"/>
          </p:cNvPicPr>
          <p:nvPr/>
        </p:nvPicPr>
        <p:blipFill>
          <a:blip r:embed="rId6"/>
          <a:stretch>
            <a:fillRect/>
          </a:stretch>
        </p:blipFill>
        <p:spPr>
          <a:xfrm>
            <a:off x="3114000" y="503999"/>
            <a:ext cx="525600" cy="525600"/>
          </a:xfrm>
          <a:prstGeom prst="rect">
            <a:avLst/>
          </a:prstGeom>
          <a:ln w="5080">
            <a:solidFill>
              <a:srgbClr val="A7ADB3"/>
            </a:solidFill>
          </a:ln>
          <a:effectLst/>
        </p:spPr>
      </p:pic>
      <p:pic>
        <p:nvPicPr>
          <p:cNvPr id="18" name="Picture 17" descr="congo-volcano_00000085_5_SiamAttnUNet.png"/>
          <p:cNvPicPr>
            <a:picLocks noChangeAspect="1"/>
          </p:cNvPicPr>
          <p:nvPr/>
        </p:nvPicPr>
        <p:blipFill>
          <a:blip r:embed="rId7"/>
          <a:stretch>
            <a:fillRect/>
          </a:stretch>
        </p:blipFill>
        <p:spPr>
          <a:xfrm>
            <a:off x="3690000" y="503999"/>
            <a:ext cx="525600" cy="525600"/>
          </a:xfrm>
          <a:prstGeom prst="rect">
            <a:avLst/>
          </a:prstGeom>
          <a:ln w="5080">
            <a:solidFill>
              <a:srgbClr val="A7ADB3"/>
            </a:solidFill>
          </a:ln>
          <a:effectLst/>
        </p:spPr>
      </p:pic>
      <p:pic>
        <p:nvPicPr>
          <p:cNvPr id="19" name="Picture 18" descr="congo-volcano_00000085_6_SiamCRNN.png"/>
          <p:cNvPicPr>
            <a:picLocks noChangeAspect="1"/>
          </p:cNvPicPr>
          <p:nvPr/>
        </p:nvPicPr>
        <p:blipFill>
          <a:blip r:embed="rId8"/>
          <a:stretch>
            <a:fillRect/>
          </a:stretch>
        </p:blipFill>
        <p:spPr>
          <a:xfrm>
            <a:off x="4266000" y="503999"/>
            <a:ext cx="525600" cy="525600"/>
          </a:xfrm>
          <a:prstGeom prst="rect">
            <a:avLst/>
          </a:prstGeom>
          <a:ln w="5080">
            <a:solidFill>
              <a:srgbClr val="A7ADB3"/>
            </a:solidFill>
          </a:ln>
          <a:effectLst/>
        </p:spPr>
      </p:pic>
      <p:pic>
        <p:nvPicPr>
          <p:cNvPr id="20" name="Picture 19" descr="congo-volcano_00000085_7_DamageFormer.png"/>
          <p:cNvPicPr>
            <a:picLocks noChangeAspect="1"/>
          </p:cNvPicPr>
          <p:nvPr/>
        </p:nvPicPr>
        <p:blipFill>
          <a:blip r:embed="rId9"/>
          <a:stretch>
            <a:fillRect/>
          </a:stretch>
        </p:blipFill>
        <p:spPr>
          <a:xfrm>
            <a:off x="4842000" y="503999"/>
            <a:ext cx="525600" cy="525600"/>
          </a:xfrm>
          <a:prstGeom prst="rect">
            <a:avLst/>
          </a:prstGeom>
          <a:ln w="5080">
            <a:solidFill>
              <a:srgbClr val="A7ADB3"/>
            </a:solidFill>
          </a:ln>
          <a:effectLst/>
        </p:spPr>
      </p:pic>
      <p:pic>
        <p:nvPicPr>
          <p:cNvPr id="21" name="Picture 20" descr="congo-volcano_00000085_8_MPF.png"/>
          <p:cNvPicPr>
            <a:picLocks noChangeAspect="1"/>
          </p:cNvPicPr>
          <p:nvPr/>
        </p:nvPicPr>
        <p:blipFill>
          <a:blip r:embed="rId10"/>
          <a:stretch>
            <a:fillRect/>
          </a:stretch>
        </p:blipFill>
        <p:spPr>
          <a:xfrm>
            <a:off x="5418000" y="503999"/>
            <a:ext cx="525600" cy="525600"/>
          </a:xfrm>
          <a:prstGeom prst="rect">
            <a:avLst/>
          </a:prstGeom>
          <a:ln w="5080">
            <a:solidFill>
              <a:srgbClr val="A7ADB3"/>
            </a:solidFill>
          </a:ln>
          <a:effectLst/>
        </p:spPr>
      </p:pic>
      <p:sp>
        <p:nvSpPr>
          <p:cNvPr id="22" name="TextBox 21"/>
          <p:cNvSpPr txBox="1"/>
          <p:nvPr/>
        </p:nvSpPr>
        <p:spPr>
          <a:xfrm>
            <a:off x="36000" y="104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congo</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00000092</a:t>
            </a:r>
          </a:p>
          <a:p>
            <a:pPr algn="ctr">
              <a:spcBef>
                <a:spcPts val="0"/>
              </a:spcBef>
              <a:spcAft>
                <a:spcPts val="0"/>
              </a:spcAft>
            </a:pPr>
            <a:r>
              <a:rPr sz="800" b="0">
                <a:solidFill>
                  <a:srgbClr val="263746"/>
                </a:solidFill>
                <a:latin typeface="Arial"/>
              </a:rPr>
              <a:t>512 × 512 px</a:t>
            </a:r>
          </a:p>
        </p:txBody>
      </p:sp>
      <p:pic>
        <p:nvPicPr>
          <p:cNvPr id="23" name="Picture 22" descr="congo-volcano_00000092_0_RGB.png"/>
          <p:cNvPicPr>
            <a:picLocks noChangeAspect="1"/>
          </p:cNvPicPr>
          <p:nvPr/>
        </p:nvPicPr>
        <p:blipFill>
          <a:blip r:embed="rId11"/>
          <a:stretch>
            <a:fillRect/>
          </a:stretch>
        </p:blipFill>
        <p:spPr>
          <a:xfrm>
            <a:off x="810000" y="1044000"/>
            <a:ext cx="525600" cy="525600"/>
          </a:xfrm>
          <a:prstGeom prst="rect">
            <a:avLst/>
          </a:prstGeom>
          <a:ln w="5080">
            <a:solidFill>
              <a:srgbClr val="A7ADB3"/>
            </a:solidFill>
          </a:ln>
          <a:effectLst/>
        </p:spPr>
      </p:pic>
      <p:pic>
        <p:nvPicPr>
          <p:cNvPr id="24" name="Picture 23" descr="congo-volcano_00000092_1_SAR.png"/>
          <p:cNvPicPr>
            <a:picLocks noChangeAspect="1"/>
          </p:cNvPicPr>
          <p:nvPr/>
        </p:nvPicPr>
        <p:blipFill>
          <a:blip r:embed="rId12"/>
          <a:stretch>
            <a:fillRect/>
          </a:stretch>
        </p:blipFill>
        <p:spPr>
          <a:xfrm>
            <a:off x="1386000" y="1044000"/>
            <a:ext cx="525600" cy="525600"/>
          </a:xfrm>
          <a:prstGeom prst="rect">
            <a:avLst/>
          </a:prstGeom>
          <a:ln w="5080">
            <a:solidFill>
              <a:srgbClr val="A7ADB3"/>
            </a:solidFill>
          </a:ln>
          <a:effectLst/>
        </p:spPr>
      </p:pic>
      <p:pic>
        <p:nvPicPr>
          <p:cNvPr id="25" name="Picture 24" descr="congo-volcano_00000092_2_GT.png"/>
          <p:cNvPicPr>
            <a:picLocks noChangeAspect="1"/>
          </p:cNvPicPr>
          <p:nvPr/>
        </p:nvPicPr>
        <p:blipFill>
          <a:blip r:embed="rId13"/>
          <a:stretch>
            <a:fillRect/>
          </a:stretch>
        </p:blipFill>
        <p:spPr>
          <a:xfrm>
            <a:off x="1962000" y="1044000"/>
            <a:ext cx="525600" cy="525600"/>
          </a:xfrm>
          <a:prstGeom prst="rect">
            <a:avLst/>
          </a:prstGeom>
          <a:ln w="5080">
            <a:solidFill>
              <a:srgbClr val="A7ADB3"/>
            </a:solidFill>
          </a:ln>
          <a:effectLst/>
        </p:spPr>
      </p:pic>
      <p:pic>
        <p:nvPicPr>
          <p:cNvPr id="26" name="Picture 25" descr="congo-volcano_00000092_3_U-Net.png"/>
          <p:cNvPicPr>
            <a:picLocks noChangeAspect="1"/>
          </p:cNvPicPr>
          <p:nvPr/>
        </p:nvPicPr>
        <p:blipFill>
          <a:blip r:embed="rId14"/>
          <a:stretch>
            <a:fillRect/>
          </a:stretch>
        </p:blipFill>
        <p:spPr>
          <a:xfrm>
            <a:off x="2538000" y="1044000"/>
            <a:ext cx="525600" cy="525600"/>
          </a:xfrm>
          <a:prstGeom prst="rect">
            <a:avLst/>
          </a:prstGeom>
          <a:ln w="5080">
            <a:solidFill>
              <a:srgbClr val="A7ADB3"/>
            </a:solidFill>
          </a:ln>
          <a:effectLst/>
        </p:spPr>
      </p:pic>
      <p:pic>
        <p:nvPicPr>
          <p:cNvPr id="27" name="Picture 26" descr="congo-volcano_00000092_4_DeepLabv3+.png"/>
          <p:cNvPicPr>
            <a:picLocks noChangeAspect="1"/>
          </p:cNvPicPr>
          <p:nvPr/>
        </p:nvPicPr>
        <p:blipFill>
          <a:blip r:embed="rId15"/>
          <a:stretch>
            <a:fillRect/>
          </a:stretch>
        </p:blipFill>
        <p:spPr>
          <a:xfrm>
            <a:off x="3114000" y="1044000"/>
            <a:ext cx="525600" cy="525600"/>
          </a:xfrm>
          <a:prstGeom prst="rect">
            <a:avLst/>
          </a:prstGeom>
          <a:ln w="5080">
            <a:solidFill>
              <a:srgbClr val="A7ADB3"/>
            </a:solidFill>
          </a:ln>
          <a:effectLst/>
        </p:spPr>
      </p:pic>
      <p:pic>
        <p:nvPicPr>
          <p:cNvPr id="28" name="Picture 27" descr="congo-volcano_00000092_5_SiamAttnUNet.png"/>
          <p:cNvPicPr>
            <a:picLocks noChangeAspect="1"/>
          </p:cNvPicPr>
          <p:nvPr/>
        </p:nvPicPr>
        <p:blipFill>
          <a:blip r:embed="rId16"/>
          <a:stretch>
            <a:fillRect/>
          </a:stretch>
        </p:blipFill>
        <p:spPr>
          <a:xfrm>
            <a:off x="3690000" y="1044000"/>
            <a:ext cx="525600" cy="525600"/>
          </a:xfrm>
          <a:prstGeom prst="rect">
            <a:avLst/>
          </a:prstGeom>
          <a:ln w="5080">
            <a:solidFill>
              <a:srgbClr val="A7ADB3"/>
            </a:solidFill>
          </a:ln>
          <a:effectLst/>
        </p:spPr>
      </p:pic>
      <p:pic>
        <p:nvPicPr>
          <p:cNvPr id="29" name="Picture 28" descr="congo-volcano_00000092_6_SiamCRNN.png"/>
          <p:cNvPicPr>
            <a:picLocks noChangeAspect="1"/>
          </p:cNvPicPr>
          <p:nvPr/>
        </p:nvPicPr>
        <p:blipFill>
          <a:blip r:embed="rId17"/>
          <a:stretch>
            <a:fillRect/>
          </a:stretch>
        </p:blipFill>
        <p:spPr>
          <a:xfrm>
            <a:off x="4266000" y="1044000"/>
            <a:ext cx="525600" cy="525600"/>
          </a:xfrm>
          <a:prstGeom prst="rect">
            <a:avLst/>
          </a:prstGeom>
          <a:ln w="5080">
            <a:solidFill>
              <a:srgbClr val="A7ADB3"/>
            </a:solidFill>
          </a:ln>
          <a:effectLst/>
        </p:spPr>
      </p:pic>
      <p:pic>
        <p:nvPicPr>
          <p:cNvPr id="30" name="Picture 29" descr="congo-volcano_00000092_7_DamageFormer.png"/>
          <p:cNvPicPr>
            <a:picLocks noChangeAspect="1"/>
          </p:cNvPicPr>
          <p:nvPr/>
        </p:nvPicPr>
        <p:blipFill>
          <a:blip r:embed="rId18"/>
          <a:stretch>
            <a:fillRect/>
          </a:stretch>
        </p:blipFill>
        <p:spPr>
          <a:xfrm>
            <a:off x="4842000" y="1044000"/>
            <a:ext cx="525600" cy="525600"/>
          </a:xfrm>
          <a:prstGeom prst="rect">
            <a:avLst/>
          </a:prstGeom>
          <a:ln w="5080">
            <a:solidFill>
              <a:srgbClr val="A7ADB3"/>
            </a:solidFill>
          </a:ln>
          <a:effectLst/>
        </p:spPr>
      </p:pic>
      <p:pic>
        <p:nvPicPr>
          <p:cNvPr id="31" name="Picture 30" descr="congo-volcano_00000092_8_MPF.png"/>
          <p:cNvPicPr>
            <a:picLocks noChangeAspect="1"/>
          </p:cNvPicPr>
          <p:nvPr/>
        </p:nvPicPr>
        <p:blipFill>
          <a:blip r:embed="rId19"/>
          <a:stretch>
            <a:fillRect/>
          </a:stretch>
        </p:blipFill>
        <p:spPr>
          <a:xfrm>
            <a:off x="5418000" y="1044000"/>
            <a:ext cx="525600" cy="525600"/>
          </a:xfrm>
          <a:prstGeom prst="rect">
            <a:avLst/>
          </a:prstGeom>
          <a:ln w="5080">
            <a:solidFill>
              <a:srgbClr val="A7ADB3"/>
            </a:solidFill>
          </a:ln>
          <a:effectLst/>
        </p:spPr>
      </p:pic>
      <p:sp>
        <p:nvSpPr>
          <p:cNvPr id="32" name="TextBox 31"/>
          <p:cNvSpPr txBox="1"/>
          <p:nvPr/>
        </p:nvSpPr>
        <p:spPr>
          <a:xfrm>
            <a:off x="36000" y="158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La Palma</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00000597</a:t>
            </a:r>
          </a:p>
          <a:p>
            <a:pPr algn="ctr">
              <a:spcBef>
                <a:spcPts val="0"/>
              </a:spcBef>
              <a:spcAft>
                <a:spcPts val="0"/>
              </a:spcAft>
            </a:pPr>
            <a:r>
              <a:rPr sz="800" b="0">
                <a:solidFill>
                  <a:srgbClr val="263746"/>
                </a:solidFill>
                <a:latin typeface="Arial"/>
              </a:rPr>
              <a:t>768 × 768 px</a:t>
            </a:r>
          </a:p>
        </p:txBody>
      </p:sp>
      <p:pic>
        <p:nvPicPr>
          <p:cNvPr id="33" name="Picture 32" descr="la_palma-volcano_00000597_0_RGB.png"/>
          <p:cNvPicPr>
            <a:picLocks noChangeAspect="1"/>
          </p:cNvPicPr>
          <p:nvPr/>
        </p:nvPicPr>
        <p:blipFill>
          <a:blip r:embed="rId20"/>
          <a:stretch>
            <a:fillRect/>
          </a:stretch>
        </p:blipFill>
        <p:spPr>
          <a:xfrm>
            <a:off x="810000" y="1584000"/>
            <a:ext cx="525600" cy="525600"/>
          </a:xfrm>
          <a:prstGeom prst="rect">
            <a:avLst/>
          </a:prstGeom>
          <a:ln w="5080">
            <a:solidFill>
              <a:srgbClr val="A7ADB3"/>
            </a:solidFill>
          </a:ln>
          <a:effectLst/>
        </p:spPr>
      </p:pic>
      <p:pic>
        <p:nvPicPr>
          <p:cNvPr id="34" name="Picture 33" descr="la_palma-volcano_00000597_1_SAR.png"/>
          <p:cNvPicPr>
            <a:picLocks noChangeAspect="1"/>
          </p:cNvPicPr>
          <p:nvPr/>
        </p:nvPicPr>
        <p:blipFill>
          <a:blip r:embed="rId21"/>
          <a:stretch>
            <a:fillRect/>
          </a:stretch>
        </p:blipFill>
        <p:spPr>
          <a:xfrm>
            <a:off x="1386000" y="1584000"/>
            <a:ext cx="525600" cy="525600"/>
          </a:xfrm>
          <a:prstGeom prst="rect">
            <a:avLst/>
          </a:prstGeom>
          <a:ln w="5080">
            <a:solidFill>
              <a:srgbClr val="A7ADB3"/>
            </a:solidFill>
          </a:ln>
          <a:effectLst/>
        </p:spPr>
      </p:pic>
      <p:pic>
        <p:nvPicPr>
          <p:cNvPr id="35" name="Picture 34" descr="la_palma-volcano_00000597_2_GT.png"/>
          <p:cNvPicPr>
            <a:picLocks noChangeAspect="1"/>
          </p:cNvPicPr>
          <p:nvPr/>
        </p:nvPicPr>
        <p:blipFill>
          <a:blip r:embed="rId22"/>
          <a:stretch>
            <a:fillRect/>
          </a:stretch>
        </p:blipFill>
        <p:spPr>
          <a:xfrm>
            <a:off x="1962000" y="1584000"/>
            <a:ext cx="525600" cy="525600"/>
          </a:xfrm>
          <a:prstGeom prst="rect">
            <a:avLst/>
          </a:prstGeom>
          <a:ln w="5080">
            <a:solidFill>
              <a:srgbClr val="A7ADB3"/>
            </a:solidFill>
          </a:ln>
          <a:effectLst/>
        </p:spPr>
      </p:pic>
      <p:pic>
        <p:nvPicPr>
          <p:cNvPr id="36" name="Picture 35" descr="la_palma-volcano_00000597_3_U-Net.png"/>
          <p:cNvPicPr>
            <a:picLocks noChangeAspect="1"/>
          </p:cNvPicPr>
          <p:nvPr/>
        </p:nvPicPr>
        <p:blipFill>
          <a:blip r:embed="rId23"/>
          <a:stretch>
            <a:fillRect/>
          </a:stretch>
        </p:blipFill>
        <p:spPr>
          <a:xfrm>
            <a:off x="2538000" y="1584000"/>
            <a:ext cx="525600" cy="525600"/>
          </a:xfrm>
          <a:prstGeom prst="rect">
            <a:avLst/>
          </a:prstGeom>
          <a:ln w="5080">
            <a:solidFill>
              <a:srgbClr val="A7ADB3"/>
            </a:solidFill>
          </a:ln>
          <a:effectLst/>
        </p:spPr>
      </p:pic>
      <p:pic>
        <p:nvPicPr>
          <p:cNvPr id="37" name="Picture 36" descr="la_palma-volcano_00000597_4_DeepLabv3+.png"/>
          <p:cNvPicPr>
            <a:picLocks noChangeAspect="1"/>
          </p:cNvPicPr>
          <p:nvPr/>
        </p:nvPicPr>
        <p:blipFill>
          <a:blip r:embed="rId24"/>
          <a:stretch>
            <a:fillRect/>
          </a:stretch>
        </p:blipFill>
        <p:spPr>
          <a:xfrm>
            <a:off x="3114000" y="1584000"/>
            <a:ext cx="525600" cy="525600"/>
          </a:xfrm>
          <a:prstGeom prst="rect">
            <a:avLst/>
          </a:prstGeom>
          <a:ln w="5080">
            <a:solidFill>
              <a:srgbClr val="A7ADB3"/>
            </a:solidFill>
          </a:ln>
          <a:effectLst/>
        </p:spPr>
      </p:pic>
      <p:pic>
        <p:nvPicPr>
          <p:cNvPr id="38" name="Picture 37" descr="la_palma-volcano_00000597_5_SiamAttnUNet.png"/>
          <p:cNvPicPr>
            <a:picLocks noChangeAspect="1"/>
          </p:cNvPicPr>
          <p:nvPr/>
        </p:nvPicPr>
        <p:blipFill>
          <a:blip r:embed="rId25"/>
          <a:stretch>
            <a:fillRect/>
          </a:stretch>
        </p:blipFill>
        <p:spPr>
          <a:xfrm>
            <a:off x="3690000" y="1584000"/>
            <a:ext cx="525600" cy="525600"/>
          </a:xfrm>
          <a:prstGeom prst="rect">
            <a:avLst/>
          </a:prstGeom>
          <a:ln w="5080">
            <a:solidFill>
              <a:srgbClr val="A7ADB3"/>
            </a:solidFill>
          </a:ln>
          <a:effectLst/>
        </p:spPr>
      </p:pic>
      <p:pic>
        <p:nvPicPr>
          <p:cNvPr id="39" name="Picture 38" descr="la_palma-volcano_00000597_6_SiamCRNN.png"/>
          <p:cNvPicPr>
            <a:picLocks noChangeAspect="1"/>
          </p:cNvPicPr>
          <p:nvPr/>
        </p:nvPicPr>
        <p:blipFill>
          <a:blip r:embed="rId26"/>
          <a:stretch>
            <a:fillRect/>
          </a:stretch>
        </p:blipFill>
        <p:spPr>
          <a:xfrm>
            <a:off x="4266000" y="1584000"/>
            <a:ext cx="525600" cy="525600"/>
          </a:xfrm>
          <a:prstGeom prst="rect">
            <a:avLst/>
          </a:prstGeom>
          <a:ln w="5080">
            <a:solidFill>
              <a:srgbClr val="A7ADB3"/>
            </a:solidFill>
          </a:ln>
          <a:effectLst/>
        </p:spPr>
      </p:pic>
      <p:pic>
        <p:nvPicPr>
          <p:cNvPr id="40" name="Picture 39" descr="la_palma-volcano_00000597_7_DamageFormer.png"/>
          <p:cNvPicPr>
            <a:picLocks noChangeAspect="1"/>
          </p:cNvPicPr>
          <p:nvPr/>
        </p:nvPicPr>
        <p:blipFill>
          <a:blip r:embed="rId27"/>
          <a:stretch>
            <a:fillRect/>
          </a:stretch>
        </p:blipFill>
        <p:spPr>
          <a:xfrm>
            <a:off x="4842000" y="1584000"/>
            <a:ext cx="525600" cy="525600"/>
          </a:xfrm>
          <a:prstGeom prst="rect">
            <a:avLst/>
          </a:prstGeom>
          <a:ln w="5080">
            <a:solidFill>
              <a:srgbClr val="A7ADB3"/>
            </a:solidFill>
          </a:ln>
          <a:effectLst/>
        </p:spPr>
      </p:pic>
      <p:pic>
        <p:nvPicPr>
          <p:cNvPr id="41" name="Picture 40" descr="la_palma-volcano_00000597_8_MPF.png"/>
          <p:cNvPicPr>
            <a:picLocks noChangeAspect="1"/>
          </p:cNvPicPr>
          <p:nvPr/>
        </p:nvPicPr>
        <p:blipFill>
          <a:blip r:embed="rId28"/>
          <a:stretch>
            <a:fillRect/>
          </a:stretch>
        </p:blipFill>
        <p:spPr>
          <a:xfrm>
            <a:off x="5418000" y="1584000"/>
            <a:ext cx="525600" cy="525600"/>
          </a:xfrm>
          <a:prstGeom prst="rect">
            <a:avLst/>
          </a:prstGeom>
          <a:ln w="5080">
            <a:solidFill>
              <a:srgbClr val="A7ADB3"/>
            </a:solidFill>
          </a:ln>
          <a:effectLst/>
        </p:spPr>
      </p:pic>
      <p:sp>
        <p:nvSpPr>
          <p:cNvPr id="42" name="TextBox 41"/>
          <p:cNvSpPr txBox="1"/>
          <p:nvPr/>
        </p:nvSpPr>
        <p:spPr>
          <a:xfrm>
            <a:off x="36000" y="212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La Palma</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00000353</a:t>
            </a:r>
          </a:p>
          <a:p>
            <a:pPr algn="ctr">
              <a:spcBef>
                <a:spcPts val="0"/>
              </a:spcBef>
              <a:spcAft>
                <a:spcPts val="0"/>
              </a:spcAft>
            </a:pPr>
            <a:r>
              <a:rPr sz="800" b="0">
                <a:solidFill>
                  <a:srgbClr val="263746"/>
                </a:solidFill>
                <a:latin typeface="Arial"/>
              </a:rPr>
              <a:t>512 × 512 px</a:t>
            </a:r>
          </a:p>
        </p:txBody>
      </p:sp>
      <p:pic>
        <p:nvPicPr>
          <p:cNvPr id="43" name="Picture 42" descr="la_palma-volcano_00000353_0_RGB.png"/>
          <p:cNvPicPr>
            <a:picLocks noChangeAspect="1"/>
          </p:cNvPicPr>
          <p:nvPr/>
        </p:nvPicPr>
        <p:blipFill>
          <a:blip r:embed="rId29"/>
          <a:stretch>
            <a:fillRect/>
          </a:stretch>
        </p:blipFill>
        <p:spPr>
          <a:xfrm>
            <a:off x="810000" y="2124000"/>
            <a:ext cx="525600" cy="525600"/>
          </a:xfrm>
          <a:prstGeom prst="rect">
            <a:avLst/>
          </a:prstGeom>
          <a:ln w="5080">
            <a:solidFill>
              <a:srgbClr val="A7ADB3"/>
            </a:solidFill>
          </a:ln>
          <a:effectLst/>
        </p:spPr>
      </p:pic>
      <p:pic>
        <p:nvPicPr>
          <p:cNvPr id="44" name="Picture 43" descr="la_palma-volcano_00000353_1_SAR.png"/>
          <p:cNvPicPr>
            <a:picLocks noChangeAspect="1"/>
          </p:cNvPicPr>
          <p:nvPr/>
        </p:nvPicPr>
        <p:blipFill>
          <a:blip r:embed="rId30"/>
          <a:stretch>
            <a:fillRect/>
          </a:stretch>
        </p:blipFill>
        <p:spPr>
          <a:xfrm>
            <a:off x="1386000" y="2124000"/>
            <a:ext cx="525600" cy="525600"/>
          </a:xfrm>
          <a:prstGeom prst="rect">
            <a:avLst/>
          </a:prstGeom>
          <a:ln w="5080">
            <a:solidFill>
              <a:srgbClr val="A7ADB3"/>
            </a:solidFill>
          </a:ln>
          <a:effectLst/>
        </p:spPr>
      </p:pic>
      <p:pic>
        <p:nvPicPr>
          <p:cNvPr id="45" name="Picture 44" descr="la_palma-volcano_00000353_2_GT.png"/>
          <p:cNvPicPr>
            <a:picLocks noChangeAspect="1"/>
          </p:cNvPicPr>
          <p:nvPr/>
        </p:nvPicPr>
        <p:blipFill>
          <a:blip r:embed="rId31"/>
          <a:stretch>
            <a:fillRect/>
          </a:stretch>
        </p:blipFill>
        <p:spPr>
          <a:xfrm>
            <a:off x="1962000" y="2124000"/>
            <a:ext cx="525600" cy="525600"/>
          </a:xfrm>
          <a:prstGeom prst="rect">
            <a:avLst/>
          </a:prstGeom>
          <a:ln w="5080">
            <a:solidFill>
              <a:srgbClr val="A7ADB3"/>
            </a:solidFill>
          </a:ln>
          <a:effectLst/>
        </p:spPr>
      </p:pic>
      <p:pic>
        <p:nvPicPr>
          <p:cNvPr id="46" name="Picture 45" descr="la_palma-volcano_00000353_3_U-Net.png"/>
          <p:cNvPicPr>
            <a:picLocks noChangeAspect="1"/>
          </p:cNvPicPr>
          <p:nvPr/>
        </p:nvPicPr>
        <p:blipFill>
          <a:blip r:embed="rId32"/>
          <a:stretch>
            <a:fillRect/>
          </a:stretch>
        </p:blipFill>
        <p:spPr>
          <a:xfrm>
            <a:off x="2538000" y="2124000"/>
            <a:ext cx="525600" cy="525600"/>
          </a:xfrm>
          <a:prstGeom prst="rect">
            <a:avLst/>
          </a:prstGeom>
          <a:ln w="5080">
            <a:solidFill>
              <a:srgbClr val="A7ADB3"/>
            </a:solidFill>
          </a:ln>
          <a:effectLst/>
        </p:spPr>
      </p:pic>
      <p:pic>
        <p:nvPicPr>
          <p:cNvPr id="47" name="Picture 46" descr="la_palma-volcano_00000353_4_DeepLabv3+.png"/>
          <p:cNvPicPr>
            <a:picLocks noChangeAspect="1"/>
          </p:cNvPicPr>
          <p:nvPr/>
        </p:nvPicPr>
        <p:blipFill>
          <a:blip r:embed="rId33"/>
          <a:stretch>
            <a:fillRect/>
          </a:stretch>
        </p:blipFill>
        <p:spPr>
          <a:xfrm>
            <a:off x="3114000" y="2124000"/>
            <a:ext cx="525600" cy="525600"/>
          </a:xfrm>
          <a:prstGeom prst="rect">
            <a:avLst/>
          </a:prstGeom>
          <a:ln w="5080">
            <a:solidFill>
              <a:srgbClr val="A7ADB3"/>
            </a:solidFill>
          </a:ln>
          <a:effectLst/>
        </p:spPr>
      </p:pic>
      <p:pic>
        <p:nvPicPr>
          <p:cNvPr id="48" name="Picture 47" descr="la_palma-volcano_00000353_5_SiamAttnUNet.png"/>
          <p:cNvPicPr>
            <a:picLocks noChangeAspect="1"/>
          </p:cNvPicPr>
          <p:nvPr/>
        </p:nvPicPr>
        <p:blipFill>
          <a:blip r:embed="rId34"/>
          <a:stretch>
            <a:fillRect/>
          </a:stretch>
        </p:blipFill>
        <p:spPr>
          <a:xfrm>
            <a:off x="3690000" y="2124000"/>
            <a:ext cx="525600" cy="525600"/>
          </a:xfrm>
          <a:prstGeom prst="rect">
            <a:avLst/>
          </a:prstGeom>
          <a:ln w="5080">
            <a:solidFill>
              <a:srgbClr val="A7ADB3"/>
            </a:solidFill>
          </a:ln>
          <a:effectLst/>
        </p:spPr>
      </p:pic>
      <p:pic>
        <p:nvPicPr>
          <p:cNvPr id="49" name="Picture 48" descr="la_palma-volcano_00000353_6_SiamCRNN.png"/>
          <p:cNvPicPr>
            <a:picLocks noChangeAspect="1"/>
          </p:cNvPicPr>
          <p:nvPr/>
        </p:nvPicPr>
        <p:blipFill>
          <a:blip r:embed="rId35"/>
          <a:stretch>
            <a:fillRect/>
          </a:stretch>
        </p:blipFill>
        <p:spPr>
          <a:xfrm>
            <a:off x="4266000" y="2124000"/>
            <a:ext cx="525600" cy="525600"/>
          </a:xfrm>
          <a:prstGeom prst="rect">
            <a:avLst/>
          </a:prstGeom>
          <a:ln w="5080">
            <a:solidFill>
              <a:srgbClr val="A7ADB3"/>
            </a:solidFill>
          </a:ln>
          <a:effectLst/>
        </p:spPr>
      </p:pic>
      <p:pic>
        <p:nvPicPr>
          <p:cNvPr id="50" name="Picture 49" descr="la_palma-volcano_00000353_7_DamageFormer.png"/>
          <p:cNvPicPr>
            <a:picLocks noChangeAspect="1"/>
          </p:cNvPicPr>
          <p:nvPr/>
        </p:nvPicPr>
        <p:blipFill>
          <a:blip r:embed="rId36"/>
          <a:stretch>
            <a:fillRect/>
          </a:stretch>
        </p:blipFill>
        <p:spPr>
          <a:xfrm>
            <a:off x="4842000" y="2124000"/>
            <a:ext cx="525600" cy="525600"/>
          </a:xfrm>
          <a:prstGeom prst="rect">
            <a:avLst/>
          </a:prstGeom>
          <a:ln w="5080">
            <a:solidFill>
              <a:srgbClr val="A7ADB3"/>
            </a:solidFill>
          </a:ln>
          <a:effectLst/>
        </p:spPr>
      </p:pic>
      <p:pic>
        <p:nvPicPr>
          <p:cNvPr id="51" name="Picture 50" descr="la_palma-volcano_00000353_8_MPF.png"/>
          <p:cNvPicPr>
            <a:picLocks noChangeAspect="1"/>
          </p:cNvPicPr>
          <p:nvPr/>
        </p:nvPicPr>
        <p:blipFill>
          <a:blip r:embed="rId37"/>
          <a:stretch>
            <a:fillRect/>
          </a:stretch>
        </p:blipFill>
        <p:spPr>
          <a:xfrm>
            <a:off x="5418000" y="2124000"/>
            <a:ext cx="525600" cy="525600"/>
          </a:xfrm>
          <a:prstGeom prst="rect">
            <a:avLst/>
          </a:prstGeom>
          <a:ln w="5080">
            <a:solidFill>
              <a:srgbClr val="A7ADB3"/>
            </a:solidFill>
          </a:ln>
          <a:effectLst/>
        </p:spPr>
      </p:pic>
      <p:sp>
        <p:nvSpPr>
          <p:cNvPr id="52" name="TextBox 51"/>
          <p:cNvSpPr txBox="1"/>
          <p:nvPr/>
        </p:nvSpPr>
        <p:spPr>
          <a:xfrm>
            <a:off x="36000" y="266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hawaii</a:t>
            </a:r>
          </a:p>
          <a:p>
            <a:pPr algn="ctr">
              <a:spcBef>
                <a:spcPts val="0"/>
              </a:spcBef>
              <a:spcAft>
                <a:spcPts val="0"/>
              </a:spcAft>
            </a:pPr>
            <a:r>
              <a:rPr sz="800" b="0">
                <a:solidFill>
                  <a:srgbClr val="263746"/>
                </a:solidFill>
                <a:latin typeface="Arial"/>
              </a:rPr>
              <a:t>wildfire</a:t>
            </a:r>
          </a:p>
          <a:p>
            <a:pPr algn="ctr">
              <a:spcBef>
                <a:spcPts val="0"/>
              </a:spcBef>
              <a:spcAft>
                <a:spcPts val="0"/>
              </a:spcAft>
            </a:pPr>
            <a:r>
              <a:rPr sz="800" b="0">
                <a:solidFill>
                  <a:srgbClr val="263746"/>
                </a:solidFill>
                <a:latin typeface="Arial"/>
              </a:rPr>
              <a:t>00000014</a:t>
            </a:r>
          </a:p>
          <a:p>
            <a:pPr algn="ctr">
              <a:spcBef>
                <a:spcPts val="0"/>
              </a:spcBef>
              <a:spcAft>
                <a:spcPts val="0"/>
              </a:spcAft>
            </a:pPr>
            <a:r>
              <a:rPr sz="800" b="0">
                <a:solidFill>
                  <a:srgbClr val="263746"/>
                </a:solidFill>
                <a:latin typeface="Arial"/>
              </a:rPr>
              <a:t>512 × 512 px</a:t>
            </a:r>
          </a:p>
        </p:txBody>
      </p:sp>
      <p:pic>
        <p:nvPicPr>
          <p:cNvPr id="53" name="Picture 52" descr="hawaii-wildfire_00000014_0_RGB.png"/>
          <p:cNvPicPr>
            <a:picLocks noChangeAspect="1"/>
          </p:cNvPicPr>
          <p:nvPr/>
        </p:nvPicPr>
        <p:blipFill>
          <a:blip r:embed="rId38"/>
          <a:stretch>
            <a:fillRect/>
          </a:stretch>
        </p:blipFill>
        <p:spPr>
          <a:xfrm>
            <a:off x="810000" y="2664000"/>
            <a:ext cx="525600" cy="525600"/>
          </a:xfrm>
          <a:prstGeom prst="rect">
            <a:avLst/>
          </a:prstGeom>
          <a:ln w="5080">
            <a:solidFill>
              <a:srgbClr val="A7ADB3"/>
            </a:solidFill>
          </a:ln>
          <a:effectLst/>
        </p:spPr>
      </p:pic>
      <p:pic>
        <p:nvPicPr>
          <p:cNvPr id="54" name="Picture 53" descr="hawaii-wildfire_00000014_1_SAR.png"/>
          <p:cNvPicPr>
            <a:picLocks noChangeAspect="1"/>
          </p:cNvPicPr>
          <p:nvPr/>
        </p:nvPicPr>
        <p:blipFill>
          <a:blip r:embed="rId39"/>
          <a:stretch>
            <a:fillRect/>
          </a:stretch>
        </p:blipFill>
        <p:spPr>
          <a:xfrm>
            <a:off x="1386000" y="2664000"/>
            <a:ext cx="525600" cy="525600"/>
          </a:xfrm>
          <a:prstGeom prst="rect">
            <a:avLst/>
          </a:prstGeom>
          <a:ln w="5080">
            <a:solidFill>
              <a:srgbClr val="A7ADB3"/>
            </a:solidFill>
          </a:ln>
          <a:effectLst/>
        </p:spPr>
      </p:pic>
      <p:pic>
        <p:nvPicPr>
          <p:cNvPr id="55" name="Picture 54" descr="hawaii-wildfire_00000014_2_GT.png"/>
          <p:cNvPicPr>
            <a:picLocks noChangeAspect="1"/>
          </p:cNvPicPr>
          <p:nvPr/>
        </p:nvPicPr>
        <p:blipFill>
          <a:blip r:embed="rId40"/>
          <a:stretch>
            <a:fillRect/>
          </a:stretch>
        </p:blipFill>
        <p:spPr>
          <a:xfrm>
            <a:off x="1962000" y="2664000"/>
            <a:ext cx="525600" cy="525600"/>
          </a:xfrm>
          <a:prstGeom prst="rect">
            <a:avLst/>
          </a:prstGeom>
          <a:ln w="5080">
            <a:solidFill>
              <a:srgbClr val="A7ADB3"/>
            </a:solidFill>
          </a:ln>
          <a:effectLst/>
        </p:spPr>
      </p:pic>
      <p:pic>
        <p:nvPicPr>
          <p:cNvPr id="56" name="Picture 55" descr="hawaii-wildfire_00000014_3_U-Net.png"/>
          <p:cNvPicPr>
            <a:picLocks noChangeAspect="1"/>
          </p:cNvPicPr>
          <p:nvPr/>
        </p:nvPicPr>
        <p:blipFill>
          <a:blip r:embed="rId41"/>
          <a:stretch>
            <a:fillRect/>
          </a:stretch>
        </p:blipFill>
        <p:spPr>
          <a:xfrm>
            <a:off x="2538000" y="2664000"/>
            <a:ext cx="525600" cy="525600"/>
          </a:xfrm>
          <a:prstGeom prst="rect">
            <a:avLst/>
          </a:prstGeom>
          <a:ln w="5080">
            <a:solidFill>
              <a:srgbClr val="A7ADB3"/>
            </a:solidFill>
          </a:ln>
          <a:effectLst/>
        </p:spPr>
      </p:pic>
      <p:pic>
        <p:nvPicPr>
          <p:cNvPr id="57" name="Picture 56" descr="hawaii-wildfire_00000014_4_DeepLabv3+.png"/>
          <p:cNvPicPr>
            <a:picLocks noChangeAspect="1"/>
          </p:cNvPicPr>
          <p:nvPr/>
        </p:nvPicPr>
        <p:blipFill>
          <a:blip r:embed="rId42"/>
          <a:stretch>
            <a:fillRect/>
          </a:stretch>
        </p:blipFill>
        <p:spPr>
          <a:xfrm>
            <a:off x="3114000" y="2664000"/>
            <a:ext cx="525600" cy="525600"/>
          </a:xfrm>
          <a:prstGeom prst="rect">
            <a:avLst/>
          </a:prstGeom>
          <a:ln w="5080">
            <a:solidFill>
              <a:srgbClr val="A7ADB3"/>
            </a:solidFill>
          </a:ln>
          <a:effectLst/>
        </p:spPr>
      </p:pic>
      <p:pic>
        <p:nvPicPr>
          <p:cNvPr id="58" name="Picture 57" descr="hawaii-wildfire_00000014_5_SiamAttnUNet.png"/>
          <p:cNvPicPr>
            <a:picLocks noChangeAspect="1"/>
          </p:cNvPicPr>
          <p:nvPr/>
        </p:nvPicPr>
        <p:blipFill>
          <a:blip r:embed="rId43"/>
          <a:stretch>
            <a:fillRect/>
          </a:stretch>
        </p:blipFill>
        <p:spPr>
          <a:xfrm>
            <a:off x="3690000" y="2664000"/>
            <a:ext cx="525600" cy="525600"/>
          </a:xfrm>
          <a:prstGeom prst="rect">
            <a:avLst/>
          </a:prstGeom>
          <a:ln w="5080">
            <a:solidFill>
              <a:srgbClr val="A7ADB3"/>
            </a:solidFill>
          </a:ln>
          <a:effectLst/>
        </p:spPr>
      </p:pic>
      <p:pic>
        <p:nvPicPr>
          <p:cNvPr id="59" name="Picture 58" descr="hawaii-wildfire_00000014_6_SiamCRNN.png"/>
          <p:cNvPicPr>
            <a:picLocks noChangeAspect="1"/>
          </p:cNvPicPr>
          <p:nvPr/>
        </p:nvPicPr>
        <p:blipFill>
          <a:blip r:embed="rId44"/>
          <a:stretch>
            <a:fillRect/>
          </a:stretch>
        </p:blipFill>
        <p:spPr>
          <a:xfrm>
            <a:off x="4266000" y="2664000"/>
            <a:ext cx="525600" cy="525600"/>
          </a:xfrm>
          <a:prstGeom prst="rect">
            <a:avLst/>
          </a:prstGeom>
          <a:ln w="5080">
            <a:solidFill>
              <a:srgbClr val="A7ADB3"/>
            </a:solidFill>
          </a:ln>
          <a:effectLst/>
        </p:spPr>
      </p:pic>
      <p:pic>
        <p:nvPicPr>
          <p:cNvPr id="60" name="Picture 59" descr="hawaii-wildfire_00000014_7_DamageFormer.png"/>
          <p:cNvPicPr>
            <a:picLocks noChangeAspect="1"/>
          </p:cNvPicPr>
          <p:nvPr/>
        </p:nvPicPr>
        <p:blipFill>
          <a:blip r:embed="rId45"/>
          <a:stretch>
            <a:fillRect/>
          </a:stretch>
        </p:blipFill>
        <p:spPr>
          <a:xfrm>
            <a:off x="4842000" y="2664000"/>
            <a:ext cx="525600" cy="525600"/>
          </a:xfrm>
          <a:prstGeom prst="rect">
            <a:avLst/>
          </a:prstGeom>
          <a:ln w="5080">
            <a:solidFill>
              <a:srgbClr val="A7ADB3"/>
            </a:solidFill>
          </a:ln>
          <a:effectLst/>
        </p:spPr>
      </p:pic>
      <p:pic>
        <p:nvPicPr>
          <p:cNvPr id="61" name="Picture 60" descr="hawaii-wildfire_00000014_8_MPF.png"/>
          <p:cNvPicPr>
            <a:picLocks noChangeAspect="1"/>
          </p:cNvPicPr>
          <p:nvPr/>
        </p:nvPicPr>
        <p:blipFill>
          <a:blip r:embed="rId46"/>
          <a:stretch>
            <a:fillRect/>
          </a:stretch>
        </p:blipFill>
        <p:spPr>
          <a:xfrm>
            <a:off x="5418000" y="2664000"/>
            <a:ext cx="525600" cy="525600"/>
          </a:xfrm>
          <a:prstGeom prst="rect">
            <a:avLst/>
          </a:prstGeom>
          <a:ln w="5080">
            <a:solidFill>
              <a:srgbClr val="A7ADB3"/>
            </a:solidFill>
          </a:ln>
          <a:effectLst/>
        </p:spPr>
      </p:pic>
      <p:sp>
        <p:nvSpPr>
          <p:cNvPr id="62" name="TextBox 61"/>
          <p:cNvSpPr txBox="1"/>
          <p:nvPr/>
        </p:nvSpPr>
        <p:spPr>
          <a:xfrm>
            <a:off x="36000" y="320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hawaii</a:t>
            </a:r>
          </a:p>
          <a:p>
            <a:pPr algn="ctr">
              <a:spcBef>
                <a:spcPts val="0"/>
              </a:spcBef>
              <a:spcAft>
                <a:spcPts val="0"/>
              </a:spcAft>
            </a:pPr>
            <a:r>
              <a:rPr sz="800" b="0">
                <a:solidFill>
                  <a:srgbClr val="263746"/>
                </a:solidFill>
                <a:latin typeface="Arial"/>
              </a:rPr>
              <a:t>wildfire</a:t>
            </a:r>
          </a:p>
          <a:p>
            <a:pPr algn="ctr">
              <a:spcBef>
                <a:spcPts val="0"/>
              </a:spcBef>
              <a:spcAft>
                <a:spcPts val="0"/>
              </a:spcAft>
            </a:pPr>
            <a:r>
              <a:rPr sz="800" b="0">
                <a:solidFill>
                  <a:srgbClr val="263746"/>
                </a:solidFill>
                <a:latin typeface="Arial"/>
              </a:rPr>
              <a:t>00000003</a:t>
            </a:r>
          </a:p>
          <a:p>
            <a:pPr algn="ctr">
              <a:spcBef>
                <a:spcPts val="0"/>
              </a:spcBef>
              <a:spcAft>
                <a:spcPts val="0"/>
              </a:spcAft>
            </a:pPr>
            <a:r>
              <a:rPr sz="800" b="0">
                <a:solidFill>
                  <a:srgbClr val="263746"/>
                </a:solidFill>
                <a:latin typeface="Arial"/>
              </a:rPr>
              <a:t>512 × 512 px</a:t>
            </a:r>
          </a:p>
        </p:txBody>
      </p:sp>
      <p:pic>
        <p:nvPicPr>
          <p:cNvPr id="63" name="Picture 62" descr="hawaii-wildfire_00000003_0_RGB.png"/>
          <p:cNvPicPr>
            <a:picLocks noChangeAspect="1"/>
          </p:cNvPicPr>
          <p:nvPr/>
        </p:nvPicPr>
        <p:blipFill>
          <a:blip r:embed="rId47"/>
          <a:stretch>
            <a:fillRect/>
          </a:stretch>
        </p:blipFill>
        <p:spPr>
          <a:xfrm>
            <a:off x="810000" y="3204000"/>
            <a:ext cx="525600" cy="525600"/>
          </a:xfrm>
          <a:prstGeom prst="rect">
            <a:avLst/>
          </a:prstGeom>
          <a:ln w="5080">
            <a:solidFill>
              <a:srgbClr val="A7ADB3"/>
            </a:solidFill>
          </a:ln>
          <a:effectLst/>
        </p:spPr>
      </p:pic>
      <p:pic>
        <p:nvPicPr>
          <p:cNvPr id="64" name="Picture 63" descr="hawaii-wildfire_00000003_1_SAR.png"/>
          <p:cNvPicPr>
            <a:picLocks noChangeAspect="1"/>
          </p:cNvPicPr>
          <p:nvPr/>
        </p:nvPicPr>
        <p:blipFill>
          <a:blip r:embed="rId48"/>
          <a:stretch>
            <a:fillRect/>
          </a:stretch>
        </p:blipFill>
        <p:spPr>
          <a:xfrm>
            <a:off x="1386000" y="3204000"/>
            <a:ext cx="525600" cy="525600"/>
          </a:xfrm>
          <a:prstGeom prst="rect">
            <a:avLst/>
          </a:prstGeom>
          <a:ln w="5080">
            <a:solidFill>
              <a:srgbClr val="A7ADB3"/>
            </a:solidFill>
          </a:ln>
          <a:effectLst/>
        </p:spPr>
      </p:pic>
      <p:pic>
        <p:nvPicPr>
          <p:cNvPr id="65" name="Picture 64" descr="hawaii-wildfire_00000003_2_GT.png"/>
          <p:cNvPicPr>
            <a:picLocks noChangeAspect="1"/>
          </p:cNvPicPr>
          <p:nvPr/>
        </p:nvPicPr>
        <p:blipFill>
          <a:blip r:embed="rId49"/>
          <a:stretch>
            <a:fillRect/>
          </a:stretch>
        </p:blipFill>
        <p:spPr>
          <a:xfrm>
            <a:off x="1962000" y="3204000"/>
            <a:ext cx="525600" cy="525600"/>
          </a:xfrm>
          <a:prstGeom prst="rect">
            <a:avLst/>
          </a:prstGeom>
          <a:ln w="5080">
            <a:solidFill>
              <a:srgbClr val="A7ADB3"/>
            </a:solidFill>
          </a:ln>
          <a:effectLst/>
        </p:spPr>
      </p:pic>
      <p:pic>
        <p:nvPicPr>
          <p:cNvPr id="66" name="Picture 65" descr="hawaii-wildfire_00000003_3_U-Net.png"/>
          <p:cNvPicPr>
            <a:picLocks noChangeAspect="1"/>
          </p:cNvPicPr>
          <p:nvPr/>
        </p:nvPicPr>
        <p:blipFill>
          <a:blip r:embed="rId50"/>
          <a:stretch>
            <a:fillRect/>
          </a:stretch>
        </p:blipFill>
        <p:spPr>
          <a:xfrm>
            <a:off x="2538000" y="3204000"/>
            <a:ext cx="525600" cy="525600"/>
          </a:xfrm>
          <a:prstGeom prst="rect">
            <a:avLst/>
          </a:prstGeom>
          <a:ln w="5080">
            <a:solidFill>
              <a:srgbClr val="A7ADB3"/>
            </a:solidFill>
          </a:ln>
          <a:effectLst/>
        </p:spPr>
      </p:pic>
      <p:pic>
        <p:nvPicPr>
          <p:cNvPr id="67" name="Picture 66" descr="hawaii-wildfire_00000003_4_DeepLabv3+.png"/>
          <p:cNvPicPr>
            <a:picLocks noChangeAspect="1"/>
          </p:cNvPicPr>
          <p:nvPr/>
        </p:nvPicPr>
        <p:blipFill>
          <a:blip r:embed="rId51"/>
          <a:stretch>
            <a:fillRect/>
          </a:stretch>
        </p:blipFill>
        <p:spPr>
          <a:xfrm>
            <a:off x="3114000" y="3204000"/>
            <a:ext cx="525600" cy="525600"/>
          </a:xfrm>
          <a:prstGeom prst="rect">
            <a:avLst/>
          </a:prstGeom>
          <a:ln w="5080">
            <a:solidFill>
              <a:srgbClr val="A7ADB3"/>
            </a:solidFill>
          </a:ln>
          <a:effectLst/>
        </p:spPr>
      </p:pic>
      <p:pic>
        <p:nvPicPr>
          <p:cNvPr id="68" name="Picture 67" descr="hawaii-wildfire_00000003_5_SiamAttnUNet.png"/>
          <p:cNvPicPr>
            <a:picLocks noChangeAspect="1"/>
          </p:cNvPicPr>
          <p:nvPr/>
        </p:nvPicPr>
        <p:blipFill>
          <a:blip r:embed="rId52"/>
          <a:stretch>
            <a:fillRect/>
          </a:stretch>
        </p:blipFill>
        <p:spPr>
          <a:xfrm>
            <a:off x="3690000" y="3204000"/>
            <a:ext cx="525600" cy="525600"/>
          </a:xfrm>
          <a:prstGeom prst="rect">
            <a:avLst/>
          </a:prstGeom>
          <a:ln w="5080">
            <a:solidFill>
              <a:srgbClr val="A7ADB3"/>
            </a:solidFill>
          </a:ln>
          <a:effectLst/>
        </p:spPr>
      </p:pic>
      <p:pic>
        <p:nvPicPr>
          <p:cNvPr id="69" name="Picture 68" descr="hawaii-wildfire_00000003_6_SiamCRNN.png"/>
          <p:cNvPicPr>
            <a:picLocks noChangeAspect="1"/>
          </p:cNvPicPr>
          <p:nvPr/>
        </p:nvPicPr>
        <p:blipFill>
          <a:blip r:embed="rId53"/>
          <a:stretch>
            <a:fillRect/>
          </a:stretch>
        </p:blipFill>
        <p:spPr>
          <a:xfrm>
            <a:off x="4266000" y="3204000"/>
            <a:ext cx="525600" cy="525600"/>
          </a:xfrm>
          <a:prstGeom prst="rect">
            <a:avLst/>
          </a:prstGeom>
          <a:ln w="5080">
            <a:solidFill>
              <a:srgbClr val="A7ADB3"/>
            </a:solidFill>
          </a:ln>
          <a:effectLst/>
        </p:spPr>
      </p:pic>
      <p:pic>
        <p:nvPicPr>
          <p:cNvPr id="70" name="Picture 69" descr="hawaii-wildfire_00000003_7_DamageFormer.png"/>
          <p:cNvPicPr>
            <a:picLocks noChangeAspect="1"/>
          </p:cNvPicPr>
          <p:nvPr/>
        </p:nvPicPr>
        <p:blipFill>
          <a:blip r:embed="rId54"/>
          <a:stretch>
            <a:fillRect/>
          </a:stretch>
        </p:blipFill>
        <p:spPr>
          <a:xfrm>
            <a:off x="4842000" y="3204000"/>
            <a:ext cx="525600" cy="525600"/>
          </a:xfrm>
          <a:prstGeom prst="rect">
            <a:avLst/>
          </a:prstGeom>
          <a:ln w="5080">
            <a:solidFill>
              <a:srgbClr val="A7ADB3"/>
            </a:solidFill>
          </a:ln>
          <a:effectLst/>
        </p:spPr>
      </p:pic>
      <p:pic>
        <p:nvPicPr>
          <p:cNvPr id="71" name="Picture 70" descr="hawaii-wildfire_00000003_8_MPF.png"/>
          <p:cNvPicPr>
            <a:picLocks noChangeAspect="1"/>
          </p:cNvPicPr>
          <p:nvPr/>
        </p:nvPicPr>
        <p:blipFill>
          <a:blip r:embed="rId55"/>
          <a:stretch>
            <a:fillRect/>
          </a:stretch>
        </p:blipFill>
        <p:spPr>
          <a:xfrm>
            <a:off x="5418000" y="3204000"/>
            <a:ext cx="525600" cy="525600"/>
          </a:xfrm>
          <a:prstGeom prst="rect">
            <a:avLst/>
          </a:prstGeom>
          <a:ln w="5080">
            <a:solidFill>
              <a:srgbClr val="A7ADB3"/>
            </a:solidFill>
          </a:ln>
          <a:effectLst/>
        </p:spPr>
      </p:pic>
      <p:sp>
        <p:nvSpPr>
          <p:cNvPr id="72" name="Rectangle 71"/>
          <p:cNvSpPr/>
          <p:nvPr/>
        </p:nvSpPr>
        <p:spPr>
          <a:xfrm>
            <a:off x="846000" y="3751200"/>
            <a:ext cx="100800" cy="100800"/>
          </a:xfrm>
          <a:prstGeom prst="rect">
            <a:avLst/>
          </a:prstGeom>
          <a:solidFill>
            <a:srgbClr val="FFFFFF"/>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Hurricane, flood and explosion: six selected crops</a:t>
            </a:r>
          </a:p>
        </p:txBody>
      </p:sp>
      <p:sp>
        <p:nvSpPr>
          <p:cNvPr id="3" name="TextBox 2"/>
          <p:cNvSpPr txBox="1"/>
          <p:nvPr/>
        </p:nvSpPr>
        <p:spPr>
          <a:xfrm>
            <a:off x="81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a:effectLst/>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mexico</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00000005</a:t>
            </a:r>
          </a:p>
          <a:p>
            <a:pPr algn="ctr">
              <a:spcBef>
                <a:spcPts val="0"/>
              </a:spcBef>
              <a:spcAft>
                <a:spcPts val="0"/>
              </a:spcAft>
            </a:pPr>
            <a:r>
              <a:rPr sz="800" b="0">
                <a:solidFill>
                  <a:srgbClr val="263746"/>
                </a:solidFill>
                <a:latin typeface="Arial"/>
              </a:rPr>
              <a:t>512 × 512 px</a:t>
            </a:r>
          </a:p>
        </p:txBody>
      </p:sp>
      <p:pic>
        <p:nvPicPr>
          <p:cNvPr id="13" name="Picture 12" descr="mexico-hurricane_00000005_0_RGB.png"/>
          <p:cNvPicPr>
            <a:picLocks noChangeAspect="1"/>
          </p:cNvPicPr>
          <p:nvPr/>
        </p:nvPicPr>
        <p:blipFill>
          <a:blip r:embed="rId2"/>
          <a:stretch>
            <a:fillRect/>
          </a:stretch>
        </p:blipFill>
        <p:spPr>
          <a:xfrm>
            <a:off x="810000" y="503999"/>
            <a:ext cx="525600" cy="525600"/>
          </a:xfrm>
          <a:prstGeom prst="rect">
            <a:avLst/>
          </a:prstGeom>
          <a:ln w="5080">
            <a:solidFill>
              <a:srgbClr val="A7ADB3"/>
            </a:solidFill>
          </a:ln>
          <a:effectLst/>
        </p:spPr>
      </p:pic>
      <p:pic>
        <p:nvPicPr>
          <p:cNvPr id="14" name="Picture 13" descr="mexico-hurricane_00000005_1_SAR.png"/>
          <p:cNvPicPr>
            <a:picLocks noChangeAspect="1"/>
          </p:cNvPicPr>
          <p:nvPr/>
        </p:nvPicPr>
        <p:blipFill>
          <a:blip r:embed="rId3"/>
          <a:stretch>
            <a:fillRect/>
          </a:stretch>
        </p:blipFill>
        <p:spPr>
          <a:xfrm>
            <a:off x="1386000" y="503999"/>
            <a:ext cx="525600" cy="525600"/>
          </a:xfrm>
          <a:prstGeom prst="rect">
            <a:avLst/>
          </a:prstGeom>
          <a:ln w="5080">
            <a:solidFill>
              <a:srgbClr val="A7ADB3"/>
            </a:solidFill>
          </a:ln>
          <a:effectLst/>
        </p:spPr>
      </p:pic>
      <p:pic>
        <p:nvPicPr>
          <p:cNvPr id="15" name="Picture 14" descr="mexico-hurricane_00000005_2_GT.png"/>
          <p:cNvPicPr>
            <a:picLocks noChangeAspect="1"/>
          </p:cNvPicPr>
          <p:nvPr/>
        </p:nvPicPr>
        <p:blipFill>
          <a:blip r:embed="rId4"/>
          <a:stretch>
            <a:fillRect/>
          </a:stretch>
        </p:blipFill>
        <p:spPr>
          <a:xfrm>
            <a:off x="1962000" y="503999"/>
            <a:ext cx="525600" cy="525600"/>
          </a:xfrm>
          <a:prstGeom prst="rect">
            <a:avLst/>
          </a:prstGeom>
          <a:ln w="5080">
            <a:solidFill>
              <a:srgbClr val="A7ADB3"/>
            </a:solidFill>
          </a:ln>
          <a:effectLst/>
        </p:spPr>
      </p:pic>
      <p:pic>
        <p:nvPicPr>
          <p:cNvPr id="16" name="Picture 15" descr="mexico-hurricane_00000005_3_U-Net.png"/>
          <p:cNvPicPr>
            <a:picLocks noChangeAspect="1"/>
          </p:cNvPicPr>
          <p:nvPr/>
        </p:nvPicPr>
        <p:blipFill>
          <a:blip r:embed="rId5"/>
          <a:stretch>
            <a:fillRect/>
          </a:stretch>
        </p:blipFill>
        <p:spPr>
          <a:xfrm>
            <a:off x="2538000" y="503999"/>
            <a:ext cx="525600" cy="525600"/>
          </a:xfrm>
          <a:prstGeom prst="rect">
            <a:avLst/>
          </a:prstGeom>
          <a:ln w="5080">
            <a:solidFill>
              <a:srgbClr val="A7ADB3"/>
            </a:solidFill>
          </a:ln>
          <a:effectLst/>
        </p:spPr>
      </p:pic>
      <p:pic>
        <p:nvPicPr>
          <p:cNvPr id="17" name="Picture 16" descr="mexico-hurricane_00000005_4_DeepLabv3+.png"/>
          <p:cNvPicPr>
            <a:picLocks noChangeAspect="1"/>
          </p:cNvPicPr>
          <p:nvPr/>
        </p:nvPicPr>
        <p:blipFill>
          <a:blip r:embed="rId6"/>
          <a:stretch>
            <a:fillRect/>
          </a:stretch>
        </p:blipFill>
        <p:spPr>
          <a:xfrm>
            <a:off x="3114000" y="503999"/>
            <a:ext cx="525600" cy="525600"/>
          </a:xfrm>
          <a:prstGeom prst="rect">
            <a:avLst/>
          </a:prstGeom>
          <a:ln w="5080">
            <a:solidFill>
              <a:srgbClr val="A7ADB3"/>
            </a:solidFill>
          </a:ln>
          <a:effectLst/>
        </p:spPr>
      </p:pic>
      <p:pic>
        <p:nvPicPr>
          <p:cNvPr id="18" name="Picture 17" descr="mexico-hurricane_00000005_5_SiamAttnUNet.png"/>
          <p:cNvPicPr>
            <a:picLocks noChangeAspect="1"/>
          </p:cNvPicPr>
          <p:nvPr/>
        </p:nvPicPr>
        <p:blipFill>
          <a:blip r:embed="rId7"/>
          <a:stretch>
            <a:fillRect/>
          </a:stretch>
        </p:blipFill>
        <p:spPr>
          <a:xfrm>
            <a:off x="3690000" y="503999"/>
            <a:ext cx="525600" cy="525600"/>
          </a:xfrm>
          <a:prstGeom prst="rect">
            <a:avLst/>
          </a:prstGeom>
          <a:ln w="5080">
            <a:solidFill>
              <a:srgbClr val="A7ADB3"/>
            </a:solidFill>
          </a:ln>
          <a:effectLst/>
        </p:spPr>
      </p:pic>
      <p:pic>
        <p:nvPicPr>
          <p:cNvPr id="19" name="Picture 18" descr="mexico-hurricane_00000005_6_SiamCRNN.png"/>
          <p:cNvPicPr>
            <a:picLocks noChangeAspect="1"/>
          </p:cNvPicPr>
          <p:nvPr/>
        </p:nvPicPr>
        <p:blipFill>
          <a:blip r:embed="rId8"/>
          <a:stretch>
            <a:fillRect/>
          </a:stretch>
        </p:blipFill>
        <p:spPr>
          <a:xfrm>
            <a:off x="4266000" y="503999"/>
            <a:ext cx="525600" cy="525600"/>
          </a:xfrm>
          <a:prstGeom prst="rect">
            <a:avLst/>
          </a:prstGeom>
          <a:ln w="5080">
            <a:solidFill>
              <a:srgbClr val="A7ADB3"/>
            </a:solidFill>
          </a:ln>
          <a:effectLst/>
        </p:spPr>
      </p:pic>
      <p:pic>
        <p:nvPicPr>
          <p:cNvPr id="20" name="Picture 19" descr="mexico-hurricane_00000005_7_DamageFormer.png"/>
          <p:cNvPicPr>
            <a:picLocks noChangeAspect="1"/>
          </p:cNvPicPr>
          <p:nvPr/>
        </p:nvPicPr>
        <p:blipFill>
          <a:blip r:embed="rId9"/>
          <a:stretch>
            <a:fillRect/>
          </a:stretch>
        </p:blipFill>
        <p:spPr>
          <a:xfrm>
            <a:off x="4842000" y="503999"/>
            <a:ext cx="525600" cy="525600"/>
          </a:xfrm>
          <a:prstGeom prst="rect">
            <a:avLst/>
          </a:prstGeom>
          <a:ln w="5080">
            <a:solidFill>
              <a:srgbClr val="A7ADB3"/>
            </a:solidFill>
          </a:ln>
          <a:effectLst/>
        </p:spPr>
      </p:pic>
      <p:pic>
        <p:nvPicPr>
          <p:cNvPr id="21" name="Picture 20" descr="mexico-hurricane_00000005_8_MPF.png"/>
          <p:cNvPicPr>
            <a:picLocks noChangeAspect="1"/>
          </p:cNvPicPr>
          <p:nvPr/>
        </p:nvPicPr>
        <p:blipFill>
          <a:blip r:embed="rId10"/>
          <a:stretch>
            <a:fillRect/>
          </a:stretch>
        </p:blipFill>
        <p:spPr>
          <a:xfrm>
            <a:off x="5418000" y="503999"/>
            <a:ext cx="525600" cy="525600"/>
          </a:xfrm>
          <a:prstGeom prst="rect">
            <a:avLst/>
          </a:prstGeom>
          <a:ln w="5080">
            <a:solidFill>
              <a:srgbClr val="A7ADB3"/>
            </a:solidFill>
          </a:ln>
          <a:effectLst/>
        </p:spPr>
      </p:pic>
      <p:sp>
        <p:nvSpPr>
          <p:cNvPr id="22" name="TextBox 21"/>
          <p:cNvSpPr txBox="1"/>
          <p:nvPr/>
        </p:nvSpPr>
        <p:spPr>
          <a:xfrm>
            <a:off x="36000" y="104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myanmar</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00000107</a:t>
            </a:r>
          </a:p>
          <a:p>
            <a:pPr algn="ctr">
              <a:spcBef>
                <a:spcPts val="0"/>
              </a:spcBef>
              <a:spcAft>
                <a:spcPts val="0"/>
              </a:spcAft>
            </a:pPr>
            <a:r>
              <a:rPr sz="800" b="0">
                <a:solidFill>
                  <a:srgbClr val="263746"/>
                </a:solidFill>
                <a:latin typeface="Arial"/>
              </a:rPr>
              <a:t>768 × 768 px</a:t>
            </a:r>
          </a:p>
        </p:txBody>
      </p:sp>
      <p:pic>
        <p:nvPicPr>
          <p:cNvPr id="23" name="Picture 22" descr="myanmar-hurricane_00000107_0_RGB.png"/>
          <p:cNvPicPr>
            <a:picLocks noChangeAspect="1"/>
          </p:cNvPicPr>
          <p:nvPr/>
        </p:nvPicPr>
        <p:blipFill>
          <a:blip r:embed="rId11"/>
          <a:stretch>
            <a:fillRect/>
          </a:stretch>
        </p:blipFill>
        <p:spPr>
          <a:xfrm>
            <a:off x="810000" y="1044000"/>
            <a:ext cx="525600" cy="525600"/>
          </a:xfrm>
          <a:prstGeom prst="rect">
            <a:avLst/>
          </a:prstGeom>
          <a:ln w="5080">
            <a:solidFill>
              <a:srgbClr val="A7ADB3"/>
            </a:solidFill>
          </a:ln>
          <a:effectLst/>
        </p:spPr>
      </p:pic>
      <p:pic>
        <p:nvPicPr>
          <p:cNvPr id="24" name="Picture 23" descr="myanmar-hurricane_00000107_1_SAR.png"/>
          <p:cNvPicPr>
            <a:picLocks noChangeAspect="1"/>
          </p:cNvPicPr>
          <p:nvPr/>
        </p:nvPicPr>
        <p:blipFill>
          <a:blip r:embed="rId12"/>
          <a:stretch>
            <a:fillRect/>
          </a:stretch>
        </p:blipFill>
        <p:spPr>
          <a:xfrm>
            <a:off x="1386000" y="1044000"/>
            <a:ext cx="525600" cy="525600"/>
          </a:xfrm>
          <a:prstGeom prst="rect">
            <a:avLst/>
          </a:prstGeom>
          <a:ln w="5080">
            <a:solidFill>
              <a:srgbClr val="A7ADB3"/>
            </a:solidFill>
          </a:ln>
          <a:effectLst/>
        </p:spPr>
      </p:pic>
      <p:pic>
        <p:nvPicPr>
          <p:cNvPr id="25" name="Picture 24" descr="myanmar-hurricane_00000107_2_GT.png"/>
          <p:cNvPicPr>
            <a:picLocks noChangeAspect="1"/>
          </p:cNvPicPr>
          <p:nvPr/>
        </p:nvPicPr>
        <p:blipFill>
          <a:blip r:embed="rId13"/>
          <a:stretch>
            <a:fillRect/>
          </a:stretch>
        </p:blipFill>
        <p:spPr>
          <a:xfrm>
            <a:off x="1962000" y="1044000"/>
            <a:ext cx="525600" cy="525600"/>
          </a:xfrm>
          <a:prstGeom prst="rect">
            <a:avLst/>
          </a:prstGeom>
          <a:ln w="5080">
            <a:solidFill>
              <a:srgbClr val="A7ADB3"/>
            </a:solidFill>
          </a:ln>
          <a:effectLst/>
        </p:spPr>
      </p:pic>
      <p:pic>
        <p:nvPicPr>
          <p:cNvPr id="26" name="Picture 25" descr="myanmar-hurricane_00000107_3_U-Net.png"/>
          <p:cNvPicPr>
            <a:picLocks noChangeAspect="1"/>
          </p:cNvPicPr>
          <p:nvPr/>
        </p:nvPicPr>
        <p:blipFill>
          <a:blip r:embed="rId14"/>
          <a:stretch>
            <a:fillRect/>
          </a:stretch>
        </p:blipFill>
        <p:spPr>
          <a:xfrm>
            <a:off x="2538000" y="1044000"/>
            <a:ext cx="525600" cy="525600"/>
          </a:xfrm>
          <a:prstGeom prst="rect">
            <a:avLst/>
          </a:prstGeom>
          <a:ln w="5080">
            <a:solidFill>
              <a:srgbClr val="A7ADB3"/>
            </a:solidFill>
          </a:ln>
          <a:effectLst/>
        </p:spPr>
      </p:pic>
      <p:pic>
        <p:nvPicPr>
          <p:cNvPr id="27" name="Picture 26" descr="myanmar-hurricane_00000107_4_DeepLabv3+.png"/>
          <p:cNvPicPr>
            <a:picLocks noChangeAspect="1"/>
          </p:cNvPicPr>
          <p:nvPr/>
        </p:nvPicPr>
        <p:blipFill>
          <a:blip r:embed="rId15"/>
          <a:stretch>
            <a:fillRect/>
          </a:stretch>
        </p:blipFill>
        <p:spPr>
          <a:xfrm>
            <a:off x="3114000" y="1044000"/>
            <a:ext cx="525600" cy="525600"/>
          </a:xfrm>
          <a:prstGeom prst="rect">
            <a:avLst/>
          </a:prstGeom>
          <a:ln w="5080">
            <a:solidFill>
              <a:srgbClr val="A7ADB3"/>
            </a:solidFill>
          </a:ln>
          <a:effectLst/>
        </p:spPr>
      </p:pic>
      <p:pic>
        <p:nvPicPr>
          <p:cNvPr id="28" name="Picture 27" descr="myanmar-hurricane_00000107_5_SiamAttnUNet.png"/>
          <p:cNvPicPr>
            <a:picLocks noChangeAspect="1"/>
          </p:cNvPicPr>
          <p:nvPr/>
        </p:nvPicPr>
        <p:blipFill>
          <a:blip r:embed="rId16"/>
          <a:stretch>
            <a:fillRect/>
          </a:stretch>
        </p:blipFill>
        <p:spPr>
          <a:xfrm>
            <a:off x="3690000" y="1044000"/>
            <a:ext cx="525600" cy="525600"/>
          </a:xfrm>
          <a:prstGeom prst="rect">
            <a:avLst/>
          </a:prstGeom>
          <a:ln w="5080">
            <a:solidFill>
              <a:srgbClr val="A7ADB3"/>
            </a:solidFill>
          </a:ln>
          <a:effectLst/>
        </p:spPr>
      </p:pic>
      <p:pic>
        <p:nvPicPr>
          <p:cNvPr id="29" name="Picture 28" descr="myanmar-hurricane_00000107_6_SiamCRNN.png"/>
          <p:cNvPicPr>
            <a:picLocks noChangeAspect="1"/>
          </p:cNvPicPr>
          <p:nvPr/>
        </p:nvPicPr>
        <p:blipFill>
          <a:blip r:embed="rId17"/>
          <a:stretch>
            <a:fillRect/>
          </a:stretch>
        </p:blipFill>
        <p:spPr>
          <a:xfrm>
            <a:off x="4266000" y="1044000"/>
            <a:ext cx="525600" cy="525600"/>
          </a:xfrm>
          <a:prstGeom prst="rect">
            <a:avLst/>
          </a:prstGeom>
          <a:ln w="5080">
            <a:solidFill>
              <a:srgbClr val="A7ADB3"/>
            </a:solidFill>
          </a:ln>
          <a:effectLst/>
        </p:spPr>
      </p:pic>
      <p:pic>
        <p:nvPicPr>
          <p:cNvPr id="30" name="Picture 29" descr="myanmar-hurricane_00000107_7_DamageFormer.png"/>
          <p:cNvPicPr>
            <a:picLocks noChangeAspect="1"/>
          </p:cNvPicPr>
          <p:nvPr/>
        </p:nvPicPr>
        <p:blipFill>
          <a:blip r:embed="rId18"/>
          <a:stretch>
            <a:fillRect/>
          </a:stretch>
        </p:blipFill>
        <p:spPr>
          <a:xfrm>
            <a:off x="4842000" y="1044000"/>
            <a:ext cx="525600" cy="525600"/>
          </a:xfrm>
          <a:prstGeom prst="rect">
            <a:avLst/>
          </a:prstGeom>
          <a:ln w="5080">
            <a:solidFill>
              <a:srgbClr val="A7ADB3"/>
            </a:solidFill>
          </a:ln>
          <a:effectLst/>
        </p:spPr>
      </p:pic>
      <p:pic>
        <p:nvPicPr>
          <p:cNvPr id="31" name="Picture 30" descr="myanmar-hurricane_00000107_8_MPF.png"/>
          <p:cNvPicPr>
            <a:picLocks noChangeAspect="1"/>
          </p:cNvPicPr>
          <p:nvPr/>
        </p:nvPicPr>
        <p:blipFill>
          <a:blip r:embed="rId19"/>
          <a:stretch>
            <a:fillRect/>
          </a:stretch>
        </p:blipFill>
        <p:spPr>
          <a:xfrm>
            <a:off x="5418000" y="1044000"/>
            <a:ext cx="525600" cy="525600"/>
          </a:xfrm>
          <a:prstGeom prst="rect">
            <a:avLst/>
          </a:prstGeom>
          <a:ln w="5080">
            <a:solidFill>
              <a:srgbClr val="A7ADB3"/>
            </a:solidFill>
          </a:ln>
          <a:effectLst/>
        </p:spPr>
      </p:pic>
      <p:sp>
        <p:nvSpPr>
          <p:cNvPr id="32" name="TextBox 31"/>
          <p:cNvSpPr txBox="1"/>
          <p:nvPr/>
        </p:nvSpPr>
        <p:spPr>
          <a:xfrm>
            <a:off x="36000" y="158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myanmar</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00000099</a:t>
            </a:r>
          </a:p>
          <a:p>
            <a:pPr algn="ctr">
              <a:spcBef>
                <a:spcPts val="0"/>
              </a:spcBef>
              <a:spcAft>
                <a:spcPts val="0"/>
              </a:spcAft>
            </a:pPr>
            <a:r>
              <a:rPr sz="800" b="0">
                <a:solidFill>
                  <a:srgbClr val="263746"/>
                </a:solidFill>
                <a:latin typeface="Arial"/>
              </a:rPr>
              <a:t>1024 × 1024 px</a:t>
            </a:r>
          </a:p>
        </p:txBody>
      </p:sp>
      <p:pic>
        <p:nvPicPr>
          <p:cNvPr id="33" name="Picture 32" descr="myanmar-hurricane_00000099_0_RGB.png"/>
          <p:cNvPicPr>
            <a:picLocks noChangeAspect="1"/>
          </p:cNvPicPr>
          <p:nvPr/>
        </p:nvPicPr>
        <p:blipFill>
          <a:blip r:embed="rId20"/>
          <a:stretch>
            <a:fillRect/>
          </a:stretch>
        </p:blipFill>
        <p:spPr>
          <a:xfrm>
            <a:off x="810000" y="1584000"/>
            <a:ext cx="525600" cy="525600"/>
          </a:xfrm>
          <a:prstGeom prst="rect">
            <a:avLst/>
          </a:prstGeom>
          <a:ln w="5080">
            <a:solidFill>
              <a:srgbClr val="A7ADB3"/>
            </a:solidFill>
          </a:ln>
          <a:effectLst/>
        </p:spPr>
      </p:pic>
      <p:pic>
        <p:nvPicPr>
          <p:cNvPr id="34" name="Picture 33" descr="myanmar-hurricane_00000099_1_SAR.png"/>
          <p:cNvPicPr>
            <a:picLocks noChangeAspect="1"/>
          </p:cNvPicPr>
          <p:nvPr/>
        </p:nvPicPr>
        <p:blipFill>
          <a:blip r:embed="rId21"/>
          <a:stretch>
            <a:fillRect/>
          </a:stretch>
        </p:blipFill>
        <p:spPr>
          <a:xfrm>
            <a:off x="1386000" y="1584000"/>
            <a:ext cx="525600" cy="525600"/>
          </a:xfrm>
          <a:prstGeom prst="rect">
            <a:avLst/>
          </a:prstGeom>
          <a:ln w="5080">
            <a:solidFill>
              <a:srgbClr val="A7ADB3"/>
            </a:solidFill>
          </a:ln>
          <a:effectLst/>
        </p:spPr>
      </p:pic>
      <p:pic>
        <p:nvPicPr>
          <p:cNvPr id="35" name="Picture 34" descr="myanmar-hurricane_00000099_2_GT.png"/>
          <p:cNvPicPr>
            <a:picLocks noChangeAspect="1"/>
          </p:cNvPicPr>
          <p:nvPr/>
        </p:nvPicPr>
        <p:blipFill>
          <a:blip r:embed="rId22"/>
          <a:stretch>
            <a:fillRect/>
          </a:stretch>
        </p:blipFill>
        <p:spPr>
          <a:xfrm>
            <a:off x="1962000" y="1584000"/>
            <a:ext cx="525600" cy="525600"/>
          </a:xfrm>
          <a:prstGeom prst="rect">
            <a:avLst/>
          </a:prstGeom>
          <a:ln w="5080">
            <a:solidFill>
              <a:srgbClr val="A7ADB3"/>
            </a:solidFill>
          </a:ln>
          <a:effectLst/>
        </p:spPr>
      </p:pic>
      <p:pic>
        <p:nvPicPr>
          <p:cNvPr id="36" name="Picture 35" descr="myanmar-hurricane_00000099_3_U-Net.png"/>
          <p:cNvPicPr>
            <a:picLocks noChangeAspect="1"/>
          </p:cNvPicPr>
          <p:nvPr/>
        </p:nvPicPr>
        <p:blipFill>
          <a:blip r:embed="rId23"/>
          <a:stretch>
            <a:fillRect/>
          </a:stretch>
        </p:blipFill>
        <p:spPr>
          <a:xfrm>
            <a:off x="2538000" y="1584000"/>
            <a:ext cx="525600" cy="525600"/>
          </a:xfrm>
          <a:prstGeom prst="rect">
            <a:avLst/>
          </a:prstGeom>
          <a:ln w="5080">
            <a:solidFill>
              <a:srgbClr val="A7ADB3"/>
            </a:solidFill>
          </a:ln>
          <a:effectLst/>
        </p:spPr>
      </p:pic>
      <p:pic>
        <p:nvPicPr>
          <p:cNvPr id="37" name="Picture 36" descr="myanmar-hurricane_00000099_4_DeepLabv3+.png"/>
          <p:cNvPicPr>
            <a:picLocks noChangeAspect="1"/>
          </p:cNvPicPr>
          <p:nvPr/>
        </p:nvPicPr>
        <p:blipFill>
          <a:blip r:embed="rId24"/>
          <a:stretch>
            <a:fillRect/>
          </a:stretch>
        </p:blipFill>
        <p:spPr>
          <a:xfrm>
            <a:off x="3114000" y="1584000"/>
            <a:ext cx="525600" cy="525600"/>
          </a:xfrm>
          <a:prstGeom prst="rect">
            <a:avLst/>
          </a:prstGeom>
          <a:ln w="5080">
            <a:solidFill>
              <a:srgbClr val="A7ADB3"/>
            </a:solidFill>
          </a:ln>
          <a:effectLst/>
        </p:spPr>
      </p:pic>
      <p:pic>
        <p:nvPicPr>
          <p:cNvPr id="38" name="Picture 37" descr="myanmar-hurricane_00000099_5_SiamAttnUNet.png"/>
          <p:cNvPicPr>
            <a:picLocks noChangeAspect="1"/>
          </p:cNvPicPr>
          <p:nvPr/>
        </p:nvPicPr>
        <p:blipFill>
          <a:blip r:embed="rId25"/>
          <a:stretch>
            <a:fillRect/>
          </a:stretch>
        </p:blipFill>
        <p:spPr>
          <a:xfrm>
            <a:off x="3690000" y="1584000"/>
            <a:ext cx="525600" cy="525600"/>
          </a:xfrm>
          <a:prstGeom prst="rect">
            <a:avLst/>
          </a:prstGeom>
          <a:ln w="5080">
            <a:solidFill>
              <a:srgbClr val="A7ADB3"/>
            </a:solidFill>
          </a:ln>
          <a:effectLst/>
        </p:spPr>
      </p:pic>
      <p:pic>
        <p:nvPicPr>
          <p:cNvPr id="39" name="Picture 38" descr="myanmar-hurricane_00000099_6_SiamCRNN.png"/>
          <p:cNvPicPr>
            <a:picLocks noChangeAspect="1"/>
          </p:cNvPicPr>
          <p:nvPr/>
        </p:nvPicPr>
        <p:blipFill>
          <a:blip r:embed="rId26"/>
          <a:stretch>
            <a:fillRect/>
          </a:stretch>
        </p:blipFill>
        <p:spPr>
          <a:xfrm>
            <a:off x="4266000" y="1584000"/>
            <a:ext cx="525600" cy="525600"/>
          </a:xfrm>
          <a:prstGeom prst="rect">
            <a:avLst/>
          </a:prstGeom>
          <a:ln w="5080">
            <a:solidFill>
              <a:srgbClr val="A7ADB3"/>
            </a:solidFill>
          </a:ln>
          <a:effectLst/>
        </p:spPr>
      </p:pic>
      <p:pic>
        <p:nvPicPr>
          <p:cNvPr id="40" name="Picture 39" descr="myanmar-hurricane_00000099_7_DamageFormer.png"/>
          <p:cNvPicPr>
            <a:picLocks noChangeAspect="1"/>
          </p:cNvPicPr>
          <p:nvPr/>
        </p:nvPicPr>
        <p:blipFill>
          <a:blip r:embed="rId27"/>
          <a:stretch>
            <a:fillRect/>
          </a:stretch>
        </p:blipFill>
        <p:spPr>
          <a:xfrm>
            <a:off x="4842000" y="1584000"/>
            <a:ext cx="525600" cy="525600"/>
          </a:xfrm>
          <a:prstGeom prst="rect">
            <a:avLst/>
          </a:prstGeom>
          <a:ln w="5080">
            <a:solidFill>
              <a:srgbClr val="A7ADB3"/>
            </a:solidFill>
          </a:ln>
          <a:effectLst/>
        </p:spPr>
      </p:pic>
      <p:pic>
        <p:nvPicPr>
          <p:cNvPr id="41" name="Picture 40" descr="myanmar-hurricane_00000099_8_MPF.png"/>
          <p:cNvPicPr>
            <a:picLocks noChangeAspect="1"/>
          </p:cNvPicPr>
          <p:nvPr/>
        </p:nvPicPr>
        <p:blipFill>
          <a:blip r:embed="rId28"/>
          <a:stretch>
            <a:fillRect/>
          </a:stretch>
        </p:blipFill>
        <p:spPr>
          <a:xfrm>
            <a:off x="5418000" y="1584000"/>
            <a:ext cx="525600" cy="525600"/>
          </a:xfrm>
          <a:prstGeom prst="rect">
            <a:avLst/>
          </a:prstGeom>
          <a:ln w="5080">
            <a:solidFill>
              <a:srgbClr val="A7ADB3"/>
            </a:solidFill>
          </a:ln>
          <a:effectLst/>
        </p:spPr>
      </p:pic>
      <p:sp>
        <p:nvSpPr>
          <p:cNvPr id="42" name="TextBox 41"/>
          <p:cNvSpPr txBox="1"/>
          <p:nvPr/>
        </p:nvSpPr>
        <p:spPr>
          <a:xfrm>
            <a:off x="36000" y="212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libya</a:t>
            </a:r>
          </a:p>
          <a:p>
            <a:pPr algn="ctr">
              <a:spcBef>
                <a:spcPts val="0"/>
              </a:spcBef>
              <a:spcAft>
                <a:spcPts val="0"/>
              </a:spcAft>
            </a:pPr>
            <a:r>
              <a:rPr sz="800" b="0">
                <a:solidFill>
                  <a:srgbClr val="263746"/>
                </a:solidFill>
                <a:latin typeface="Arial"/>
              </a:rPr>
              <a:t>flood</a:t>
            </a:r>
          </a:p>
          <a:p>
            <a:pPr algn="ctr">
              <a:spcBef>
                <a:spcPts val="0"/>
              </a:spcBef>
              <a:spcAft>
                <a:spcPts val="0"/>
              </a:spcAft>
            </a:pPr>
            <a:r>
              <a:rPr sz="800" b="0">
                <a:solidFill>
                  <a:srgbClr val="263746"/>
                </a:solidFill>
                <a:latin typeface="Arial"/>
              </a:rPr>
              <a:t>00000021</a:t>
            </a:r>
          </a:p>
          <a:p>
            <a:pPr algn="ctr">
              <a:spcBef>
                <a:spcPts val="0"/>
              </a:spcBef>
              <a:spcAft>
                <a:spcPts val="0"/>
              </a:spcAft>
            </a:pPr>
            <a:r>
              <a:rPr sz="800" b="0">
                <a:solidFill>
                  <a:srgbClr val="263746"/>
                </a:solidFill>
                <a:latin typeface="Arial"/>
              </a:rPr>
              <a:t>768 × 768 px</a:t>
            </a:r>
          </a:p>
        </p:txBody>
      </p:sp>
      <p:pic>
        <p:nvPicPr>
          <p:cNvPr id="43" name="Picture 42" descr="libya-flood_00000021_0_RGB.png"/>
          <p:cNvPicPr>
            <a:picLocks noChangeAspect="1"/>
          </p:cNvPicPr>
          <p:nvPr/>
        </p:nvPicPr>
        <p:blipFill>
          <a:blip r:embed="rId29"/>
          <a:stretch>
            <a:fillRect/>
          </a:stretch>
        </p:blipFill>
        <p:spPr>
          <a:xfrm>
            <a:off x="810000" y="2124000"/>
            <a:ext cx="525600" cy="525600"/>
          </a:xfrm>
          <a:prstGeom prst="rect">
            <a:avLst/>
          </a:prstGeom>
          <a:ln w="5080">
            <a:solidFill>
              <a:srgbClr val="A7ADB3"/>
            </a:solidFill>
          </a:ln>
          <a:effectLst/>
        </p:spPr>
      </p:pic>
      <p:pic>
        <p:nvPicPr>
          <p:cNvPr id="44" name="Picture 43" descr="libya-flood_00000021_1_SAR.png"/>
          <p:cNvPicPr>
            <a:picLocks noChangeAspect="1"/>
          </p:cNvPicPr>
          <p:nvPr/>
        </p:nvPicPr>
        <p:blipFill>
          <a:blip r:embed="rId30"/>
          <a:stretch>
            <a:fillRect/>
          </a:stretch>
        </p:blipFill>
        <p:spPr>
          <a:xfrm>
            <a:off x="1386000" y="2124000"/>
            <a:ext cx="525600" cy="525600"/>
          </a:xfrm>
          <a:prstGeom prst="rect">
            <a:avLst/>
          </a:prstGeom>
          <a:ln w="5080">
            <a:solidFill>
              <a:srgbClr val="A7ADB3"/>
            </a:solidFill>
          </a:ln>
          <a:effectLst/>
        </p:spPr>
      </p:pic>
      <p:pic>
        <p:nvPicPr>
          <p:cNvPr id="45" name="Picture 44" descr="libya-flood_00000021_2_GT.png"/>
          <p:cNvPicPr>
            <a:picLocks noChangeAspect="1"/>
          </p:cNvPicPr>
          <p:nvPr/>
        </p:nvPicPr>
        <p:blipFill>
          <a:blip r:embed="rId31"/>
          <a:stretch>
            <a:fillRect/>
          </a:stretch>
        </p:blipFill>
        <p:spPr>
          <a:xfrm>
            <a:off x="1962000" y="2124000"/>
            <a:ext cx="525600" cy="525600"/>
          </a:xfrm>
          <a:prstGeom prst="rect">
            <a:avLst/>
          </a:prstGeom>
          <a:ln w="5080">
            <a:solidFill>
              <a:srgbClr val="A7ADB3"/>
            </a:solidFill>
          </a:ln>
          <a:effectLst/>
        </p:spPr>
      </p:pic>
      <p:pic>
        <p:nvPicPr>
          <p:cNvPr id="46" name="Picture 45" descr="libya-flood_00000021_3_U-Net.png"/>
          <p:cNvPicPr>
            <a:picLocks noChangeAspect="1"/>
          </p:cNvPicPr>
          <p:nvPr/>
        </p:nvPicPr>
        <p:blipFill>
          <a:blip r:embed="rId32"/>
          <a:stretch>
            <a:fillRect/>
          </a:stretch>
        </p:blipFill>
        <p:spPr>
          <a:xfrm>
            <a:off x="2538000" y="2124000"/>
            <a:ext cx="525600" cy="525600"/>
          </a:xfrm>
          <a:prstGeom prst="rect">
            <a:avLst/>
          </a:prstGeom>
          <a:ln w="5080">
            <a:solidFill>
              <a:srgbClr val="A7ADB3"/>
            </a:solidFill>
          </a:ln>
          <a:effectLst/>
        </p:spPr>
      </p:pic>
      <p:pic>
        <p:nvPicPr>
          <p:cNvPr id="47" name="Picture 46" descr="libya-flood_00000021_4_DeepLabv3+.png"/>
          <p:cNvPicPr>
            <a:picLocks noChangeAspect="1"/>
          </p:cNvPicPr>
          <p:nvPr/>
        </p:nvPicPr>
        <p:blipFill>
          <a:blip r:embed="rId33"/>
          <a:stretch>
            <a:fillRect/>
          </a:stretch>
        </p:blipFill>
        <p:spPr>
          <a:xfrm>
            <a:off x="3114000" y="2124000"/>
            <a:ext cx="525600" cy="525600"/>
          </a:xfrm>
          <a:prstGeom prst="rect">
            <a:avLst/>
          </a:prstGeom>
          <a:ln w="5080">
            <a:solidFill>
              <a:srgbClr val="A7ADB3"/>
            </a:solidFill>
          </a:ln>
          <a:effectLst/>
        </p:spPr>
      </p:pic>
      <p:pic>
        <p:nvPicPr>
          <p:cNvPr id="48" name="Picture 47" descr="libya-flood_00000021_5_SiamAttnUNet.png"/>
          <p:cNvPicPr>
            <a:picLocks noChangeAspect="1"/>
          </p:cNvPicPr>
          <p:nvPr/>
        </p:nvPicPr>
        <p:blipFill>
          <a:blip r:embed="rId34"/>
          <a:stretch>
            <a:fillRect/>
          </a:stretch>
        </p:blipFill>
        <p:spPr>
          <a:xfrm>
            <a:off x="3690000" y="2124000"/>
            <a:ext cx="525600" cy="525600"/>
          </a:xfrm>
          <a:prstGeom prst="rect">
            <a:avLst/>
          </a:prstGeom>
          <a:ln w="5080">
            <a:solidFill>
              <a:srgbClr val="A7ADB3"/>
            </a:solidFill>
          </a:ln>
          <a:effectLst/>
        </p:spPr>
      </p:pic>
      <p:pic>
        <p:nvPicPr>
          <p:cNvPr id="49" name="Picture 48" descr="libya-flood_00000021_6_SiamCRNN.png"/>
          <p:cNvPicPr>
            <a:picLocks noChangeAspect="1"/>
          </p:cNvPicPr>
          <p:nvPr/>
        </p:nvPicPr>
        <p:blipFill>
          <a:blip r:embed="rId35"/>
          <a:stretch>
            <a:fillRect/>
          </a:stretch>
        </p:blipFill>
        <p:spPr>
          <a:xfrm>
            <a:off x="4266000" y="2124000"/>
            <a:ext cx="525600" cy="525600"/>
          </a:xfrm>
          <a:prstGeom prst="rect">
            <a:avLst/>
          </a:prstGeom>
          <a:ln w="5080">
            <a:solidFill>
              <a:srgbClr val="A7ADB3"/>
            </a:solidFill>
          </a:ln>
          <a:effectLst/>
        </p:spPr>
      </p:pic>
      <p:pic>
        <p:nvPicPr>
          <p:cNvPr id="50" name="Picture 49" descr="libya-flood_00000021_7_DamageFormer.png"/>
          <p:cNvPicPr>
            <a:picLocks noChangeAspect="1"/>
          </p:cNvPicPr>
          <p:nvPr/>
        </p:nvPicPr>
        <p:blipFill>
          <a:blip r:embed="rId36"/>
          <a:stretch>
            <a:fillRect/>
          </a:stretch>
        </p:blipFill>
        <p:spPr>
          <a:xfrm>
            <a:off x="4842000" y="2124000"/>
            <a:ext cx="525600" cy="525600"/>
          </a:xfrm>
          <a:prstGeom prst="rect">
            <a:avLst/>
          </a:prstGeom>
          <a:ln w="5080">
            <a:solidFill>
              <a:srgbClr val="A7ADB3"/>
            </a:solidFill>
          </a:ln>
          <a:effectLst/>
        </p:spPr>
      </p:pic>
      <p:pic>
        <p:nvPicPr>
          <p:cNvPr id="51" name="Picture 50" descr="libya-flood_00000021_8_MPF.png"/>
          <p:cNvPicPr>
            <a:picLocks noChangeAspect="1"/>
          </p:cNvPicPr>
          <p:nvPr/>
        </p:nvPicPr>
        <p:blipFill>
          <a:blip r:embed="rId37"/>
          <a:stretch>
            <a:fillRect/>
          </a:stretch>
        </p:blipFill>
        <p:spPr>
          <a:xfrm>
            <a:off x="5418000" y="2124000"/>
            <a:ext cx="525600" cy="525600"/>
          </a:xfrm>
          <a:prstGeom prst="rect">
            <a:avLst/>
          </a:prstGeom>
          <a:ln w="5080">
            <a:solidFill>
              <a:srgbClr val="A7ADB3"/>
            </a:solidFill>
          </a:ln>
          <a:effectLst/>
        </p:spPr>
      </p:pic>
      <p:sp>
        <p:nvSpPr>
          <p:cNvPr id="52" name="TextBox 51"/>
          <p:cNvSpPr txBox="1"/>
          <p:nvPr/>
        </p:nvSpPr>
        <p:spPr>
          <a:xfrm>
            <a:off x="36000" y="266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bata</a:t>
            </a:r>
          </a:p>
          <a:p>
            <a:pPr algn="ctr">
              <a:spcBef>
                <a:spcPts val="0"/>
              </a:spcBef>
              <a:spcAft>
                <a:spcPts val="0"/>
              </a:spcAft>
            </a:pPr>
            <a:r>
              <a:rPr sz="800" b="0">
                <a:solidFill>
                  <a:srgbClr val="263746"/>
                </a:solidFill>
                <a:latin typeface="Arial"/>
              </a:rPr>
              <a:t>explosion</a:t>
            </a:r>
          </a:p>
          <a:p>
            <a:pPr algn="ctr">
              <a:spcBef>
                <a:spcPts val="0"/>
              </a:spcBef>
              <a:spcAft>
                <a:spcPts val="0"/>
              </a:spcAft>
            </a:pPr>
            <a:r>
              <a:rPr sz="800" b="0">
                <a:solidFill>
                  <a:srgbClr val="263746"/>
                </a:solidFill>
                <a:latin typeface="Arial"/>
              </a:rPr>
              <a:t>00000062</a:t>
            </a:r>
          </a:p>
          <a:p>
            <a:pPr algn="ctr">
              <a:spcBef>
                <a:spcPts val="0"/>
              </a:spcBef>
              <a:spcAft>
                <a:spcPts val="0"/>
              </a:spcAft>
            </a:pPr>
            <a:r>
              <a:rPr sz="800" b="0">
                <a:solidFill>
                  <a:srgbClr val="263746"/>
                </a:solidFill>
                <a:latin typeface="Arial"/>
              </a:rPr>
              <a:t>512 × 512 px</a:t>
            </a:r>
          </a:p>
        </p:txBody>
      </p:sp>
      <p:pic>
        <p:nvPicPr>
          <p:cNvPr id="53" name="Picture 52" descr="bata-explosion_00000062_0_RGB.png"/>
          <p:cNvPicPr>
            <a:picLocks noChangeAspect="1"/>
          </p:cNvPicPr>
          <p:nvPr/>
        </p:nvPicPr>
        <p:blipFill>
          <a:blip r:embed="rId38"/>
          <a:stretch>
            <a:fillRect/>
          </a:stretch>
        </p:blipFill>
        <p:spPr>
          <a:xfrm>
            <a:off x="810000" y="2664000"/>
            <a:ext cx="525600" cy="525600"/>
          </a:xfrm>
          <a:prstGeom prst="rect">
            <a:avLst/>
          </a:prstGeom>
          <a:ln w="5080">
            <a:solidFill>
              <a:srgbClr val="A7ADB3"/>
            </a:solidFill>
          </a:ln>
          <a:effectLst/>
        </p:spPr>
      </p:pic>
      <p:pic>
        <p:nvPicPr>
          <p:cNvPr id="54" name="Picture 53" descr="bata-explosion_00000062_1_SAR.png"/>
          <p:cNvPicPr>
            <a:picLocks noChangeAspect="1"/>
          </p:cNvPicPr>
          <p:nvPr/>
        </p:nvPicPr>
        <p:blipFill>
          <a:blip r:embed="rId39"/>
          <a:stretch>
            <a:fillRect/>
          </a:stretch>
        </p:blipFill>
        <p:spPr>
          <a:xfrm>
            <a:off x="1386000" y="2664000"/>
            <a:ext cx="525600" cy="525600"/>
          </a:xfrm>
          <a:prstGeom prst="rect">
            <a:avLst/>
          </a:prstGeom>
          <a:ln w="5080">
            <a:solidFill>
              <a:srgbClr val="A7ADB3"/>
            </a:solidFill>
          </a:ln>
          <a:effectLst/>
        </p:spPr>
      </p:pic>
      <p:pic>
        <p:nvPicPr>
          <p:cNvPr id="55" name="Picture 54" descr="bata-explosion_00000062_2_GT.png"/>
          <p:cNvPicPr>
            <a:picLocks noChangeAspect="1"/>
          </p:cNvPicPr>
          <p:nvPr/>
        </p:nvPicPr>
        <p:blipFill>
          <a:blip r:embed="rId40"/>
          <a:stretch>
            <a:fillRect/>
          </a:stretch>
        </p:blipFill>
        <p:spPr>
          <a:xfrm>
            <a:off x="1962000" y="2664000"/>
            <a:ext cx="525600" cy="525600"/>
          </a:xfrm>
          <a:prstGeom prst="rect">
            <a:avLst/>
          </a:prstGeom>
          <a:ln w="5080">
            <a:solidFill>
              <a:srgbClr val="A7ADB3"/>
            </a:solidFill>
          </a:ln>
          <a:effectLst/>
        </p:spPr>
      </p:pic>
      <p:pic>
        <p:nvPicPr>
          <p:cNvPr id="56" name="Picture 55" descr="bata-explosion_00000062_3_U-Net.png"/>
          <p:cNvPicPr>
            <a:picLocks noChangeAspect="1"/>
          </p:cNvPicPr>
          <p:nvPr/>
        </p:nvPicPr>
        <p:blipFill>
          <a:blip r:embed="rId41"/>
          <a:stretch>
            <a:fillRect/>
          </a:stretch>
        </p:blipFill>
        <p:spPr>
          <a:xfrm>
            <a:off x="2538000" y="2664000"/>
            <a:ext cx="525600" cy="525600"/>
          </a:xfrm>
          <a:prstGeom prst="rect">
            <a:avLst/>
          </a:prstGeom>
          <a:ln w="5080">
            <a:solidFill>
              <a:srgbClr val="A7ADB3"/>
            </a:solidFill>
          </a:ln>
          <a:effectLst/>
        </p:spPr>
      </p:pic>
      <p:pic>
        <p:nvPicPr>
          <p:cNvPr id="57" name="Picture 56" descr="bata-explosion_00000062_4_DeepLabv3+.png"/>
          <p:cNvPicPr>
            <a:picLocks noChangeAspect="1"/>
          </p:cNvPicPr>
          <p:nvPr/>
        </p:nvPicPr>
        <p:blipFill>
          <a:blip r:embed="rId42"/>
          <a:stretch>
            <a:fillRect/>
          </a:stretch>
        </p:blipFill>
        <p:spPr>
          <a:xfrm>
            <a:off x="3114000" y="2664000"/>
            <a:ext cx="525600" cy="525600"/>
          </a:xfrm>
          <a:prstGeom prst="rect">
            <a:avLst/>
          </a:prstGeom>
          <a:ln w="5080">
            <a:solidFill>
              <a:srgbClr val="A7ADB3"/>
            </a:solidFill>
          </a:ln>
          <a:effectLst/>
        </p:spPr>
      </p:pic>
      <p:pic>
        <p:nvPicPr>
          <p:cNvPr id="58" name="Picture 57" descr="bata-explosion_00000062_5_SiamAttnUNet.png"/>
          <p:cNvPicPr>
            <a:picLocks noChangeAspect="1"/>
          </p:cNvPicPr>
          <p:nvPr/>
        </p:nvPicPr>
        <p:blipFill>
          <a:blip r:embed="rId43"/>
          <a:stretch>
            <a:fillRect/>
          </a:stretch>
        </p:blipFill>
        <p:spPr>
          <a:xfrm>
            <a:off x="3690000" y="2664000"/>
            <a:ext cx="525600" cy="525600"/>
          </a:xfrm>
          <a:prstGeom prst="rect">
            <a:avLst/>
          </a:prstGeom>
          <a:ln w="5080">
            <a:solidFill>
              <a:srgbClr val="A7ADB3"/>
            </a:solidFill>
          </a:ln>
          <a:effectLst/>
        </p:spPr>
      </p:pic>
      <p:pic>
        <p:nvPicPr>
          <p:cNvPr id="59" name="Picture 58" descr="bata-explosion_00000062_6_SiamCRNN.png"/>
          <p:cNvPicPr>
            <a:picLocks noChangeAspect="1"/>
          </p:cNvPicPr>
          <p:nvPr/>
        </p:nvPicPr>
        <p:blipFill>
          <a:blip r:embed="rId44"/>
          <a:stretch>
            <a:fillRect/>
          </a:stretch>
        </p:blipFill>
        <p:spPr>
          <a:xfrm>
            <a:off x="4266000" y="2664000"/>
            <a:ext cx="525600" cy="525600"/>
          </a:xfrm>
          <a:prstGeom prst="rect">
            <a:avLst/>
          </a:prstGeom>
          <a:ln w="5080">
            <a:solidFill>
              <a:srgbClr val="A7ADB3"/>
            </a:solidFill>
          </a:ln>
          <a:effectLst/>
        </p:spPr>
      </p:pic>
      <p:pic>
        <p:nvPicPr>
          <p:cNvPr id="60" name="Picture 59" descr="bata-explosion_00000062_7_DamageFormer.png"/>
          <p:cNvPicPr>
            <a:picLocks noChangeAspect="1"/>
          </p:cNvPicPr>
          <p:nvPr/>
        </p:nvPicPr>
        <p:blipFill>
          <a:blip r:embed="rId45"/>
          <a:stretch>
            <a:fillRect/>
          </a:stretch>
        </p:blipFill>
        <p:spPr>
          <a:xfrm>
            <a:off x="4842000" y="2664000"/>
            <a:ext cx="525600" cy="525600"/>
          </a:xfrm>
          <a:prstGeom prst="rect">
            <a:avLst/>
          </a:prstGeom>
          <a:ln w="5080">
            <a:solidFill>
              <a:srgbClr val="A7ADB3"/>
            </a:solidFill>
          </a:ln>
          <a:effectLst/>
        </p:spPr>
      </p:pic>
      <p:pic>
        <p:nvPicPr>
          <p:cNvPr id="61" name="Picture 60" descr="bata-explosion_00000062_8_MPF.png"/>
          <p:cNvPicPr>
            <a:picLocks noChangeAspect="1"/>
          </p:cNvPicPr>
          <p:nvPr/>
        </p:nvPicPr>
        <p:blipFill>
          <a:blip r:embed="rId46"/>
          <a:stretch>
            <a:fillRect/>
          </a:stretch>
        </p:blipFill>
        <p:spPr>
          <a:xfrm>
            <a:off x="5418000" y="2664000"/>
            <a:ext cx="525600" cy="525600"/>
          </a:xfrm>
          <a:prstGeom prst="rect">
            <a:avLst/>
          </a:prstGeom>
          <a:ln w="5080">
            <a:solidFill>
              <a:srgbClr val="A7ADB3"/>
            </a:solidFill>
          </a:ln>
          <a:effectLst/>
        </p:spPr>
      </p:pic>
      <p:sp>
        <p:nvSpPr>
          <p:cNvPr id="62" name="TextBox 61"/>
          <p:cNvSpPr txBox="1"/>
          <p:nvPr/>
        </p:nvSpPr>
        <p:spPr>
          <a:xfrm>
            <a:off x="36000" y="3204000"/>
            <a:ext cx="648000" cy="525600"/>
          </a:xfrm>
          <a:prstGeom prst="rect">
            <a:avLst/>
          </a:prstGeom>
          <a:noFill/>
          <a:effectLst/>
        </p:spPr>
        <p:txBody>
          <a:bodyPr wrap="square" lIns="10800" rIns="10800" tIns="3600" bIns="3600" anchor="ctr">
            <a:spAutoFit/>
          </a:bodyPr>
          <a:lstStyle/>
          <a:p>
            <a:pPr algn="ctr">
              <a:spcBef>
                <a:spcPts val="0"/>
              </a:spcBef>
              <a:spcAft>
                <a:spcPts val="0"/>
              </a:spcAft>
            </a:pPr>
            <a:r>
              <a:rPr sz="800" b="0">
                <a:solidFill>
                  <a:srgbClr val="263746"/>
                </a:solidFill>
                <a:latin typeface="Arial"/>
              </a:rPr>
              <a:t>bata</a:t>
            </a:r>
          </a:p>
          <a:p>
            <a:pPr algn="ctr">
              <a:spcBef>
                <a:spcPts val="0"/>
              </a:spcBef>
              <a:spcAft>
                <a:spcPts val="0"/>
              </a:spcAft>
            </a:pPr>
            <a:r>
              <a:rPr sz="800" b="0">
                <a:solidFill>
                  <a:srgbClr val="263746"/>
                </a:solidFill>
                <a:latin typeface="Arial"/>
              </a:rPr>
              <a:t>explosion</a:t>
            </a:r>
          </a:p>
          <a:p>
            <a:pPr algn="ctr">
              <a:spcBef>
                <a:spcPts val="0"/>
              </a:spcBef>
              <a:spcAft>
                <a:spcPts val="0"/>
              </a:spcAft>
            </a:pPr>
            <a:r>
              <a:rPr sz="800" b="0">
                <a:solidFill>
                  <a:srgbClr val="263746"/>
                </a:solidFill>
                <a:latin typeface="Arial"/>
              </a:rPr>
              <a:t>00000049</a:t>
            </a:r>
          </a:p>
          <a:p>
            <a:pPr algn="ctr">
              <a:spcBef>
                <a:spcPts val="0"/>
              </a:spcBef>
              <a:spcAft>
                <a:spcPts val="0"/>
              </a:spcAft>
            </a:pPr>
            <a:r>
              <a:rPr sz="800" b="0">
                <a:solidFill>
                  <a:srgbClr val="263746"/>
                </a:solidFill>
                <a:latin typeface="Arial"/>
              </a:rPr>
              <a:t>512 × 512 px</a:t>
            </a:r>
          </a:p>
        </p:txBody>
      </p:sp>
      <p:pic>
        <p:nvPicPr>
          <p:cNvPr id="63" name="Picture 62" descr="bata-explosion_00000049_0_RGB.png"/>
          <p:cNvPicPr>
            <a:picLocks noChangeAspect="1"/>
          </p:cNvPicPr>
          <p:nvPr/>
        </p:nvPicPr>
        <p:blipFill>
          <a:blip r:embed="rId47"/>
          <a:stretch>
            <a:fillRect/>
          </a:stretch>
        </p:blipFill>
        <p:spPr>
          <a:xfrm>
            <a:off x="810000" y="3204000"/>
            <a:ext cx="525600" cy="525600"/>
          </a:xfrm>
          <a:prstGeom prst="rect">
            <a:avLst/>
          </a:prstGeom>
          <a:ln w="5080">
            <a:solidFill>
              <a:srgbClr val="A7ADB3"/>
            </a:solidFill>
          </a:ln>
          <a:effectLst/>
        </p:spPr>
      </p:pic>
      <p:pic>
        <p:nvPicPr>
          <p:cNvPr id="64" name="Picture 63" descr="bata-explosion_00000049_1_SAR.png"/>
          <p:cNvPicPr>
            <a:picLocks noChangeAspect="1"/>
          </p:cNvPicPr>
          <p:nvPr/>
        </p:nvPicPr>
        <p:blipFill>
          <a:blip r:embed="rId48"/>
          <a:stretch>
            <a:fillRect/>
          </a:stretch>
        </p:blipFill>
        <p:spPr>
          <a:xfrm>
            <a:off x="1386000" y="3204000"/>
            <a:ext cx="525600" cy="525600"/>
          </a:xfrm>
          <a:prstGeom prst="rect">
            <a:avLst/>
          </a:prstGeom>
          <a:ln w="5080">
            <a:solidFill>
              <a:srgbClr val="A7ADB3"/>
            </a:solidFill>
          </a:ln>
          <a:effectLst/>
        </p:spPr>
      </p:pic>
      <p:pic>
        <p:nvPicPr>
          <p:cNvPr id="65" name="Picture 64" descr="bata-explosion_00000049_2_GT.png"/>
          <p:cNvPicPr>
            <a:picLocks noChangeAspect="1"/>
          </p:cNvPicPr>
          <p:nvPr/>
        </p:nvPicPr>
        <p:blipFill>
          <a:blip r:embed="rId49"/>
          <a:stretch>
            <a:fillRect/>
          </a:stretch>
        </p:blipFill>
        <p:spPr>
          <a:xfrm>
            <a:off x="1962000" y="3204000"/>
            <a:ext cx="525600" cy="525600"/>
          </a:xfrm>
          <a:prstGeom prst="rect">
            <a:avLst/>
          </a:prstGeom>
          <a:ln w="5080">
            <a:solidFill>
              <a:srgbClr val="A7ADB3"/>
            </a:solidFill>
          </a:ln>
          <a:effectLst/>
        </p:spPr>
      </p:pic>
      <p:pic>
        <p:nvPicPr>
          <p:cNvPr id="66" name="Picture 65" descr="bata-explosion_00000049_3_U-Net.png"/>
          <p:cNvPicPr>
            <a:picLocks noChangeAspect="1"/>
          </p:cNvPicPr>
          <p:nvPr/>
        </p:nvPicPr>
        <p:blipFill>
          <a:blip r:embed="rId50"/>
          <a:stretch>
            <a:fillRect/>
          </a:stretch>
        </p:blipFill>
        <p:spPr>
          <a:xfrm>
            <a:off x="2538000" y="3204000"/>
            <a:ext cx="525600" cy="525600"/>
          </a:xfrm>
          <a:prstGeom prst="rect">
            <a:avLst/>
          </a:prstGeom>
          <a:ln w="5080">
            <a:solidFill>
              <a:srgbClr val="A7ADB3"/>
            </a:solidFill>
          </a:ln>
          <a:effectLst/>
        </p:spPr>
      </p:pic>
      <p:pic>
        <p:nvPicPr>
          <p:cNvPr id="67" name="Picture 66" descr="bata-explosion_00000049_4_DeepLabv3+.png"/>
          <p:cNvPicPr>
            <a:picLocks noChangeAspect="1"/>
          </p:cNvPicPr>
          <p:nvPr/>
        </p:nvPicPr>
        <p:blipFill>
          <a:blip r:embed="rId51"/>
          <a:stretch>
            <a:fillRect/>
          </a:stretch>
        </p:blipFill>
        <p:spPr>
          <a:xfrm>
            <a:off x="3114000" y="3204000"/>
            <a:ext cx="525600" cy="525600"/>
          </a:xfrm>
          <a:prstGeom prst="rect">
            <a:avLst/>
          </a:prstGeom>
          <a:ln w="5080">
            <a:solidFill>
              <a:srgbClr val="A7ADB3"/>
            </a:solidFill>
          </a:ln>
          <a:effectLst/>
        </p:spPr>
      </p:pic>
      <p:pic>
        <p:nvPicPr>
          <p:cNvPr id="68" name="Picture 67" descr="bata-explosion_00000049_5_SiamAttnUNet.png"/>
          <p:cNvPicPr>
            <a:picLocks noChangeAspect="1"/>
          </p:cNvPicPr>
          <p:nvPr/>
        </p:nvPicPr>
        <p:blipFill>
          <a:blip r:embed="rId52"/>
          <a:stretch>
            <a:fillRect/>
          </a:stretch>
        </p:blipFill>
        <p:spPr>
          <a:xfrm>
            <a:off x="3690000" y="3204000"/>
            <a:ext cx="525600" cy="525600"/>
          </a:xfrm>
          <a:prstGeom prst="rect">
            <a:avLst/>
          </a:prstGeom>
          <a:ln w="5080">
            <a:solidFill>
              <a:srgbClr val="A7ADB3"/>
            </a:solidFill>
          </a:ln>
          <a:effectLst/>
        </p:spPr>
      </p:pic>
      <p:pic>
        <p:nvPicPr>
          <p:cNvPr id="69" name="Picture 68" descr="bata-explosion_00000049_6_SiamCRNN.png"/>
          <p:cNvPicPr>
            <a:picLocks noChangeAspect="1"/>
          </p:cNvPicPr>
          <p:nvPr/>
        </p:nvPicPr>
        <p:blipFill>
          <a:blip r:embed="rId53"/>
          <a:stretch>
            <a:fillRect/>
          </a:stretch>
        </p:blipFill>
        <p:spPr>
          <a:xfrm>
            <a:off x="4266000" y="3204000"/>
            <a:ext cx="525600" cy="525600"/>
          </a:xfrm>
          <a:prstGeom prst="rect">
            <a:avLst/>
          </a:prstGeom>
          <a:ln w="5080">
            <a:solidFill>
              <a:srgbClr val="A7ADB3"/>
            </a:solidFill>
          </a:ln>
          <a:effectLst/>
        </p:spPr>
      </p:pic>
      <p:pic>
        <p:nvPicPr>
          <p:cNvPr id="70" name="Picture 69" descr="bata-explosion_00000049_7_DamageFormer.png"/>
          <p:cNvPicPr>
            <a:picLocks noChangeAspect="1"/>
          </p:cNvPicPr>
          <p:nvPr/>
        </p:nvPicPr>
        <p:blipFill>
          <a:blip r:embed="rId54"/>
          <a:stretch>
            <a:fillRect/>
          </a:stretch>
        </p:blipFill>
        <p:spPr>
          <a:xfrm>
            <a:off x="4842000" y="3204000"/>
            <a:ext cx="525600" cy="525600"/>
          </a:xfrm>
          <a:prstGeom prst="rect">
            <a:avLst/>
          </a:prstGeom>
          <a:ln w="5080">
            <a:solidFill>
              <a:srgbClr val="A7ADB3"/>
            </a:solidFill>
          </a:ln>
          <a:effectLst/>
        </p:spPr>
      </p:pic>
      <p:pic>
        <p:nvPicPr>
          <p:cNvPr id="71" name="Picture 70" descr="bata-explosion_00000049_8_MPF.png"/>
          <p:cNvPicPr>
            <a:picLocks noChangeAspect="1"/>
          </p:cNvPicPr>
          <p:nvPr/>
        </p:nvPicPr>
        <p:blipFill>
          <a:blip r:embed="rId55"/>
          <a:stretch>
            <a:fillRect/>
          </a:stretch>
        </p:blipFill>
        <p:spPr>
          <a:xfrm>
            <a:off x="5418000" y="3204000"/>
            <a:ext cx="525600" cy="525600"/>
          </a:xfrm>
          <a:prstGeom prst="rect">
            <a:avLst/>
          </a:prstGeom>
          <a:ln w="5080">
            <a:solidFill>
              <a:srgbClr val="A7ADB3"/>
            </a:solidFill>
          </a:ln>
          <a:effectLst/>
        </p:spPr>
      </p:pic>
      <p:sp>
        <p:nvSpPr>
          <p:cNvPr id="72" name="Rectangle 71"/>
          <p:cNvSpPr/>
          <p:nvPr/>
        </p:nvSpPr>
        <p:spPr>
          <a:xfrm>
            <a:off x="846000" y="3751200"/>
            <a:ext cx="100800" cy="100800"/>
          </a:xfrm>
          <a:prstGeom prst="rect">
            <a:avLst/>
          </a:prstGeom>
          <a:solidFill>
            <a:srgbClr val="FFFFFF"/>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a:effectLst/>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1359"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Pre-event RGB</a:t>
            </a:r>
          </a:p>
        </p:txBody>
      </p:sp>
      <p:pic>
        <p:nvPicPr>
          <p:cNvPr id="3" name="Picture 2" descr="image.png"/>
          <p:cNvPicPr>
            <a:picLocks noChangeAspect="1"/>
          </p:cNvPicPr>
          <p:nvPr/>
        </p:nvPicPr>
        <p:blipFill>
          <a:blip r:embed="rId2"/>
          <a:srcRect/>
          <a:stretch>
            <a:fillRect/>
          </a:stretch>
        </p:blipFill>
        <p:spPr>
          <a:xfrm>
            <a:off x="171359" y="640512"/>
            <a:ext cx="1378224" cy="1378224"/>
          </a:xfrm>
          <a:prstGeom prst="rect">
            <a:avLst/>
          </a:prstGeom>
          <a:effectLst/>
        </p:spPr>
      </p:pic>
      <p:sp>
        <p:nvSpPr>
          <p:cNvPr id="4" name="Rectangle 3"/>
          <p:cNvSpPr/>
          <p:nvPr/>
        </p:nvSpPr>
        <p:spPr>
          <a:xfrm>
            <a:off x="171359"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73342" y="697938"/>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rcRect/>
          <a:stretch>
            <a:fillRect/>
          </a:stretch>
        </p:blipFill>
        <p:spPr>
          <a:xfrm>
            <a:off x="171359" y="2224368"/>
            <a:ext cx="1378224" cy="1378224"/>
          </a:xfrm>
          <a:prstGeom prst="rect">
            <a:avLst/>
          </a:prstGeom>
          <a:effectLst/>
        </p:spPr>
      </p:pic>
      <p:sp>
        <p:nvSpPr>
          <p:cNvPr id="7" name="Rectangle 6"/>
          <p:cNvSpPr/>
          <p:nvPr/>
        </p:nvSpPr>
        <p:spPr>
          <a:xfrm>
            <a:off x="171359"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637712"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Ground truth</a:t>
            </a:r>
          </a:p>
        </p:txBody>
      </p:sp>
      <p:pic>
        <p:nvPicPr>
          <p:cNvPr id="9" name="Picture 8" descr="image.png"/>
          <p:cNvPicPr>
            <a:picLocks noChangeAspect="1"/>
          </p:cNvPicPr>
          <p:nvPr/>
        </p:nvPicPr>
        <p:blipFill>
          <a:blip r:embed="rId4"/>
          <a:srcRect/>
          <a:stretch>
            <a:fillRect/>
          </a:stretch>
        </p:blipFill>
        <p:spPr>
          <a:xfrm>
            <a:off x="1637712" y="640512"/>
            <a:ext cx="1378224" cy="1378224"/>
          </a:xfrm>
          <a:prstGeom prst="rect">
            <a:avLst/>
          </a:prstGeom>
          <a:effectLst/>
        </p:spPr>
      </p:pic>
      <p:sp>
        <p:nvSpPr>
          <p:cNvPr id="10" name="Rectangle 9"/>
          <p:cNvSpPr/>
          <p:nvPr/>
        </p:nvSpPr>
        <p:spPr>
          <a:xfrm>
            <a:off x="1637712"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2039694" y="697938"/>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rcRect/>
          <a:stretch>
            <a:fillRect/>
          </a:stretch>
        </p:blipFill>
        <p:spPr>
          <a:xfrm>
            <a:off x="1637712" y="2224368"/>
            <a:ext cx="1378224" cy="1378224"/>
          </a:xfrm>
          <a:prstGeom prst="rect">
            <a:avLst/>
          </a:prstGeom>
          <a:effectLst/>
        </p:spPr>
      </p:pic>
      <p:sp>
        <p:nvSpPr>
          <p:cNvPr id="13" name="Rectangle 12"/>
          <p:cNvSpPr/>
          <p:nvPr/>
        </p:nvSpPr>
        <p:spPr>
          <a:xfrm>
            <a:off x="1637712"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104064"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DamageFormer</a:t>
            </a:r>
          </a:p>
        </p:txBody>
      </p:sp>
      <p:pic>
        <p:nvPicPr>
          <p:cNvPr id="15" name="Picture 14" descr="image.png"/>
          <p:cNvPicPr>
            <a:picLocks noChangeAspect="1"/>
          </p:cNvPicPr>
          <p:nvPr/>
        </p:nvPicPr>
        <p:blipFill>
          <a:blip r:embed="rId6"/>
          <a:srcRect/>
          <a:stretch>
            <a:fillRect/>
          </a:stretch>
        </p:blipFill>
        <p:spPr>
          <a:xfrm>
            <a:off x="3104064" y="640512"/>
            <a:ext cx="1378224" cy="1378224"/>
          </a:xfrm>
          <a:prstGeom prst="rect">
            <a:avLst/>
          </a:prstGeom>
          <a:effectLst/>
        </p:spPr>
      </p:pic>
      <p:sp>
        <p:nvSpPr>
          <p:cNvPr id="16" name="Rectangle 15"/>
          <p:cNvSpPr/>
          <p:nvPr/>
        </p:nvSpPr>
        <p:spPr>
          <a:xfrm>
            <a:off x="3104064"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506046" y="697938"/>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rcRect/>
          <a:stretch>
            <a:fillRect/>
          </a:stretch>
        </p:blipFill>
        <p:spPr>
          <a:xfrm>
            <a:off x="3104064" y="2224368"/>
            <a:ext cx="1378224" cy="1378224"/>
          </a:xfrm>
          <a:prstGeom prst="rect">
            <a:avLst/>
          </a:prstGeom>
          <a:effectLst/>
        </p:spPr>
      </p:pic>
      <p:sp>
        <p:nvSpPr>
          <p:cNvPr id="19" name="Rectangle 18"/>
          <p:cNvSpPr/>
          <p:nvPr/>
        </p:nvSpPr>
        <p:spPr>
          <a:xfrm>
            <a:off x="3104064"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0416"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MPF</a:t>
            </a:r>
          </a:p>
        </p:txBody>
      </p:sp>
      <p:pic>
        <p:nvPicPr>
          <p:cNvPr id="21" name="Picture 20" descr="image.png"/>
          <p:cNvPicPr>
            <a:picLocks noChangeAspect="1"/>
          </p:cNvPicPr>
          <p:nvPr/>
        </p:nvPicPr>
        <p:blipFill>
          <a:blip r:embed="rId8"/>
          <a:srcRect/>
          <a:stretch>
            <a:fillRect/>
          </a:stretch>
        </p:blipFill>
        <p:spPr>
          <a:xfrm>
            <a:off x="4570416" y="640512"/>
            <a:ext cx="1378224" cy="1378224"/>
          </a:xfrm>
          <a:prstGeom prst="rect">
            <a:avLst/>
          </a:prstGeom>
          <a:effectLst/>
        </p:spPr>
      </p:pic>
      <p:sp>
        <p:nvSpPr>
          <p:cNvPr id="22" name="Rectangle 21"/>
          <p:cNvSpPr/>
          <p:nvPr/>
        </p:nvSpPr>
        <p:spPr>
          <a:xfrm>
            <a:off x="4570416"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972398" y="697938"/>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9"/>
          <a:srcRect/>
          <a:stretch>
            <a:fillRect/>
          </a:stretch>
        </p:blipFill>
        <p:spPr>
          <a:xfrm>
            <a:off x="4570416" y="2224368"/>
            <a:ext cx="1378224" cy="1378224"/>
          </a:xfrm>
          <a:prstGeom prst="rect">
            <a:avLst/>
          </a:prstGeom>
          <a:effectLst/>
        </p:spPr>
      </p:pic>
      <p:sp>
        <p:nvSpPr>
          <p:cNvPr id="25" name="Rectangle 24"/>
          <p:cNvSpPr/>
          <p:nvPr/>
        </p:nvSpPr>
        <p:spPr>
          <a:xfrm>
            <a:off x="4570416"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71359" y="2067696"/>
            <a:ext cx="5777280" cy="102816"/>
          </a:xfrm>
          <a:prstGeom prst="rect">
            <a:avLst/>
          </a:prstGeom>
          <a:noFill/>
          <a:effectLst/>
        </p:spPr>
        <p:txBody>
          <a:bodyPr wrap="none" tIns="0" bIns="0" lIns="0" rIns="0" anchor="ctr">
            <a:spAutoFit/>
          </a:bodyPr>
          <a:lstStyle/>
          <a:p>
            <a:pPr algn="ctr"/>
            <a:r>
              <a:rPr sz="643" b="0">
                <a:solidFill>
                  <a:srgbClr val="147DA8"/>
                </a:solidFill>
                <a:latin typeface="Liberation Serif"/>
              </a:rPr>
              <a:t>Enlarged blue-box window; the same location is used in every column.</a:t>
            </a:r>
          </a:p>
        </p:txBody>
      </p:sp>
      <p:sp>
        <p:nvSpPr>
          <p:cNvPr id="27" name="Rectangle 26"/>
          <p:cNvSpPr/>
          <p:nvPr/>
        </p:nvSpPr>
        <p:spPr>
          <a:xfrm>
            <a:off x="1532448" y="3680928"/>
            <a:ext cx="63648" cy="63648"/>
          </a:xfrm>
          <a:prstGeom prst="rect">
            <a:avLst/>
          </a:prstGeom>
          <a:solidFill>
            <a:srgbClr val="FFFFFF"/>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63036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Background</a:t>
            </a:r>
          </a:p>
        </p:txBody>
      </p:sp>
      <p:sp>
        <p:nvSpPr>
          <p:cNvPr id="29" name="Rectangle 28"/>
          <p:cNvSpPr/>
          <p:nvPr/>
        </p:nvSpPr>
        <p:spPr>
          <a:xfrm>
            <a:off x="2291328" y="3680928"/>
            <a:ext cx="63648" cy="63648"/>
          </a:xfrm>
          <a:prstGeom prst="rect">
            <a:avLst/>
          </a:prstGeom>
          <a:solidFill>
            <a:srgbClr val="46B579"/>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238924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Intact</a:t>
            </a:r>
          </a:p>
        </p:txBody>
      </p:sp>
      <p:sp>
        <p:nvSpPr>
          <p:cNvPr id="31" name="Rectangle 30"/>
          <p:cNvSpPr/>
          <p:nvPr/>
        </p:nvSpPr>
        <p:spPr>
          <a:xfrm>
            <a:off x="3050208" y="3680928"/>
            <a:ext cx="63648" cy="63648"/>
          </a:xfrm>
          <a:prstGeom prst="rect">
            <a:avLst/>
          </a:prstGeom>
          <a:solidFill>
            <a:srgbClr val="E4BD8B"/>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14812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Damaged</a:t>
            </a:r>
          </a:p>
        </p:txBody>
      </p:sp>
      <p:sp>
        <p:nvSpPr>
          <p:cNvPr id="33" name="Rectangle 32"/>
          <p:cNvSpPr/>
          <p:nvPr/>
        </p:nvSpPr>
        <p:spPr>
          <a:xfrm>
            <a:off x="3809088" y="3680928"/>
            <a:ext cx="63648" cy="63648"/>
          </a:xfrm>
          <a:prstGeom prst="rect">
            <a:avLst/>
          </a:prstGeom>
          <a:solidFill>
            <a:srgbClr val="B64645"/>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90700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Destroyed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1359"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Pre-event RGB</a:t>
            </a:r>
          </a:p>
        </p:txBody>
      </p:sp>
      <p:pic>
        <p:nvPicPr>
          <p:cNvPr id="3" name="Picture 2" descr="image.png"/>
          <p:cNvPicPr>
            <a:picLocks noChangeAspect="1"/>
          </p:cNvPicPr>
          <p:nvPr/>
        </p:nvPicPr>
        <p:blipFill>
          <a:blip r:embed="rId2"/>
          <a:srcRect/>
          <a:stretch>
            <a:fillRect/>
          </a:stretch>
        </p:blipFill>
        <p:spPr>
          <a:xfrm>
            <a:off x="171359" y="640512"/>
            <a:ext cx="1378224" cy="1378224"/>
          </a:xfrm>
          <a:prstGeom prst="rect">
            <a:avLst/>
          </a:prstGeom>
          <a:effectLst/>
        </p:spPr>
      </p:pic>
      <p:sp>
        <p:nvSpPr>
          <p:cNvPr id="4" name="Rectangle 3"/>
          <p:cNvSpPr/>
          <p:nvPr/>
        </p:nvSpPr>
        <p:spPr>
          <a:xfrm>
            <a:off x="171359"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774332" y="1501902"/>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rcRect/>
          <a:stretch>
            <a:fillRect/>
          </a:stretch>
        </p:blipFill>
        <p:spPr>
          <a:xfrm>
            <a:off x="171359" y="2224368"/>
            <a:ext cx="1378224" cy="1378224"/>
          </a:xfrm>
          <a:prstGeom prst="rect">
            <a:avLst/>
          </a:prstGeom>
          <a:effectLst/>
        </p:spPr>
      </p:pic>
      <p:sp>
        <p:nvSpPr>
          <p:cNvPr id="7" name="Rectangle 6"/>
          <p:cNvSpPr/>
          <p:nvPr/>
        </p:nvSpPr>
        <p:spPr>
          <a:xfrm>
            <a:off x="171359"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637712"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Ground truth</a:t>
            </a:r>
          </a:p>
        </p:txBody>
      </p:sp>
      <p:pic>
        <p:nvPicPr>
          <p:cNvPr id="9" name="Picture 8" descr="image.png"/>
          <p:cNvPicPr>
            <a:picLocks noChangeAspect="1"/>
          </p:cNvPicPr>
          <p:nvPr/>
        </p:nvPicPr>
        <p:blipFill>
          <a:blip r:embed="rId4"/>
          <a:srcRect/>
          <a:stretch>
            <a:fillRect/>
          </a:stretch>
        </p:blipFill>
        <p:spPr>
          <a:xfrm>
            <a:off x="1637712" y="640512"/>
            <a:ext cx="1378224" cy="1378224"/>
          </a:xfrm>
          <a:prstGeom prst="rect">
            <a:avLst/>
          </a:prstGeom>
          <a:effectLst/>
        </p:spPr>
      </p:pic>
      <p:sp>
        <p:nvSpPr>
          <p:cNvPr id="10" name="Rectangle 9"/>
          <p:cNvSpPr/>
          <p:nvPr/>
        </p:nvSpPr>
        <p:spPr>
          <a:xfrm>
            <a:off x="1637712"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2240685" y="1501902"/>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rcRect/>
          <a:stretch>
            <a:fillRect/>
          </a:stretch>
        </p:blipFill>
        <p:spPr>
          <a:xfrm>
            <a:off x="1637712" y="2224368"/>
            <a:ext cx="1378224" cy="1378224"/>
          </a:xfrm>
          <a:prstGeom prst="rect">
            <a:avLst/>
          </a:prstGeom>
          <a:effectLst/>
        </p:spPr>
      </p:pic>
      <p:sp>
        <p:nvSpPr>
          <p:cNvPr id="13" name="Rectangle 12"/>
          <p:cNvSpPr/>
          <p:nvPr/>
        </p:nvSpPr>
        <p:spPr>
          <a:xfrm>
            <a:off x="1637712"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104064"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DamageFormer</a:t>
            </a:r>
          </a:p>
        </p:txBody>
      </p:sp>
      <p:pic>
        <p:nvPicPr>
          <p:cNvPr id="15" name="Picture 14" descr="image.png"/>
          <p:cNvPicPr>
            <a:picLocks noChangeAspect="1"/>
          </p:cNvPicPr>
          <p:nvPr/>
        </p:nvPicPr>
        <p:blipFill>
          <a:blip r:embed="rId6"/>
          <a:srcRect/>
          <a:stretch>
            <a:fillRect/>
          </a:stretch>
        </p:blipFill>
        <p:spPr>
          <a:xfrm>
            <a:off x="3104064" y="640512"/>
            <a:ext cx="1378224" cy="1378224"/>
          </a:xfrm>
          <a:prstGeom prst="rect">
            <a:avLst/>
          </a:prstGeom>
          <a:effectLst/>
        </p:spPr>
      </p:pic>
      <p:sp>
        <p:nvSpPr>
          <p:cNvPr id="16" name="Rectangle 15"/>
          <p:cNvSpPr/>
          <p:nvPr/>
        </p:nvSpPr>
        <p:spPr>
          <a:xfrm>
            <a:off x="3104064"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707037" y="1501902"/>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rcRect/>
          <a:stretch>
            <a:fillRect/>
          </a:stretch>
        </p:blipFill>
        <p:spPr>
          <a:xfrm>
            <a:off x="3104064" y="2224368"/>
            <a:ext cx="1378224" cy="1378224"/>
          </a:xfrm>
          <a:prstGeom prst="rect">
            <a:avLst/>
          </a:prstGeom>
          <a:effectLst/>
        </p:spPr>
      </p:pic>
      <p:sp>
        <p:nvSpPr>
          <p:cNvPr id="19" name="Rectangle 18"/>
          <p:cNvSpPr/>
          <p:nvPr/>
        </p:nvSpPr>
        <p:spPr>
          <a:xfrm>
            <a:off x="3104064"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0416" y="444672"/>
            <a:ext cx="1378224" cy="137088"/>
          </a:xfrm>
          <a:prstGeom prst="rect">
            <a:avLst/>
          </a:prstGeom>
          <a:noFill/>
          <a:effectLst/>
        </p:spPr>
        <p:txBody>
          <a:bodyPr wrap="none" tIns="0" bIns="0" lIns="0" rIns="0" anchor="ctr">
            <a:spAutoFit/>
          </a:bodyPr>
          <a:lstStyle/>
          <a:p>
            <a:pPr algn="ctr"/>
            <a:r>
              <a:rPr sz="910" b="1">
                <a:solidFill>
                  <a:srgbClr val="000000"/>
                </a:solidFill>
                <a:latin typeface="Liberation Serif"/>
              </a:rPr>
              <a:t>MPF</a:t>
            </a:r>
          </a:p>
        </p:txBody>
      </p:sp>
      <p:pic>
        <p:nvPicPr>
          <p:cNvPr id="21" name="Picture 20" descr="image.png"/>
          <p:cNvPicPr>
            <a:picLocks noChangeAspect="1"/>
          </p:cNvPicPr>
          <p:nvPr/>
        </p:nvPicPr>
        <p:blipFill>
          <a:blip r:embed="rId8"/>
          <a:srcRect/>
          <a:stretch>
            <a:fillRect/>
          </a:stretch>
        </p:blipFill>
        <p:spPr>
          <a:xfrm>
            <a:off x="4570416" y="640512"/>
            <a:ext cx="1378224" cy="1378224"/>
          </a:xfrm>
          <a:prstGeom prst="rect">
            <a:avLst/>
          </a:prstGeom>
          <a:effectLst/>
        </p:spPr>
      </p:pic>
      <p:sp>
        <p:nvSpPr>
          <p:cNvPr id="22" name="Rectangle 21"/>
          <p:cNvSpPr/>
          <p:nvPr/>
        </p:nvSpPr>
        <p:spPr>
          <a:xfrm>
            <a:off x="4570416" y="640512"/>
            <a:ext cx="1378224" cy="1378224"/>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173389" y="1501902"/>
            <a:ext cx="344555" cy="344555"/>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9"/>
          <a:srcRect/>
          <a:stretch>
            <a:fillRect/>
          </a:stretch>
        </p:blipFill>
        <p:spPr>
          <a:xfrm>
            <a:off x="4570416" y="2224368"/>
            <a:ext cx="1378224" cy="1378224"/>
          </a:xfrm>
          <a:prstGeom prst="rect">
            <a:avLst/>
          </a:prstGeom>
          <a:effectLst/>
        </p:spPr>
      </p:pic>
      <p:sp>
        <p:nvSpPr>
          <p:cNvPr id="25" name="Rectangle 24"/>
          <p:cNvSpPr/>
          <p:nvPr/>
        </p:nvSpPr>
        <p:spPr>
          <a:xfrm>
            <a:off x="4570416" y="2224368"/>
            <a:ext cx="1378224" cy="137822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71359" y="2067696"/>
            <a:ext cx="5777280" cy="102816"/>
          </a:xfrm>
          <a:prstGeom prst="rect">
            <a:avLst/>
          </a:prstGeom>
          <a:noFill/>
          <a:effectLst/>
        </p:spPr>
        <p:txBody>
          <a:bodyPr wrap="none" tIns="0" bIns="0" lIns="0" rIns="0" anchor="ctr">
            <a:spAutoFit/>
          </a:bodyPr>
          <a:lstStyle/>
          <a:p>
            <a:pPr algn="ctr"/>
            <a:r>
              <a:rPr sz="643" b="0">
                <a:solidFill>
                  <a:srgbClr val="147DA8"/>
                </a:solidFill>
                <a:latin typeface="Liberation Serif"/>
              </a:rPr>
              <a:t>Enlarged blue-box window; the same location is used in every column.</a:t>
            </a:r>
          </a:p>
        </p:txBody>
      </p:sp>
      <p:sp>
        <p:nvSpPr>
          <p:cNvPr id="27" name="Rectangle 26"/>
          <p:cNvSpPr/>
          <p:nvPr/>
        </p:nvSpPr>
        <p:spPr>
          <a:xfrm>
            <a:off x="1532448" y="3680928"/>
            <a:ext cx="63648" cy="63648"/>
          </a:xfrm>
          <a:prstGeom prst="rect">
            <a:avLst/>
          </a:prstGeom>
          <a:solidFill>
            <a:srgbClr val="FFFFFF"/>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63036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Background</a:t>
            </a:r>
          </a:p>
        </p:txBody>
      </p:sp>
      <p:sp>
        <p:nvSpPr>
          <p:cNvPr id="29" name="Rectangle 28"/>
          <p:cNvSpPr/>
          <p:nvPr/>
        </p:nvSpPr>
        <p:spPr>
          <a:xfrm>
            <a:off x="2291328" y="3680928"/>
            <a:ext cx="63648" cy="63648"/>
          </a:xfrm>
          <a:prstGeom prst="rect">
            <a:avLst/>
          </a:prstGeom>
          <a:solidFill>
            <a:srgbClr val="46B579"/>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238924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Intact</a:t>
            </a:r>
          </a:p>
        </p:txBody>
      </p:sp>
      <p:sp>
        <p:nvSpPr>
          <p:cNvPr id="31" name="Rectangle 30"/>
          <p:cNvSpPr/>
          <p:nvPr/>
        </p:nvSpPr>
        <p:spPr>
          <a:xfrm>
            <a:off x="3050208" y="3680928"/>
            <a:ext cx="63648" cy="63648"/>
          </a:xfrm>
          <a:prstGeom prst="rect">
            <a:avLst/>
          </a:prstGeom>
          <a:solidFill>
            <a:srgbClr val="E4BD8B"/>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14812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Damaged</a:t>
            </a:r>
          </a:p>
        </p:txBody>
      </p:sp>
      <p:sp>
        <p:nvSpPr>
          <p:cNvPr id="33" name="Rectangle 32"/>
          <p:cNvSpPr/>
          <p:nvPr/>
        </p:nvSpPr>
        <p:spPr>
          <a:xfrm>
            <a:off x="3809088" y="3680928"/>
            <a:ext cx="63648" cy="63648"/>
          </a:xfrm>
          <a:prstGeom prst="rect">
            <a:avLst/>
          </a:prstGeom>
          <a:solidFill>
            <a:srgbClr val="B64645"/>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907008" y="3666240"/>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Destroyed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1359" y="444672"/>
            <a:ext cx="1084953" cy="137088"/>
          </a:xfrm>
          <a:prstGeom prst="rect">
            <a:avLst/>
          </a:prstGeom>
          <a:noFill/>
          <a:effectLst/>
        </p:spPr>
        <p:txBody>
          <a:bodyPr wrap="none" tIns="0" bIns="0" lIns="0" rIns="0" anchor="ctr">
            <a:spAutoFit/>
          </a:bodyPr>
          <a:lstStyle/>
          <a:p>
            <a:pPr algn="ctr"/>
            <a:r>
              <a:rPr sz="803" b="1">
                <a:solidFill>
                  <a:srgbClr val="000000"/>
                </a:solidFill>
                <a:latin typeface="Liberation Serif"/>
              </a:rPr>
              <a:t>Pre-event RGB</a:t>
            </a:r>
          </a:p>
        </p:txBody>
      </p:sp>
      <p:pic>
        <p:nvPicPr>
          <p:cNvPr id="3" name="Picture 2" descr="image.png"/>
          <p:cNvPicPr>
            <a:picLocks noChangeAspect="1"/>
          </p:cNvPicPr>
          <p:nvPr/>
        </p:nvPicPr>
        <p:blipFill>
          <a:blip r:embed="rId2"/>
          <a:srcRect/>
          <a:stretch>
            <a:fillRect/>
          </a:stretch>
        </p:blipFill>
        <p:spPr>
          <a:xfrm>
            <a:off x="171359" y="640512"/>
            <a:ext cx="1084953" cy="1084953"/>
          </a:xfrm>
          <a:prstGeom prst="rect">
            <a:avLst/>
          </a:prstGeom>
          <a:effectLst/>
        </p:spPr>
      </p:pic>
      <p:sp>
        <p:nvSpPr>
          <p:cNvPr id="4" name="Rectangle 3"/>
          <p:cNvSpPr/>
          <p:nvPr/>
        </p:nvSpPr>
        <p:spPr>
          <a:xfrm>
            <a:off x="171359" y="640512"/>
            <a:ext cx="1084953" cy="1084953"/>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24586" y="1623751"/>
            <a:ext cx="101714" cy="10171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rcRect/>
          <a:stretch>
            <a:fillRect/>
          </a:stretch>
        </p:blipFill>
        <p:spPr>
          <a:xfrm>
            <a:off x="171359" y="1931097"/>
            <a:ext cx="1084953" cy="1084953"/>
          </a:xfrm>
          <a:prstGeom prst="rect">
            <a:avLst/>
          </a:prstGeom>
          <a:effectLst/>
        </p:spPr>
      </p:pic>
      <p:sp>
        <p:nvSpPr>
          <p:cNvPr id="7" name="Rectangle 6"/>
          <p:cNvSpPr/>
          <p:nvPr/>
        </p:nvSpPr>
        <p:spPr>
          <a:xfrm>
            <a:off x="171359" y="1931097"/>
            <a:ext cx="1084953" cy="1084953"/>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344441" y="444672"/>
            <a:ext cx="1084953" cy="137088"/>
          </a:xfrm>
          <a:prstGeom prst="rect">
            <a:avLst/>
          </a:prstGeom>
          <a:noFill/>
          <a:effectLst/>
        </p:spPr>
        <p:txBody>
          <a:bodyPr wrap="none" tIns="0" bIns="0" lIns="0" rIns="0" anchor="ctr">
            <a:spAutoFit/>
          </a:bodyPr>
          <a:lstStyle/>
          <a:p>
            <a:pPr algn="ctr"/>
            <a:r>
              <a:rPr sz="803" b="1">
                <a:solidFill>
                  <a:srgbClr val="000000"/>
                </a:solidFill>
                <a:latin typeface="Liberation Serif"/>
              </a:rPr>
              <a:t>Post-event SAR</a:t>
            </a:r>
          </a:p>
        </p:txBody>
      </p:sp>
      <p:pic>
        <p:nvPicPr>
          <p:cNvPr id="9" name="Picture 8" descr="image.png"/>
          <p:cNvPicPr>
            <a:picLocks noChangeAspect="1"/>
          </p:cNvPicPr>
          <p:nvPr/>
        </p:nvPicPr>
        <p:blipFill>
          <a:blip r:embed="rId4"/>
          <a:srcRect/>
          <a:stretch>
            <a:fillRect/>
          </a:stretch>
        </p:blipFill>
        <p:spPr>
          <a:xfrm>
            <a:off x="1344441" y="640512"/>
            <a:ext cx="1084953" cy="1084953"/>
          </a:xfrm>
          <a:prstGeom prst="rect">
            <a:avLst/>
          </a:prstGeom>
          <a:effectLst/>
        </p:spPr>
      </p:pic>
      <p:sp>
        <p:nvSpPr>
          <p:cNvPr id="10" name="Rectangle 9"/>
          <p:cNvSpPr/>
          <p:nvPr/>
        </p:nvSpPr>
        <p:spPr>
          <a:xfrm>
            <a:off x="1344441" y="640512"/>
            <a:ext cx="1084953" cy="1084953"/>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597667" y="1623751"/>
            <a:ext cx="101714" cy="10171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rcRect/>
          <a:stretch>
            <a:fillRect/>
          </a:stretch>
        </p:blipFill>
        <p:spPr>
          <a:xfrm>
            <a:off x="1344441" y="1931097"/>
            <a:ext cx="1084953" cy="1084953"/>
          </a:xfrm>
          <a:prstGeom prst="rect">
            <a:avLst/>
          </a:prstGeom>
          <a:effectLst/>
        </p:spPr>
      </p:pic>
      <p:sp>
        <p:nvSpPr>
          <p:cNvPr id="13" name="Rectangle 12"/>
          <p:cNvSpPr/>
          <p:nvPr/>
        </p:nvSpPr>
        <p:spPr>
          <a:xfrm>
            <a:off x="1344441" y="1931097"/>
            <a:ext cx="1084953" cy="1084953"/>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517523" y="444672"/>
            <a:ext cx="1084953" cy="137088"/>
          </a:xfrm>
          <a:prstGeom prst="rect">
            <a:avLst/>
          </a:prstGeom>
          <a:noFill/>
          <a:effectLst/>
        </p:spPr>
        <p:txBody>
          <a:bodyPr wrap="none" tIns="0" bIns="0" lIns="0" rIns="0" anchor="ctr">
            <a:spAutoFit/>
          </a:bodyPr>
          <a:lstStyle/>
          <a:p>
            <a:pPr algn="ctr"/>
            <a:r>
              <a:rPr sz="803" b="1">
                <a:solidFill>
                  <a:srgbClr val="000000"/>
                </a:solidFill>
                <a:latin typeface="Liberation Serif"/>
              </a:rPr>
              <a:t>Ground truth</a:t>
            </a:r>
          </a:p>
        </p:txBody>
      </p:sp>
      <p:pic>
        <p:nvPicPr>
          <p:cNvPr id="15" name="Picture 14" descr="image.png"/>
          <p:cNvPicPr>
            <a:picLocks noChangeAspect="1"/>
          </p:cNvPicPr>
          <p:nvPr/>
        </p:nvPicPr>
        <p:blipFill>
          <a:blip r:embed="rId6"/>
          <a:srcRect/>
          <a:stretch>
            <a:fillRect/>
          </a:stretch>
        </p:blipFill>
        <p:spPr>
          <a:xfrm>
            <a:off x="2517523" y="640512"/>
            <a:ext cx="1084953" cy="1084953"/>
          </a:xfrm>
          <a:prstGeom prst="rect">
            <a:avLst/>
          </a:prstGeom>
          <a:effectLst/>
        </p:spPr>
      </p:pic>
      <p:sp>
        <p:nvSpPr>
          <p:cNvPr id="16" name="Rectangle 15"/>
          <p:cNvSpPr/>
          <p:nvPr/>
        </p:nvSpPr>
        <p:spPr>
          <a:xfrm>
            <a:off x="2517523" y="640512"/>
            <a:ext cx="1084953" cy="1084953"/>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770749" y="1623751"/>
            <a:ext cx="101714" cy="10171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rcRect/>
          <a:stretch>
            <a:fillRect/>
          </a:stretch>
        </p:blipFill>
        <p:spPr>
          <a:xfrm>
            <a:off x="2517523" y="1931097"/>
            <a:ext cx="1084953" cy="1084953"/>
          </a:xfrm>
          <a:prstGeom prst="rect">
            <a:avLst/>
          </a:prstGeom>
          <a:effectLst/>
        </p:spPr>
      </p:pic>
      <p:sp>
        <p:nvSpPr>
          <p:cNvPr id="19" name="Rectangle 18"/>
          <p:cNvSpPr/>
          <p:nvPr/>
        </p:nvSpPr>
        <p:spPr>
          <a:xfrm>
            <a:off x="2517523" y="1931097"/>
            <a:ext cx="1084953" cy="1084953"/>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690605" y="444672"/>
            <a:ext cx="1084953" cy="137088"/>
          </a:xfrm>
          <a:prstGeom prst="rect">
            <a:avLst/>
          </a:prstGeom>
          <a:noFill/>
          <a:effectLst/>
        </p:spPr>
        <p:txBody>
          <a:bodyPr wrap="none" tIns="0" bIns="0" lIns="0" rIns="0" anchor="ctr">
            <a:spAutoFit/>
          </a:bodyPr>
          <a:lstStyle/>
          <a:p>
            <a:pPr algn="ctr"/>
            <a:r>
              <a:rPr sz="803" b="1">
                <a:solidFill>
                  <a:srgbClr val="000000"/>
                </a:solidFill>
                <a:latin typeface="Liberation Serif"/>
              </a:rPr>
              <a:t>DamageFormer</a:t>
            </a:r>
          </a:p>
        </p:txBody>
      </p:sp>
      <p:pic>
        <p:nvPicPr>
          <p:cNvPr id="21" name="Picture 20" descr="image.png"/>
          <p:cNvPicPr>
            <a:picLocks noChangeAspect="1"/>
          </p:cNvPicPr>
          <p:nvPr/>
        </p:nvPicPr>
        <p:blipFill>
          <a:blip r:embed="rId8"/>
          <a:srcRect/>
          <a:stretch>
            <a:fillRect/>
          </a:stretch>
        </p:blipFill>
        <p:spPr>
          <a:xfrm>
            <a:off x="3690605" y="640512"/>
            <a:ext cx="1084953" cy="1084953"/>
          </a:xfrm>
          <a:prstGeom prst="rect">
            <a:avLst/>
          </a:prstGeom>
          <a:effectLst/>
        </p:spPr>
      </p:pic>
      <p:sp>
        <p:nvSpPr>
          <p:cNvPr id="22" name="Rectangle 21"/>
          <p:cNvSpPr/>
          <p:nvPr/>
        </p:nvSpPr>
        <p:spPr>
          <a:xfrm>
            <a:off x="3690605" y="640512"/>
            <a:ext cx="1084953" cy="1084953"/>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3943831" y="1623751"/>
            <a:ext cx="101714" cy="10171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9"/>
          <a:srcRect/>
          <a:stretch>
            <a:fillRect/>
          </a:stretch>
        </p:blipFill>
        <p:spPr>
          <a:xfrm>
            <a:off x="3690605" y="1931097"/>
            <a:ext cx="1084953" cy="1084953"/>
          </a:xfrm>
          <a:prstGeom prst="rect">
            <a:avLst/>
          </a:prstGeom>
          <a:effectLst/>
        </p:spPr>
      </p:pic>
      <p:sp>
        <p:nvSpPr>
          <p:cNvPr id="25" name="Rectangle 24"/>
          <p:cNvSpPr/>
          <p:nvPr/>
        </p:nvSpPr>
        <p:spPr>
          <a:xfrm>
            <a:off x="3690605" y="1931097"/>
            <a:ext cx="1084953" cy="1084953"/>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63686" y="444672"/>
            <a:ext cx="1084953" cy="137088"/>
          </a:xfrm>
          <a:prstGeom prst="rect">
            <a:avLst/>
          </a:prstGeom>
          <a:noFill/>
          <a:effectLst/>
        </p:spPr>
        <p:txBody>
          <a:bodyPr wrap="none" tIns="0" bIns="0" lIns="0" rIns="0" anchor="ctr">
            <a:spAutoFit/>
          </a:bodyPr>
          <a:lstStyle/>
          <a:p>
            <a:pPr algn="ctr"/>
            <a:r>
              <a:rPr sz="803" b="1">
                <a:solidFill>
                  <a:srgbClr val="000000"/>
                </a:solidFill>
                <a:latin typeface="Liberation Serif"/>
              </a:rPr>
              <a:t>MPF</a:t>
            </a:r>
          </a:p>
        </p:txBody>
      </p:sp>
      <p:pic>
        <p:nvPicPr>
          <p:cNvPr id="27" name="Picture 26" descr="image.png"/>
          <p:cNvPicPr>
            <a:picLocks noChangeAspect="1"/>
          </p:cNvPicPr>
          <p:nvPr/>
        </p:nvPicPr>
        <p:blipFill>
          <a:blip r:embed="rId10"/>
          <a:srcRect/>
          <a:stretch>
            <a:fillRect/>
          </a:stretch>
        </p:blipFill>
        <p:spPr>
          <a:xfrm>
            <a:off x="4863686" y="640512"/>
            <a:ext cx="1084953" cy="1084953"/>
          </a:xfrm>
          <a:prstGeom prst="rect">
            <a:avLst/>
          </a:prstGeom>
          <a:effectLst/>
        </p:spPr>
      </p:pic>
      <p:sp>
        <p:nvSpPr>
          <p:cNvPr id="28" name="Rectangle 27"/>
          <p:cNvSpPr/>
          <p:nvPr/>
        </p:nvSpPr>
        <p:spPr>
          <a:xfrm>
            <a:off x="4863686" y="640512"/>
            <a:ext cx="1084953" cy="1084953"/>
          </a:xfrm>
          <a:prstGeom prst="rect">
            <a:avLst/>
          </a:prstGeom>
          <a:noFill/>
          <a:ln w="340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116912" y="1623751"/>
            <a:ext cx="101714" cy="101714"/>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1"/>
          <a:srcRect/>
          <a:stretch>
            <a:fillRect/>
          </a:stretch>
        </p:blipFill>
        <p:spPr>
          <a:xfrm>
            <a:off x="4863686" y="1931097"/>
            <a:ext cx="1084953" cy="1084953"/>
          </a:xfrm>
          <a:prstGeom prst="rect">
            <a:avLst/>
          </a:prstGeom>
          <a:effectLst/>
        </p:spPr>
      </p:pic>
      <p:sp>
        <p:nvSpPr>
          <p:cNvPr id="31" name="Rectangle 30"/>
          <p:cNvSpPr/>
          <p:nvPr/>
        </p:nvSpPr>
        <p:spPr>
          <a:xfrm>
            <a:off x="4863686" y="1931097"/>
            <a:ext cx="1084953" cy="1084953"/>
          </a:xfrm>
          <a:prstGeom prst="rect">
            <a:avLst/>
          </a:prstGeom>
          <a:noFill/>
          <a:ln w="7480">
            <a:solidFill>
              <a:srgbClr val="147D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71359" y="1774425"/>
            <a:ext cx="5777280" cy="102816"/>
          </a:xfrm>
          <a:prstGeom prst="rect">
            <a:avLst/>
          </a:prstGeom>
          <a:noFill/>
          <a:effectLst/>
        </p:spPr>
        <p:txBody>
          <a:bodyPr wrap="none" tIns="0" bIns="0" lIns="0" rIns="0" anchor="ctr">
            <a:spAutoFit/>
          </a:bodyPr>
          <a:lstStyle/>
          <a:p>
            <a:pPr algn="ctr"/>
            <a:r>
              <a:rPr sz="643" b="0">
                <a:solidFill>
                  <a:srgbClr val="147DA8"/>
                </a:solidFill>
                <a:latin typeface="Liberation Serif"/>
              </a:rPr>
              <a:t>Enlarged blue-box window; the same location is used in every column.</a:t>
            </a:r>
          </a:p>
        </p:txBody>
      </p:sp>
      <p:sp>
        <p:nvSpPr>
          <p:cNvPr id="33" name="Rectangle 32"/>
          <p:cNvSpPr/>
          <p:nvPr/>
        </p:nvSpPr>
        <p:spPr>
          <a:xfrm>
            <a:off x="1532448" y="3094387"/>
            <a:ext cx="63648" cy="63648"/>
          </a:xfrm>
          <a:prstGeom prst="rect">
            <a:avLst/>
          </a:prstGeom>
          <a:solidFill>
            <a:srgbClr val="FFFFFF"/>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630368" y="3079699"/>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Background</a:t>
            </a:r>
          </a:p>
        </p:txBody>
      </p:sp>
      <p:sp>
        <p:nvSpPr>
          <p:cNvPr id="35" name="Rectangle 34"/>
          <p:cNvSpPr/>
          <p:nvPr/>
        </p:nvSpPr>
        <p:spPr>
          <a:xfrm>
            <a:off x="2291328" y="3094387"/>
            <a:ext cx="63648" cy="63648"/>
          </a:xfrm>
          <a:prstGeom prst="rect">
            <a:avLst/>
          </a:prstGeom>
          <a:solidFill>
            <a:srgbClr val="46B579"/>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2389248" y="3079699"/>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Intact</a:t>
            </a:r>
          </a:p>
        </p:txBody>
      </p:sp>
      <p:sp>
        <p:nvSpPr>
          <p:cNvPr id="37" name="Rectangle 36"/>
          <p:cNvSpPr/>
          <p:nvPr/>
        </p:nvSpPr>
        <p:spPr>
          <a:xfrm>
            <a:off x="3050208" y="3094387"/>
            <a:ext cx="63648" cy="63648"/>
          </a:xfrm>
          <a:prstGeom prst="rect">
            <a:avLst/>
          </a:prstGeom>
          <a:solidFill>
            <a:srgbClr val="E4BD8B"/>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3148128" y="3079699"/>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Damaged</a:t>
            </a:r>
          </a:p>
        </p:txBody>
      </p:sp>
      <p:sp>
        <p:nvSpPr>
          <p:cNvPr id="39" name="Rectangle 38"/>
          <p:cNvSpPr/>
          <p:nvPr/>
        </p:nvSpPr>
        <p:spPr>
          <a:xfrm>
            <a:off x="3809088" y="3094387"/>
            <a:ext cx="63648" cy="63648"/>
          </a:xfrm>
          <a:prstGeom prst="rect">
            <a:avLst/>
          </a:prstGeom>
          <a:solidFill>
            <a:srgbClr val="B64645"/>
          </a:solidFill>
          <a:ln w="2720">
            <a:solidFill>
              <a:srgbClr val="B8B8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3907008" y="3079699"/>
            <a:ext cx="597312" cy="102816"/>
          </a:xfrm>
          <a:prstGeom prst="rect">
            <a:avLst/>
          </a:prstGeom>
          <a:noFill/>
          <a:effectLst/>
        </p:spPr>
        <p:txBody>
          <a:bodyPr wrap="none" tIns="0" bIns="0" lIns="0" rIns="0" anchor="ctr">
            <a:spAutoFit/>
          </a:bodyPr>
          <a:lstStyle/>
          <a:p>
            <a:pPr algn="ctr"/>
            <a:r>
              <a:rPr sz="643" b="0">
                <a:solidFill>
                  <a:srgbClr val="000000"/>
                </a:solidFill>
                <a:latin typeface="Liberation Serif"/>
              </a:rPr>
              <a:t>Destroyed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36000"/>
            <a:ext cx="5976000" cy="216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Structure diagnostic panels</a:t>
            </a:r>
          </a:p>
        </p:txBody>
      </p:sp>
      <p:sp>
        <p:nvSpPr>
          <p:cNvPr id="3" name="TextBox 2"/>
          <p:cNvSpPr txBox="1"/>
          <p:nvPr/>
        </p:nvSpPr>
        <p:spPr>
          <a:xfrm>
            <a:off x="72000" y="270000"/>
            <a:ext cx="5976000" cy="180000"/>
          </a:xfrm>
          <a:prstGeom prst="rect">
            <a:avLst/>
          </a:prstGeom>
          <a:noFill/>
          <a:effectLst/>
        </p:spPr>
        <p:txBody>
          <a:bodyPr wrap="square" lIns="10800" rIns="10800" tIns="3600" bIns="3600" anchor="ctr">
            <a:spAutoFit/>
          </a:bodyPr>
          <a:lstStyle/>
          <a:p>
            <a:pPr algn="ctr">
              <a:spcBef>
                <a:spcPts val="0"/>
              </a:spcBef>
              <a:spcAft>
                <a:spcPts val="0"/>
              </a:spcAft>
            </a:pPr>
            <a:r>
              <a:rPr sz="900" b="0">
                <a:solidFill>
                  <a:srgbClr val="263746"/>
                </a:solidFill>
                <a:latin typeface="Arial"/>
              </a:rPr>
              <a:t>turkey-earthquake_00001065  |  source crop [256, 0, 512, 512]</a:t>
            </a:r>
          </a:p>
        </p:txBody>
      </p:sp>
      <p:sp>
        <p:nvSpPr>
          <p:cNvPr id="4" name="TextBox 3"/>
          <p:cNvSpPr txBox="1"/>
          <p:nvPr/>
        </p:nvSpPr>
        <p:spPr>
          <a:xfrm>
            <a:off x="144000" y="468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pic>
        <p:nvPicPr>
          <p:cNvPr id="5" name="Picture 4" descr="turkey-earthquake_00001065_0_RGB.png"/>
          <p:cNvPicPr>
            <a:picLocks noChangeAspect="1"/>
          </p:cNvPicPr>
          <p:nvPr/>
        </p:nvPicPr>
        <p:blipFill>
          <a:blip r:embed="rId2"/>
          <a:stretch>
            <a:fillRect/>
          </a:stretch>
        </p:blipFill>
        <p:spPr>
          <a:xfrm>
            <a:off x="144000" y="666000"/>
            <a:ext cx="1296000" cy="1296000"/>
          </a:xfrm>
          <a:prstGeom prst="rect">
            <a:avLst/>
          </a:prstGeom>
          <a:ln w="5080">
            <a:solidFill>
              <a:srgbClr val="A7ADB3"/>
            </a:solidFill>
          </a:ln>
          <a:effectLst/>
        </p:spPr>
      </p:pic>
      <p:sp>
        <p:nvSpPr>
          <p:cNvPr id="6" name="TextBox 5"/>
          <p:cNvSpPr txBox="1"/>
          <p:nvPr/>
        </p:nvSpPr>
        <p:spPr>
          <a:xfrm>
            <a:off x="1656000" y="468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pic>
        <p:nvPicPr>
          <p:cNvPr id="7" name="Picture 6" descr="turkey-earthquake_00001065_1_SAR.png"/>
          <p:cNvPicPr>
            <a:picLocks noChangeAspect="1"/>
          </p:cNvPicPr>
          <p:nvPr/>
        </p:nvPicPr>
        <p:blipFill>
          <a:blip r:embed="rId3"/>
          <a:stretch>
            <a:fillRect/>
          </a:stretch>
        </p:blipFill>
        <p:spPr>
          <a:xfrm>
            <a:off x="1656000" y="666000"/>
            <a:ext cx="1296000" cy="1296000"/>
          </a:xfrm>
          <a:prstGeom prst="rect">
            <a:avLst/>
          </a:prstGeom>
          <a:ln w="5080">
            <a:solidFill>
              <a:srgbClr val="A7ADB3"/>
            </a:solidFill>
          </a:ln>
          <a:effectLst/>
        </p:spPr>
      </p:pic>
      <p:sp>
        <p:nvSpPr>
          <p:cNvPr id="8" name="TextBox 7"/>
          <p:cNvSpPr txBox="1"/>
          <p:nvPr/>
        </p:nvSpPr>
        <p:spPr>
          <a:xfrm>
            <a:off x="3168000" y="468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pic>
        <p:nvPicPr>
          <p:cNvPr id="9" name="Picture 8" descr="turkey-earthquake_00001065_2_GT.png"/>
          <p:cNvPicPr>
            <a:picLocks noChangeAspect="1"/>
          </p:cNvPicPr>
          <p:nvPr/>
        </p:nvPicPr>
        <p:blipFill>
          <a:blip r:embed="rId4"/>
          <a:stretch>
            <a:fillRect/>
          </a:stretch>
        </p:blipFill>
        <p:spPr>
          <a:xfrm>
            <a:off x="3168000" y="666000"/>
            <a:ext cx="1296000" cy="1296000"/>
          </a:xfrm>
          <a:prstGeom prst="rect">
            <a:avLst/>
          </a:prstGeom>
          <a:ln w="5080">
            <a:solidFill>
              <a:srgbClr val="A7ADB3"/>
            </a:solidFill>
          </a:ln>
          <a:effectLst/>
        </p:spPr>
      </p:pic>
      <p:sp>
        <p:nvSpPr>
          <p:cNvPr id="10" name="TextBox 9"/>
          <p:cNvSpPr txBox="1"/>
          <p:nvPr/>
        </p:nvSpPr>
        <p:spPr>
          <a:xfrm>
            <a:off x="4680000" y="468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Building B</a:t>
            </a:r>
          </a:p>
        </p:txBody>
      </p:sp>
      <p:sp>
        <p:nvSpPr>
          <p:cNvPr id="11" name="Rectangle 10"/>
          <p:cNvSpPr/>
          <p:nvPr/>
        </p:nvSpPr>
        <p:spPr>
          <a:xfrm>
            <a:off x="4680000" y="666000"/>
            <a:ext cx="1296000" cy="129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44000" y="2016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Q: prior off</a:t>
            </a:r>
          </a:p>
        </p:txBody>
      </p:sp>
      <p:sp>
        <p:nvSpPr>
          <p:cNvPr id="13" name="Rectangle 12"/>
          <p:cNvSpPr/>
          <p:nvPr/>
        </p:nvSpPr>
        <p:spPr>
          <a:xfrm>
            <a:off x="144000" y="2214000"/>
            <a:ext cx="1296000" cy="129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656000" y="2016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Q: prior on</a:t>
            </a:r>
          </a:p>
        </p:txBody>
      </p:sp>
      <p:sp>
        <p:nvSpPr>
          <p:cNvPr id="15" name="Rectangle 14"/>
          <p:cNvSpPr/>
          <p:nvPr/>
        </p:nvSpPr>
        <p:spPr>
          <a:xfrm>
            <a:off x="1656000" y="2214000"/>
            <a:ext cx="1296000" cy="129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168000" y="2016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b(Q)</a:t>
            </a:r>
          </a:p>
        </p:txBody>
      </p:sp>
      <p:sp>
        <p:nvSpPr>
          <p:cNvPr id="17" name="Rectangle 16"/>
          <p:cNvSpPr/>
          <p:nvPr/>
        </p:nvSpPr>
        <p:spPr>
          <a:xfrm>
            <a:off x="3168000" y="2214000"/>
            <a:ext cx="1296000" cy="129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80000" y="2016000"/>
            <a:ext cx="1296000" cy="180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H(Q)</a:t>
            </a:r>
          </a:p>
        </p:txBody>
      </p:sp>
      <p:sp>
        <p:nvSpPr>
          <p:cNvPr id="19" name="Rectangle 18"/>
          <p:cNvSpPr/>
          <p:nvPr/>
        </p:nvSpPr>
        <p:spPr>
          <a:xfrm>
            <a:off x="4680000" y="2214000"/>
            <a:ext cx="1296000" cy="129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36000"/>
            <a:ext cx="5976000" cy="216000"/>
          </a:xfrm>
          <a:prstGeom prst="rect">
            <a:avLst/>
          </a:prstGeom>
          <a:noFill/>
          <a:effectLst/>
        </p:spPr>
        <p:txBody>
          <a:bodyPr wrap="square" lIns="10800" rIns="10800" tIns="3600" bIns="3600" anchor="ctr">
            <a:spAutoFit/>
          </a:bodyPr>
          <a:lstStyle/>
          <a:p>
            <a:pPr algn="ctr">
              <a:spcBef>
                <a:spcPts val="0"/>
              </a:spcBef>
              <a:spcAft>
                <a:spcPts val="0"/>
              </a:spcAft>
            </a:pPr>
            <a:r>
              <a:rPr sz="1000" b="1">
                <a:solidFill>
                  <a:srgbClr val="263746"/>
                </a:solidFill>
                <a:latin typeface="Arial"/>
              </a:rPr>
              <a:t>Retrieval and correction diagnostics</a:t>
            </a:r>
          </a:p>
        </p:txBody>
      </p:sp>
      <p:sp>
        <p:nvSpPr>
          <p:cNvPr id="3" name="TextBox 2"/>
          <p:cNvSpPr txBox="1"/>
          <p:nvPr/>
        </p:nvSpPr>
        <p:spPr>
          <a:xfrm>
            <a:off x="90000" y="288000"/>
            <a:ext cx="5903999" cy="180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Query: turkey-earthquake_00001065</a:t>
            </a:r>
          </a:p>
        </p:txBody>
      </p:sp>
      <p:sp>
        <p:nvSpPr>
          <p:cNvPr id="4" name="TextBox 3"/>
          <p:cNvSpPr txBox="1"/>
          <p:nvPr/>
        </p:nvSpPr>
        <p:spPr>
          <a:xfrm>
            <a:off x="144000" y="468000"/>
            <a:ext cx="756000" cy="144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pic>
        <p:nvPicPr>
          <p:cNvPr id="5" name="Picture 4" descr="turkey-earthquake_00001065_0_RGB.png"/>
          <p:cNvPicPr>
            <a:picLocks noChangeAspect="1"/>
          </p:cNvPicPr>
          <p:nvPr/>
        </p:nvPicPr>
        <p:blipFill>
          <a:blip r:embed="rId2"/>
          <a:stretch>
            <a:fillRect/>
          </a:stretch>
        </p:blipFill>
        <p:spPr>
          <a:xfrm>
            <a:off x="144000" y="648000"/>
            <a:ext cx="756000" cy="756000"/>
          </a:xfrm>
          <a:prstGeom prst="rect">
            <a:avLst/>
          </a:prstGeom>
          <a:ln w="5080">
            <a:solidFill>
              <a:srgbClr val="A7ADB3"/>
            </a:solidFill>
          </a:ln>
          <a:effectLst/>
        </p:spPr>
      </p:pic>
      <p:sp>
        <p:nvSpPr>
          <p:cNvPr id="6" name="TextBox 5"/>
          <p:cNvSpPr txBox="1"/>
          <p:nvPr/>
        </p:nvSpPr>
        <p:spPr>
          <a:xfrm>
            <a:off x="990000" y="468000"/>
            <a:ext cx="756000" cy="144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pic>
        <p:nvPicPr>
          <p:cNvPr id="7" name="Picture 6" descr="turkey-earthquake_00001065_1_SAR.png"/>
          <p:cNvPicPr>
            <a:picLocks noChangeAspect="1"/>
          </p:cNvPicPr>
          <p:nvPr/>
        </p:nvPicPr>
        <p:blipFill>
          <a:blip r:embed="rId3"/>
          <a:stretch>
            <a:fillRect/>
          </a:stretch>
        </p:blipFill>
        <p:spPr>
          <a:xfrm>
            <a:off x="990000" y="648000"/>
            <a:ext cx="756000" cy="756000"/>
          </a:xfrm>
          <a:prstGeom prst="rect">
            <a:avLst/>
          </a:prstGeom>
          <a:ln w="5080">
            <a:solidFill>
              <a:srgbClr val="A7ADB3"/>
            </a:solidFill>
          </a:ln>
          <a:effectLst/>
        </p:spPr>
      </p:pic>
      <p:sp>
        <p:nvSpPr>
          <p:cNvPr id="8" name="TextBox 7"/>
          <p:cNvSpPr txBox="1"/>
          <p:nvPr/>
        </p:nvSpPr>
        <p:spPr>
          <a:xfrm>
            <a:off x="1836000" y="468000"/>
            <a:ext cx="756000" cy="144000"/>
          </a:xfrm>
          <a:prstGeom prst="rect">
            <a:avLst/>
          </a:prstGeom>
          <a:noFill/>
          <a:effectLst/>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pic>
        <p:nvPicPr>
          <p:cNvPr id="9" name="Picture 8" descr="turkey-earthquake_00001065_2_GT.png"/>
          <p:cNvPicPr>
            <a:picLocks noChangeAspect="1"/>
          </p:cNvPicPr>
          <p:nvPr/>
        </p:nvPicPr>
        <p:blipFill>
          <a:blip r:embed="rId4"/>
          <a:stretch>
            <a:fillRect/>
          </a:stretch>
        </p:blipFill>
        <p:spPr>
          <a:xfrm>
            <a:off x="1836000" y="648000"/>
            <a:ext cx="756000" cy="756000"/>
          </a:xfrm>
          <a:prstGeom prst="rect">
            <a:avLst/>
          </a:prstGeom>
          <a:ln w="5080">
            <a:solidFill>
              <a:srgbClr val="A7ADB3"/>
            </a:solidFill>
          </a:ln>
          <a:effectLst/>
        </p:spPr>
      </p:pic>
      <p:sp>
        <p:nvSpPr>
          <p:cNvPr id="10" name="TextBox 9"/>
          <p:cNvSpPr txBox="1"/>
          <p:nvPr/>
        </p:nvSpPr>
        <p:spPr>
          <a:xfrm>
            <a:off x="2736000" y="360000"/>
            <a:ext cx="756000" cy="288000"/>
          </a:xfrm>
          <a:prstGeom prst="rect">
            <a:avLst/>
          </a:prstGeom>
          <a:noFill/>
          <a:effectLst/>
        </p:spPr>
        <p:txBody>
          <a:bodyPr wrap="square" lIns="10800" rIns="10800" tIns="3600" bIns="3600" anchor="ctr">
            <a:spAutoFit/>
          </a:bodyPr>
          <a:lstStyle/>
          <a:p>
            <a:pPr algn="ctr">
              <a:spcBef>
                <a:spcPts val="0"/>
              </a:spcBef>
              <a:spcAft>
                <a:spcPts val="0"/>
              </a:spcAft>
            </a:pPr>
            <a:r>
              <a:rPr sz="860" b="1">
                <a:solidFill>
                  <a:srgbClr val="263746"/>
                </a:solidFill>
                <a:latin typeface="Arial"/>
              </a:rPr>
              <a:t>MPF</a:t>
            </a:r>
          </a:p>
        </p:txBody>
      </p:sp>
      <p:pic>
        <p:nvPicPr>
          <p:cNvPr id="11" name="Picture 10" descr="turkey-earthquake_00001065_8_MPF.png"/>
          <p:cNvPicPr>
            <a:picLocks noChangeAspect="1"/>
          </p:cNvPicPr>
          <p:nvPr/>
        </p:nvPicPr>
        <p:blipFill>
          <a:blip r:embed="rId5"/>
          <a:stretch>
            <a:fillRect/>
          </a:stretch>
        </p:blipFill>
        <p:spPr>
          <a:xfrm>
            <a:off x="2736000" y="648000"/>
            <a:ext cx="756000" cy="756000"/>
          </a:xfrm>
          <a:prstGeom prst="rect">
            <a:avLst/>
          </a:prstGeom>
          <a:ln w="5080">
            <a:solidFill>
              <a:srgbClr val="A7ADB3"/>
            </a:solidFill>
          </a:ln>
          <a:effectLst/>
        </p:spPr>
      </p:pic>
      <p:sp>
        <p:nvSpPr>
          <p:cNvPr id="12" name="TextBox 11"/>
          <p:cNvSpPr txBox="1"/>
          <p:nvPr/>
        </p:nvSpPr>
        <p:spPr>
          <a:xfrm>
            <a:off x="3563999" y="360000"/>
            <a:ext cx="756000" cy="288000"/>
          </a:xfrm>
          <a:prstGeom prst="rect">
            <a:avLst/>
          </a:prstGeom>
          <a:noFill/>
          <a:effectLst/>
        </p:spPr>
        <p:txBody>
          <a:bodyPr wrap="square" lIns="10800" rIns="10800" tIns="3600" bIns="3600" anchor="ctr">
            <a:spAutoFit/>
          </a:bodyPr>
          <a:lstStyle/>
          <a:p>
            <a:pPr algn="ctr">
              <a:spcBef>
                <a:spcPts val="0"/>
              </a:spcBef>
              <a:spcAft>
                <a:spcPts val="0"/>
              </a:spcAft>
            </a:pPr>
            <a:r>
              <a:rPr sz="860" b="1">
                <a:solidFill>
                  <a:srgbClr val="263746"/>
                </a:solidFill>
                <a:latin typeface="Arial"/>
              </a:rPr>
              <a:t>Cosine Reader</a:t>
            </a:r>
          </a:p>
        </p:txBody>
      </p:sp>
      <p:sp>
        <p:nvSpPr>
          <p:cNvPr id="13" name="Rectangle 12"/>
          <p:cNvSpPr/>
          <p:nvPr/>
        </p:nvSpPr>
        <p:spPr>
          <a:xfrm>
            <a:off x="3563999" y="648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392000" y="360000"/>
            <a:ext cx="756000" cy="288000"/>
          </a:xfrm>
          <a:prstGeom prst="rect">
            <a:avLst/>
          </a:prstGeom>
          <a:noFill/>
          <a:effectLst/>
        </p:spPr>
        <p:txBody>
          <a:bodyPr wrap="square" lIns="10800" rIns="10800" tIns="3600" bIns="3600" anchor="ctr">
            <a:spAutoFit/>
          </a:bodyPr>
          <a:lstStyle/>
          <a:p>
            <a:pPr algn="ctr">
              <a:spcBef>
                <a:spcPts val="0"/>
              </a:spcBef>
              <a:spcAft>
                <a:spcPts val="0"/>
              </a:spcAft>
            </a:pPr>
            <a:r>
              <a:rPr sz="860" b="1">
                <a:solidFill>
                  <a:srgbClr val="263746"/>
                </a:solidFill>
                <a:latin typeface="Arial"/>
              </a:rPr>
              <a:t>Supervised Reader</a:t>
            </a:r>
          </a:p>
        </p:txBody>
      </p:sp>
      <p:sp>
        <p:nvSpPr>
          <p:cNvPr id="15" name="Rectangle 14"/>
          <p:cNvSpPr/>
          <p:nvPr/>
        </p:nvSpPr>
        <p:spPr>
          <a:xfrm>
            <a:off x="4392000" y="648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220000" y="360000"/>
            <a:ext cx="756000" cy="288000"/>
          </a:xfrm>
          <a:prstGeom prst="rect">
            <a:avLst/>
          </a:prstGeom>
          <a:noFill/>
          <a:effectLst/>
        </p:spPr>
        <p:txBody>
          <a:bodyPr wrap="square" lIns="10800" rIns="10800" tIns="3600" bIns="3600" anchor="ctr">
            <a:spAutoFit/>
          </a:bodyPr>
          <a:lstStyle/>
          <a:p>
            <a:pPr algn="ctr">
              <a:spcBef>
                <a:spcPts val="0"/>
              </a:spcBef>
              <a:spcAft>
                <a:spcPts val="0"/>
              </a:spcAft>
            </a:pPr>
            <a:r>
              <a:rPr sz="860" b="1">
                <a:solidFill>
                  <a:srgbClr val="263746"/>
                </a:solidFill>
                <a:latin typeface="Arial"/>
              </a:rPr>
              <a:t>Rescued / harmed</a:t>
            </a:r>
          </a:p>
        </p:txBody>
      </p:sp>
      <p:sp>
        <p:nvSpPr>
          <p:cNvPr id="17" name="Rectangle 16"/>
          <p:cNvSpPr/>
          <p:nvPr/>
        </p:nvSpPr>
        <p:spPr>
          <a:xfrm>
            <a:off x="5220000" y="648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25999" y="1548000"/>
            <a:ext cx="5868000" cy="14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Cosine-selected Train support</a:t>
            </a:r>
          </a:p>
        </p:txBody>
      </p:sp>
      <p:sp>
        <p:nvSpPr>
          <p:cNvPr id="19" name="Rectangle 18"/>
          <p:cNvSpPr/>
          <p:nvPr/>
        </p:nvSpPr>
        <p:spPr>
          <a:xfrm>
            <a:off x="144000" y="1710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44000" y="2466000"/>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RGB</a:t>
            </a:r>
          </a:p>
        </p:txBody>
      </p:sp>
      <p:sp>
        <p:nvSpPr>
          <p:cNvPr id="21" name="Rectangle 20"/>
          <p:cNvSpPr/>
          <p:nvPr/>
        </p:nvSpPr>
        <p:spPr>
          <a:xfrm>
            <a:off x="990000" y="1710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90000" y="2466000"/>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SAR</a:t>
            </a:r>
          </a:p>
        </p:txBody>
      </p:sp>
      <p:sp>
        <p:nvSpPr>
          <p:cNvPr id="23" name="Rectangle 22"/>
          <p:cNvSpPr/>
          <p:nvPr/>
        </p:nvSpPr>
        <p:spPr>
          <a:xfrm>
            <a:off x="1836000" y="1710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836000" y="2466000"/>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Train GT</a:t>
            </a:r>
          </a:p>
        </p:txBody>
      </p:sp>
      <p:sp>
        <p:nvSpPr>
          <p:cNvPr id="25" name="TextBox 24"/>
          <p:cNvSpPr txBox="1"/>
          <p:nvPr/>
        </p:nvSpPr>
        <p:spPr>
          <a:xfrm>
            <a:off x="2772000" y="1710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ID:</a:t>
            </a:r>
          </a:p>
        </p:txBody>
      </p:sp>
      <p:sp>
        <p:nvSpPr>
          <p:cNvPr id="26" name="Rectangle 25"/>
          <p:cNvSpPr/>
          <p:nvPr/>
        </p:nvSpPr>
        <p:spPr>
          <a:xfrm>
            <a:off x="2772000" y="1864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320000" y="1710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Event:</a:t>
            </a:r>
          </a:p>
        </p:txBody>
      </p:sp>
      <p:sp>
        <p:nvSpPr>
          <p:cNvPr id="28" name="Rectangle 27"/>
          <p:cNvSpPr/>
          <p:nvPr/>
        </p:nvSpPr>
        <p:spPr>
          <a:xfrm>
            <a:off x="4320000" y="1864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772000" y="2106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Similarity:</a:t>
            </a:r>
          </a:p>
        </p:txBody>
      </p:sp>
      <p:sp>
        <p:nvSpPr>
          <p:cNvPr id="30" name="Rectangle 29"/>
          <p:cNvSpPr/>
          <p:nvPr/>
        </p:nvSpPr>
        <p:spPr>
          <a:xfrm>
            <a:off x="2772000" y="2260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320000" y="2106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Class / purity:</a:t>
            </a:r>
          </a:p>
        </p:txBody>
      </p:sp>
      <p:sp>
        <p:nvSpPr>
          <p:cNvPr id="32" name="Rectangle 31"/>
          <p:cNvSpPr/>
          <p:nvPr/>
        </p:nvSpPr>
        <p:spPr>
          <a:xfrm>
            <a:off x="4320000" y="2260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25999" y="2664000"/>
            <a:ext cx="5868000" cy="144000"/>
          </a:xfrm>
          <a:prstGeom prst="rect">
            <a:avLst/>
          </a:prstGeom>
          <a:noFill/>
          <a:effectLst/>
        </p:spPr>
        <p:txBody>
          <a:bodyPr wrap="square" lIns="10800" rIns="10800" tIns="3600" bIns="3600" anchor="ctr">
            <a:spAutoFit/>
          </a:bodyPr>
          <a:lstStyle/>
          <a:p>
            <a:pPr algn="l">
              <a:spcBef>
                <a:spcPts val="0"/>
              </a:spcBef>
              <a:spcAft>
                <a:spcPts val="0"/>
              </a:spcAft>
            </a:pPr>
            <a:r>
              <a:rPr sz="900" b="1">
                <a:solidFill>
                  <a:srgbClr val="263746"/>
                </a:solidFill>
                <a:latin typeface="Arial"/>
              </a:rPr>
              <a:t>Supervised-selected Train support</a:t>
            </a:r>
          </a:p>
        </p:txBody>
      </p:sp>
      <p:sp>
        <p:nvSpPr>
          <p:cNvPr id="34" name="Rectangle 33"/>
          <p:cNvSpPr/>
          <p:nvPr/>
        </p:nvSpPr>
        <p:spPr>
          <a:xfrm>
            <a:off x="144000" y="2826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44000" y="3581999"/>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RGB</a:t>
            </a:r>
          </a:p>
        </p:txBody>
      </p:sp>
      <p:sp>
        <p:nvSpPr>
          <p:cNvPr id="36" name="Rectangle 35"/>
          <p:cNvSpPr/>
          <p:nvPr/>
        </p:nvSpPr>
        <p:spPr>
          <a:xfrm>
            <a:off x="990000" y="2826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90000" y="3581999"/>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SAR</a:t>
            </a:r>
          </a:p>
        </p:txBody>
      </p:sp>
      <p:sp>
        <p:nvSpPr>
          <p:cNvPr id="38" name="Rectangle 37"/>
          <p:cNvSpPr/>
          <p:nvPr/>
        </p:nvSpPr>
        <p:spPr>
          <a:xfrm>
            <a:off x="1836000" y="2826000"/>
            <a:ext cx="756000" cy="756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1836000" y="3581999"/>
            <a:ext cx="756000" cy="162000"/>
          </a:xfrm>
          <a:prstGeom prst="rect">
            <a:avLst/>
          </a:prstGeom>
          <a:noFill/>
          <a:effectLst/>
        </p:spPr>
        <p:txBody>
          <a:bodyPr wrap="square" lIns="10800" rIns="10800" tIns="3600" bIns="3600" anchor="ctr">
            <a:spAutoFit/>
          </a:bodyPr>
          <a:lstStyle/>
          <a:p>
            <a:pPr algn="ctr">
              <a:spcBef>
                <a:spcPts val="0"/>
              </a:spcBef>
              <a:spcAft>
                <a:spcPts val="0"/>
              </a:spcAft>
            </a:pPr>
            <a:r>
              <a:rPr sz="830" b="0">
                <a:solidFill>
                  <a:srgbClr val="263746"/>
                </a:solidFill>
                <a:latin typeface="Arial"/>
              </a:rPr>
              <a:t>Train GT</a:t>
            </a:r>
          </a:p>
        </p:txBody>
      </p:sp>
      <p:sp>
        <p:nvSpPr>
          <p:cNvPr id="40" name="TextBox 39"/>
          <p:cNvSpPr txBox="1"/>
          <p:nvPr/>
        </p:nvSpPr>
        <p:spPr>
          <a:xfrm>
            <a:off x="2772000" y="2826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ID:</a:t>
            </a:r>
          </a:p>
        </p:txBody>
      </p:sp>
      <p:sp>
        <p:nvSpPr>
          <p:cNvPr id="41" name="Rectangle 40"/>
          <p:cNvSpPr/>
          <p:nvPr/>
        </p:nvSpPr>
        <p:spPr>
          <a:xfrm>
            <a:off x="2772000" y="2980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320000" y="2826000"/>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Event:</a:t>
            </a:r>
          </a:p>
        </p:txBody>
      </p:sp>
      <p:sp>
        <p:nvSpPr>
          <p:cNvPr id="43" name="Rectangle 42"/>
          <p:cNvSpPr/>
          <p:nvPr/>
        </p:nvSpPr>
        <p:spPr>
          <a:xfrm>
            <a:off x="4320000" y="2980800"/>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2772000" y="3221999"/>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Similarity:</a:t>
            </a:r>
          </a:p>
        </p:txBody>
      </p:sp>
      <p:sp>
        <p:nvSpPr>
          <p:cNvPr id="45" name="Rectangle 44"/>
          <p:cNvSpPr/>
          <p:nvPr/>
        </p:nvSpPr>
        <p:spPr>
          <a:xfrm>
            <a:off x="2772000" y="3376799"/>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320000" y="3221999"/>
            <a:ext cx="1458000" cy="144000"/>
          </a:xfrm>
          <a:prstGeom prst="rect">
            <a:avLst/>
          </a:prstGeom>
          <a:noFill/>
          <a:effectLst/>
        </p:spPr>
        <p:txBody>
          <a:bodyPr wrap="square" lIns="10800" rIns="10800" tIns="3600" bIns="3600" anchor="ctr">
            <a:spAutoFit/>
          </a:bodyPr>
          <a:lstStyle/>
          <a:p>
            <a:pPr algn="l">
              <a:spcBef>
                <a:spcPts val="0"/>
              </a:spcBef>
              <a:spcAft>
                <a:spcPts val="0"/>
              </a:spcAft>
            </a:pPr>
            <a:r>
              <a:rPr sz="900" b="0">
                <a:solidFill>
                  <a:srgbClr val="263746"/>
                </a:solidFill>
                <a:latin typeface="Arial"/>
              </a:rPr>
              <a:t>Class / purity:</a:t>
            </a:r>
          </a:p>
        </p:txBody>
      </p:sp>
      <p:sp>
        <p:nvSpPr>
          <p:cNvPr id="47" name="Rectangle 46"/>
          <p:cNvSpPr/>
          <p:nvPr/>
        </p:nvSpPr>
        <p:spPr>
          <a:xfrm>
            <a:off x="4320000" y="3376799"/>
            <a:ext cx="1440000" cy="162000"/>
          </a:xfrm>
          <a:prstGeom prst="rect">
            <a:avLst/>
          </a:prstGeom>
          <a:solidFill>
            <a:srgbClr val="FFFFFF"/>
          </a:solidFill>
          <a:ln w="7620">
            <a:solidFill>
              <a:srgbClr val="ADB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