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Lst>
  <p:sldSz cx="6120000" cy="424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MPF is the pixel frontend from existing predictions. It is not the complete retrieval framework. Ours panels are intentionally blank until genuine full-framework predictions are provided. Identical image windows are used within each row. Different source crop sizes share display dimensions but do not imply equal spatial scales. Selected crops cannot establish full-Test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MPF is the pixel frontend from existing predictions. It is not the complete retrieval framework. Ours panels are intentionally blank until genuine full-framework predictions are provided. Identical image windows are used within each row. Different source crop sizes share display dimensions but do not imply equal spatial scales. Selected crops cannot establish full-Test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the original RGB, SAR and GT are present. All model-response panels are empty. Q-off and Q-on must use the identical query window and matched checkpoints. B is predicted building probability; b(Q) is assignment discrepancy, H(Q) is association entropy. No GT map is substituted for a model response.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Support panels are empty. They must come from genuinely selected Train IDs, with exclusion of the query image and event. Query GT is for post-hoc evaluation only. Raw cosine and supervised retrieval similarities use distinct spaces and must be identified, not compared as calibrated confidence.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MPF is the pixel frontend from existing predictions. It is not the complete retrieval framework. Ours panels are intentionally blank until genuine full-framework predictions are provided. Identical image windows are used within each row. Different source crop sizes share display dimensions but do not imply equal spatial scales. Selected crops cannot establish full-Test performance. These examples are frontend failure cases selected from existing MPF predictions, not demonstrated failures of the complete model.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MPF is the pixel frontend from existing predictions. It is not the complete retrieval framework. Ours panels are intentionally blank until genuine full-framework predictions are provided. Identical image windows are used within each row. Different source crop sizes share display dimensions but do not imply equal spatial scales. Selected crops cannot establish full-Test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MPF is the pixel frontend from existing predictions. It is not the complete retrieval framework. Ours panels are intentionally blank until genuine full-framework predictions are provided. Identical image windows are used within each row. Different source crop sizes share display dimensions but do not imply equal spatial scales. Selected crops cannot establish full-Test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MPF is the pixel frontend from existing predictions. It is not the complete retrieval framework. Ours panels are intentionally blank until genuine full-framework predictions are provided. Identical image windows are used within each row. Different source crop sizes share display dimensions but do not imply equal spatial scales. Selected crops cannot establish full-Test performance.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image" Target="../media/image10.png"/><Relationship Id="rId12" Type="http://schemas.openxmlformats.org/officeDocument/2006/relationships/image" Target="../media/image11.png"/><Relationship Id="rId13" Type="http://schemas.openxmlformats.org/officeDocument/2006/relationships/image" Target="../media/image12.png"/><Relationship Id="rId14" Type="http://schemas.openxmlformats.org/officeDocument/2006/relationships/image" Target="../media/image13.png"/><Relationship Id="rId15" Type="http://schemas.openxmlformats.org/officeDocument/2006/relationships/image" Target="../media/image14.png"/><Relationship Id="rId16" Type="http://schemas.openxmlformats.org/officeDocument/2006/relationships/image" Target="../media/image15.png"/><Relationship Id="rId17"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21.png"/><Relationship Id="rId8" Type="http://schemas.openxmlformats.org/officeDocument/2006/relationships/image" Target="../media/image22.png"/><Relationship Id="rId9" Type="http://schemas.openxmlformats.org/officeDocument/2006/relationships/image" Target="../media/image23.png"/><Relationship Id="rId10" Type="http://schemas.openxmlformats.org/officeDocument/2006/relationships/image" Target="../media/image24.png"/><Relationship Id="rId11" Type="http://schemas.openxmlformats.org/officeDocument/2006/relationships/image" Target="../media/image25.png"/><Relationship Id="rId12" Type="http://schemas.openxmlformats.org/officeDocument/2006/relationships/image" Target="../media/image26.png"/><Relationship Id="rId13" Type="http://schemas.openxmlformats.org/officeDocument/2006/relationships/image" Target="../media/image27.png"/><Relationship Id="rId14" Type="http://schemas.openxmlformats.org/officeDocument/2006/relationships/image" Target="../media/image28.png"/><Relationship Id="rId15" Type="http://schemas.openxmlformats.org/officeDocument/2006/relationships/image" Target="../media/image29.png"/><Relationship Id="rId16" Type="http://schemas.openxmlformats.org/officeDocument/2006/relationships/image" Target="../media/image30.png"/><Relationship Id="rId17" Type="http://schemas.openxmlformats.org/officeDocument/2006/relationships/image" Target="../media/image3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0.png"/><Relationship Id="rId7" Type="http://schemas.openxmlformats.org/officeDocument/2006/relationships/image" Target="../media/image31.png"/><Relationship Id="rId8" Type="http://schemas.openxmlformats.org/officeDocument/2006/relationships/image" Target="../media/image32.png"/><Relationship Id="rId9" Type="http://schemas.openxmlformats.org/officeDocument/2006/relationships/image" Target="../media/image33.png"/><Relationship Id="rId10" Type="http://schemas.openxmlformats.org/officeDocument/2006/relationships/image" Target="../media/image34.png"/><Relationship Id="rId11" Type="http://schemas.openxmlformats.org/officeDocument/2006/relationships/image" Target="../media/image35.png"/><Relationship Id="rId12" Type="http://schemas.openxmlformats.org/officeDocument/2006/relationships/image" Target="../media/image3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37.png"/><Relationship Id="rId7" Type="http://schemas.openxmlformats.org/officeDocument/2006/relationships/image" Target="../media/image38.png"/><Relationship Id="rId8" Type="http://schemas.openxmlformats.org/officeDocument/2006/relationships/image" Target="../media/image39.png"/><Relationship Id="rId9" Type="http://schemas.openxmlformats.org/officeDocument/2006/relationships/image" Target="../media/image40.png"/><Relationship Id="rId10" Type="http://schemas.openxmlformats.org/officeDocument/2006/relationships/image" Target="../media/image5.png"/><Relationship Id="rId11" Type="http://schemas.openxmlformats.org/officeDocument/2006/relationships/image" Target="../media/image6.png"/><Relationship Id="rId12" Type="http://schemas.openxmlformats.org/officeDocument/2006/relationships/image" Target="../media/image41.png"/><Relationship Id="rId13" Type="http://schemas.openxmlformats.org/officeDocument/2006/relationships/image" Target="../media/image42.png"/><Relationship Id="rId14" Type="http://schemas.openxmlformats.org/officeDocument/2006/relationships/image" Target="../media/image43.png"/><Relationship Id="rId15" Type="http://schemas.openxmlformats.org/officeDocument/2006/relationships/image" Target="../media/image44.png"/><Relationship Id="rId16" Type="http://schemas.openxmlformats.org/officeDocument/2006/relationships/image" Target="../media/image45.png"/><Relationship Id="rId17" Type="http://schemas.openxmlformats.org/officeDocument/2006/relationships/image" Target="../media/image46.png"/><Relationship Id="rId18" Type="http://schemas.openxmlformats.org/officeDocument/2006/relationships/image" Target="../media/image47.png"/><Relationship Id="rId19" Type="http://schemas.openxmlformats.org/officeDocument/2006/relationships/image" Target="../media/image48.png"/><Relationship Id="rId20" Type="http://schemas.openxmlformats.org/officeDocument/2006/relationships/image" Target="../media/image49.png"/><Relationship Id="rId21" Type="http://schemas.openxmlformats.org/officeDocument/2006/relationships/image" Target="../media/image7.png"/><Relationship Id="rId22" Type="http://schemas.openxmlformats.org/officeDocument/2006/relationships/image" Target="../media/image8.png"/><Relationship Id="rId23" Type="http://schemas.openxmlformats.org/officeDocument/2006/relationships/image" Target="../media/image9.png"/><Relationship Id="rId24" Type="http://schemas.openxmlformats.org/officeDocument/2006/relationships/image" Target="../media/image50.png"/><Relationship Id="rId25" Type="http://schemas.openxmlformats.org/officeDocument/2006/relationships/image" Target="../media/image51.png"/><Relationship Id="rId26" Type="http://schemas.openxmlformats.org/officeDocument/2006/relationships/image" Target="../media/image52.png"/><Relationship Id="rId27" Type="http://schemas.openxmlformats.org/officeDocument/2006/relationships/image" Target="../media/image53.png"/><Relationship Id="rId28" Type="http://schemas.openxmlformats.org/officeDocument/2006/relationships/image" Target="../media/image10.png"/><Relationship Id="rId29" Type="http://schemas.openxmlformats.org/officeDocument/2006/relationships/image" Target="../media/image11.png"/><Relationship Id="rId30" Type="http://schemas.openxmlformats.org/officeDocument/2006/relationships/image" Target="../media/image54.png"/><Relationship Id="rId31" Type="http://schemas.openxmlformats.org/officeDocument/2006/relationships/image" Target="../media/image55.png"/><Relationship Id="rId32" Type="http://schemas.openxmlformats.org/officeDocument/2006/relationships/image" Target="../media/image56.png"/><Relationship Id="rId33" Type="http://schemas.openxmlformats.org/officeDocument/2006/relationships/image" Target="../media/image57.png"/><Relationship Id="rId34" Type="http://schemas.openxmlformats.org/officeDocument/2006/relationships/image" Target="../media/image58.png"/><Relationship Id="rId35" Type="http://schemas.openxmlformats.org/officeDocument/2006/relationships/image" Target="../media/image59.png"/><Relationship Id="rId36" Type="http://schemas.openxmlformats.org/officeDocument/2006/relationships/image" Target="../media/image60.png"/><Relationship Id="rId37" Type="http://schemas.openxmlformats.org/officeDocument/2006/relationships/image" Target="../media/image61.png"/><Relationship Id="rId38" Type="http://schemas.openxmlformats.org/officeDocument/2006/relationships/image" Target="../media/image62.png"/><Relationship Id="rId39" Type="http://schemas.openxmlformats.org/officeDocument/2006/relationships/image" Target="../media/image22.png"/><Relationship Id="rId40" Type="http://schemas.openxmlformats.org/officeDocument/2006/relationships/image" Target="../media/image23.png"/><Relationship Id="rId41" Type="http://schemas.openxmlformats.org/officeDocument/2006/relationships/image" Target="../media/image24.png"/><Relationship Id="rId42" Type="http://schemas.openxmlformats.org/officeDocument/2006/relationships/image" Target="../media/image63.png"/><Relationship Id="rId43" Type="http://schemas.openxmlformats.org/officeDocument/2006/relationships/image" Target="../media/image64.png"/><Relationship Id="rId44" Type="http://schemas.openxmlformats.org/officeDocument/2006/relationships/image" Target="../media/image65.png"/><Relationship Id="rId45" Type="http://schemas.openxmlformats.org/officeDocument/2006/relationships/image" Target="../media/image66.png"/><Relationship Id="rId46" Type="http://schemas.openxmlformats.org/officeDocument/2006/relationships/image" Target="../media/image25.png"/><Relationship Id="rId47" Type="http://schemas.openxmlformats.org/officeDocument/2006/relationships/image" Target="../media/image26.png"/><Relationship Id="rId48" Type="http://schemas.openxmlformats.org/officeDocument/2006/relationships/image" Target="../media/image67.png"/><Relationship Id="rId49" Type="http://schemas.openxmlformats.org/officeDocument/2006/relationships/image" Target="../media/image68.png"/><Relationship Id="rId50" Type="http://schemas.openxmlformats.org/officeDocument/2006/relationships/image" Target="../media/image69.png"/><Relationship Id="rId51" Type="http://schemas.openxmlformats.org/officeDocument/2006/relationships/image" Target="../media/image70.png"/><Relationship Id="rId52" Type="http://schemas.openxmlformats.org/officeDocument/2006/relationships/image" Target="../media/image71.png"/><Relationship Id="rId53" Type="http://schemas.openxmlformats.org/officeDocument/2006/relationships/image" Target="../media/image72.png"/><Relationship Id="rId54" Type="http://schemas.openxmlformats.org/officeDocument/2006/relationships/image" Target="../media/image73.png"/><Relationship Id="rId55" Type="http://schemas.openxmlformats.org/officeDocument/2006/relationships/image" Target="../media/image74.png"/><Relationship Id="rId56" Type="http://schemas.openxmlformats.org/officeDocument/2006/relationships/image" Target="../media/image7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76.png"/><Relationship Id="rId4" Type="http://schemas.openxmlformats.org/officeDocument/2006/relationships/image" Target="../media/image77.png"/><Relationship Id="rId5" Type="http://schemas.openxmlformats.org/officeDocument/2006/relationships/image" Target="../media/image78.png"/><Relationship Id="rId6" Type="http://schemas.openxmlformats.org/officeDocument/2006/relationships/image" Target="../media/image79.png"/><Relationship Id="rId7" Type="http://schemas.openxmlformats.org/officeDocument/2006/relationships/image" Target="../media/image80.png"/><Relationship Id="rId8" Type="http://schemas.openxmlformats.org/officeDocument/2006/relationships/image" Target="../media/image81.png"/><Relationship Id="rId9" Type="http://schemas.openxmlformats.org/officeDocument/2006/relationships/image" Target="../media/image82.png"/><Relationship Id="rId10" Type="http://schemas.openxmlformats.org/officeDocument/2006/relationships/image" Target="../media/image83.png"/><Relationship Id="rId11" Type="http://schemas.openxmlformats.org/officeDocument/2006/relationships/image" Target="../media/image84.png"/><Relationship Id="rId12" Type="http://schemas.openxmlformats.org/officeDocument/2006/relationships/image" Target="../media/image32.png"/><Relationship Id="rId13" Type="http://schemas.openxmlformats.org/officeDocument/2006/relationships/image" Target="../media/image33.png"/><Relationship Id="rId14" Type="http://schemas.openxmlformats.org/officeDocument/2006/relationships/image" Target="../media/image34.png"/><Relationship Id="rId15" Type="http://schemas.openxmlformats.org/officeDocument/2006/relationships/image" Target="../media/image85.png"/><Relationship Id="rId16" Type="http://schemas.openxmlformats.org/officeDocument/2006/relationships/image" Target="../media/image86.png"/><Relationship Id="rId17" Type="http://schemas.openxmlformats.org/officeDocument/2006/relationships/image" Target="../media/image87.png"/><Relationship Id="rId18" Type="http://schemas.openxmlformats.org/officeDocument/2006/relationships/image" Target="../media/image88.png"/><Relationship Id="rId19" Type="http://schemas.openxmlformats.org/officeDocument/2006/relationships/image" Target="../media/image35.png"/><Relationship Id="rId20" Type="http://schemas.openxmlformats.org/officeDocument/2006/relationships/image" Target="../media/image36.png"/><Relationship Id="rId21" Type="http://schemas.openxmlformats.org/officeDocument/2006/relationships/image" Target="../media/image12.png"/><Relationship Id="rId22" Type="http://schemas.openxmlformats.org/officeDocument/2006/relationships/image" Target="../media/image13.png"/><Relationship Id="rId23" Type="http://schemas.openxmlformats.org/officeDocument/2006/relationships/image" Target="../media/image14.png"/><Relationship Id="rId24" Type="http://schemas.openxmlformats.org/officeDocument/2006/relationships/image" Target="../media/image89.png"/><Relationship Id="rId25" Type="http://schemas.openxmlformats.org/officeDocument/2006/relationships/image" Target="../media/image90.png"/><Relationship Id="rId26" Type="http://schemas.openxmlformats.org/officeDocument/2006/relationships/image" Target="../media/image91.png"/><Relationship Id="rId27" Type="http://schemas.openxmlformats.org/officeDocument/2006/relationships/image" Target="../media/image92.png"/><Relationship Id="rId28" Type="http://schemas.openxmlformats.org/officeDocument/2006/relationships/image" Target="../media/image15.png"/><Relationship Id="rId29" Type="http://schemas.openxmlformats.org/officeDocument/2006/relationships/image" Target="../media/image16.png"/><Relationship Id="rId30" Type="http://schemas.openxmlformats.org/officeDocument/2006/relationships/image" Target="../media/image93.png"/><Relationship Id="rId31" Type="http://schemas.openxmlformats.org/officeDocument/2006/relationships/image" Target="../media/image94.png"/><Relationship Id="rId32" Type="http://schemas.openxmlformats.org/officeDocument/2006/relationships/image" Target="../media/image95.png"/><Relationship Id="rId33" Type="http://schemas.openxmlformats.org/officeDocument/2006/relationships/image" Target="../media/image96.png"/><Relationship Id="rId34" Type="http://schemas.openxmlformats.org/officeDocument/2006/relationships/image" Target="../media/image97.png"/><Relationship Id="rId35" Type="http://schemas.openxmlformats.org/officeDocument/2006/relationships/image" Target="../media/image98.png"/><Relationship Id="rId36" Type="http://schemas.openxmlformats.org/officeDocument/2006/relationships/image" Target="../media/image99.png"/><Relationship Id="rId37" Type="http://schemas.openxmlformats.org/officeDocument/2006/relationships/image" Target="../media/image100.png"/><Relationship Id="rId38" Type="http://schemas.openxmlformats.org/officeDocument/2006/relationships/image" Target="../media/image101.png"/><Relationship Id="rId39" Type="http://schemas.openxmlformats.org/officeDocument/2006/relationships/image" Target="../media/image102.png"/><Relationship Id="rId40" Type="http://schemas.openxmlformats.org/officeDocument/2006/relationships/image" Target="../media/image103.png"/><Relationship Id="rId41" Type="http://schemas.openxmlformats.org/officeDocument/2006/relationships/image" Target="../media/image104.png"/><Relationship Id="rId42" Type="http://schemas.openxmlformats.org/officeDocument/2006/relationships/image" Target="../media/image105.png"/><Relationship Id="rId43" Type="http://schemas.openxmlformats.org/officeDocument/2006/relationships/image" Target="../media/image106.png"/><Relationship Id="rId44" Type="http://schemas.openxmlformats.org/officeDocument/2006/relationships/image" Target="../media/image107.png"/><Relationship Id="rId45" Type="http://schemas.openxmlformats.org/officeDocument/2006/relationships/image" Target="../media/image108.png"/><Relationship Id="rId46" Type="http://schemas.openxmlformats.org/officeDocument/2006/relationships/image" Target="../media/image109.png"/><Relationship Id="rId47" Type="http://schemas.openxmlformats.org/officeDocument/2006/relationships/image" Target="../media/image110.png"/><Relationship Id="rId48" Type="http://schemas.openxmlformats.org/officeDocument/2006/relationships/image" Target="../media/image27.png"/><Relationship Id="rId49" Type="http://schemas.openxmlformats.org/officeDocument/2006/relationships/image" Target="../media/image28.png"/><Relationship Id="rId50" Type="http://schemas.openxmlformats.org/officeDocument/2006/relationships/image" Target="../media/image29.png"/><Relationship Id="rId51" Type="http://schemas.openxmlformats.org/officeDocument/2006/relationships/image" Target="../media/image111.png"/><Relationship Id="rId52" Type="http://schemas.openxmlformats.org/officeDocument/2006/relationships/image" Target="../media/image112.png"/><Relationship Id="rId53" Type="http://schemas.openxmlformats.org/officeDocument/2006/relationships/image" Target="../media/image113.png"/><Relationship Id="rId54" Type="http://schemas.openxmlformats.org/officeDocument/2006/relationships/image" Target="../media/image114.png"/><Relationship Id="rId55" Type="http://schemas.openxmlformats.org/officeDocument/2006/relationships/image" Target="../media/image30.png"/><Relationship Id="rId56" Type="http://schemas.openxmlformats.org/officeDocument/2006/relationships/image" Target="../media/image3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15.png"/><Relationship Id="rId4" Type="http://schemas.openxmlformats.org/officeDocument/2006/relationships/image" Target="../media/image116.png"/><Relationship Id="rId5" Type="http://schemas.openxmlformats.org/officeDocument/2006/relationships/image" Target="../media/image117.png"/><Relationship Id="rId6" Type="http://schemas.openxmlformats.org/officeDocument/2006/relationships/image" Target="../media/image118.png"/><Relationship Id="rId7" Type="http://schemas.openxmlformats.org/officeDocument/2006/relationships/image" Target="../media/image119.png"/><Relationship Id="rId8" Type="http://schemas.openxmlformats.org/officeDocument/2006/relationships/image" Target="../media/image120.png"/><Relationship Id="rId9" Type="http://schemas.openxmlformats.org/officeDocument/2006/relationships/image" Target="../media/image121.png"/><Relationship Id="rId10" Type="http://schemas.openxmlformats.org/officeDocument/2006/relationships/image" Target="../media/image122.png"/><Relationship Id="rId11" Type="http://schemas.openxmlformats.org/officeDocument/2006/relationships/image" Target="../media/image123.png"/><Relationship Id="rId12" Type="http://schemas.openxmlformats.org/officeDocument/2006/relationships/image" Target="../media/image124.png"/><Relationship Id="rId13" Type="http://schemas.openxmlformats.org/officeDocument/2006/relationships/image" Target="../media/image125.png"/><Relationship Id="rId14" Type="http://schemas.openxmlformats.org/officeDocument/2006/relationships/image" Target="../media/image126.png"/><Relationship Id="rId15" Type="http://schemas.openxmlformats.org/officeDocument/2006/relationships/image" Target="../media/image127.png"/><Relationship Id="rId16" Type="http://schemas.openxmlformats.org/officeDocument/2006/relationships/image" Target="../media/image128.png"/><Relationship Id="rId17" Type="http://schemas.openxmlformats.org/officeDocument/2006/relationships/image" Target="../media/image129.png"/><Relationship Id="rId18" Type="http://schemas.openxmlformats.org/officeDocument/2006/relationships/image" Target="../media/image130.png"/><Relationship Id="rId19" Type="http://schemas.openxmlformats.org/officeDocument/2006/relationships/image" Target="../media/image131.png"/><Relationship Id="rId20" Type="http://schemas.openxmlformats.org/officeDocument/2006/relationships/image" Target="../media/image132.png"/><Relationship Id="rId21" Type="http://schemas.openxmlformats.org/officeDocument/2006/relationships/image" Target="../media/image133.png"/><Relationship Id="rId22" Type="http://schemas.openxmlformats.org/officeDocument/2006/relationships/image" Target="../media/image134.png"/><Relationship Id="rId23" Type="http://schemas.openxmlformats.org/officeDocument/2006/relationships/image" Target="../media/image135.png"/><Relationship Id="rId24" Type="http://schemas.openxmlformats.org/officeDocument/2006/relationships/image" Target="../media/image136.png"/><Relationship Id="rId25" Type="http://schemas.openxmlformats.org/officeDocument/2006/relationships/image" Target="../media/image137.png"/><Relationship Id="rId26" Type="http://schemas.openxmlformats.org/officeDocument/2006/relationships/image" Target="../media/image138.png"/><Relationship Id="rId27" Type="http://schemas.openxmlformats.org/officeDocument/2006/relationships/image" Target="../media/image139.png"/><Relationship Id="rId28" Type="http://schemas.openxmlformats.org/officeDocument/2006/relationships/image" Target="../media/image140.png"/><Relationship Id="rId29" Type="http://schemas.openxmlformats.org/officeDocument/2006/relationships/image" Target="../media/image141.png"/><Relationship Id="rId30" Type="http://schemas.openxmlformats.org/officeDocument/2006/relationships/image" Target="../media/image17.png"/><Relationship Id="rId31" Type="http://schemas.openxmlformats.org/officeDocument/2006/relationships/image" Target="../media/image18.png"/><Relationship Id="rId32" Type="http://schemas.openxmlformats.org/officeDocument/2006/relationships/image" Target="../media/image19.png"/><Relationship Id="rId33" Type="http://schemas.openxmlformats.org/officeDocument/2006/relationships/image" Target="../media/image142.png"/><Relationship Id="rId34" Type="http://schemas.openxmlformats.org/officeDocument/2006/relationships/image" Target="../media/image143.png"/><Relationship Id="rId35" Type="http://schemas.openxmlformats.org/officeDocument/2006/relationships/image" Target="../media/image144.png"/><Relationship Id="rId36" Type="http://schemas.openxmlformats.org/officeDocument/2006/relationships/image" Target="../media/image145.png"/><Relationship Id="rId37" Type="http://schemas.openxmlformats.org/officeDocument/2006/relationships/image" Target="../media/image20.png"/><Relationship Id="rId38" Type="http://schemas.openxmlformats.org/officeDocument/2006/relationships/image" Target="../media/image21.png"/><Relationship Id="rId39" Type="http://schemas.openxmlformats.org/officeDocument/2006/relationships/image" Target="../media/image146.png"/><Relationship Id="rId40" Type="http://schemas.openxmlformats.org/officeDocument/2006/relationships/image" Target="../media/image147.png"/><Relationship Id="rId41" Type="http://schemas.openxmlformats.org/officeDocument/2006/relationships/image" Target="../media/image148.png"/><Relationship Id="rId42" Type="http://schemas.openxmlformats.org/officeDocument/2006/relationships/image" Target="../media/image149.png"/><Relationship Id="rId43" Type="http://schemas.openxmlformats.org/officeDocument/2006/relationships/image" Target="../media/image150.png"/><Relationship Id="rId44" Type="http://schemas.openxmlformats.org/officeDocument/2006/relationships/image" Target="../media/image151.png"/><Relationship Id="rId45" Type="http://schemas.openxmlformats.org/officeDocument/2006/relationships/image" Target="../media/image152.png"/><Relationship Id="rId46" Type="http://schemas.openxmlformats.org/officeDocument/2006/relationships/image" Target="../media/image153.png"/><Relationship Id="rId47" Type="http://schemas.openxmlformats.org/officeDocument/2006/relationships/image" Target="../media/image154.png"/><Relationship Id="rId48" Type="http://schemas.openxmlformats.org/officeDocument/2006/relationships/image" Target="../media/image155.png"/><Relationship Id="rId49" Type="http://schemas.openxmlformats.org/officeDocument/2006/relationships/image" Target="../media/image156.png"/><Relationship Id="rId50" Type="http://schemas.openxmlformats.org/officeDocument/2006/relationships/image" Target="../media/image157.png"/><Relationship Id="rId51" Type="http://schemas.openxmlformats.org/officeDocument/2006/relationships/image" Target="../media/image158.png"/><Relationship Id="rId52" Type="http://schemas.openxmlformats.org/officeDocument/2006/relationships/image" Target="../media/image159.png"/><Relationship Id="rId53" Type="http://schemas.openxmlformats.org/officeDocument/2006/relationships/image" Target="../media/image160.png"/><Relationship Id="rId54" Type="http://schemas.openxmlformats.org/officeDocument/2006/relationships/image" Target="../media/image161.png"/><Relationship Id="rId55" Type="http://schemas.openxmlformats.org/officeDocument/2006/relationships/image" Target="../media/image162.png"/><Relationship Id="rId56" Type="http://schemas.openxmlformats.org/officeDocument/2006/relationships/image" Target="../media/image16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000" y="36000"/>
            <a:ext cx="6012000" cy="936000"/>
          </a:xfrm>
          <a:prstGeom prst="rect">
            <a:avLst/>
          </a:prstGeom>
          <a:noFill/>
          <a:ln w="8890">
            <a:solidFill>
              <a:srgbClr val="B5C0C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82800" y="46800"/>
            <a:ext cx="5954400" cy="324000"/>
          </a:xfrm>
          <a:prstGeom prst="rect">
            <a:avLst/>
          </a:prstGeom>
          <a:noFill/>
        </p:spPr>
        <p:txBody>
          <a:bodyPr wrap="square" lIns="10800" rIns="10800" tIns="3600" bIns="3600" anchor="ctr">
            <a:spAutoFit/>
          </a:bodyPr>
          <a:lstStyle/>
          <a:p>
            <a:pPr algn="l">
              <a:spcBef>
                <a:spcPts val="0"/>
              </a:spcBef>
              <a:spcAft>
                <a:spcPts val="0"/>
              </a:spcAft>
            </a:pPr>
            <a:r>
              <a:rPr sz="900" b="1">
                <a:solidFill>
                  <a:srgbClr val="263746"/>
                </a:solidFill>
                <a:latin typeface="Arial"/>
              </a:rPr>
              <a:t>Offline: fixed Train-only case bank</a:t>
            </a:r>
          </a:p>
        </p:txBody>
      </p:sp>
      <p:sp>
        <p:nvSpPr>
          <p:cNvPr id="4" name="Rectangle 3"/>
          <p:cNvSpPr/>
          <p:nvPr/>
        </p:nvSpPr>
        <p:spPr>
          <a:xfrm>
            <a:off x="144000" y="378000"/>
            <a:ext cx="936000" cy="288000"/>
          </a:xfrm>
          <a:prstGeom prst="rect">
            <a:avLst/>
          </a:prstGeom>
          <a:solidFill>
            <a:srgbClr val="F3F4F5"/>
          </a:solidFill>
          <a:ln w="8890">
            <a:solidFill>
              <a:srgbClr val="52667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154800" y="388800"/>
            <a:ext cx="914400" cy="266400"/>
          </a:xfrm>
          <a:prstGeom prst="rect">
            <a:avLst/>
          </a:prstGeom>
          <a:noFill/>
        </p:spPr>
        <p:txBody>
          <a:bodyPr wrap="square" lIns="10800" rIns="10800" tIns="3600" bIns="3600" anchor="ctr">
            <a:spAutoFit/>
          </a:bodyPr>
          <a:lstStyle/>
          <a:p>
            <a:pPr algn="ctr">
              <a:spcBef>
                <a:spcPts val="0"/>
              </a:spcBef>
              <a:spcAft>
                <a:spcPts val="0"/>
              </a:spcAft>
            </a:pPr>
            <a:r>
              <a:rPr sz="900" b="0">
                <a:solidFill>
                  <a:srgbClr val="263746"/>
                </a:solidFill>
                <a:latin typeface="Arial"/>
              </a:rPr>
              <a:t>Train RGB / SAR</a:t>
            </a:r>
          </a:p>
        </p:txBody>
      </p:sp>
      <p:sp>
        <p:nvSpPr>
          <p:cNvPr id="6" name="Rectangle 5"/>
          <p:cNvSpPr/>
          <p:nvPr/>
        </p:nvSpPr>
        <p:spPr>
          <a:xfrm>
            <a:off x="1260000" y="352800"/>
            <a:ext cx="1296000" cy="413999"/>
          </a:xfrm>
          <a:prstGeom prst="rect">
            <a:avLst/>
          </a:prstGeom>
          <a:solidFill>
            <a:srgbClr val="EAF1F8"/>
          </a:solidFill>
          <a:ln w="8890">
            <a:solidFill>
              <a:srgbClr val="52667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1270800" y="363600"/>
            <a:ext cx="1274400" cy="392399"/>
          </a:xfrm>
          <a:prstGeom prst="rect">
            <a:avLst/>
          </a:prstGeom>
          <a:noFill/>
        </p:spPr>
        <p:txBody>
          <a:bodyPr wrap="square" lIns="10800" rIns="10800" tIns="3600" bIns="3600" anchor="ctr">
            <a:spAutoFit/>
          </a:bodyPr>
          <a:lstStyle/>
          <a:p>
            <a:pPr algn="ctr">
              <a:spcBef>
                <a:spcPts val="0"/>
              </a:spcBef>
              <a:spcAft>
                <a:spcPts val="0"/>
              </a:spcAft>
            </a:pPr>
            <a:r>
              <a:rPr sz="900" b="0">
                <a:solidFill>
                  <a:srgbClr val="263746"/>
                </a:solidFill>
                <a:latin typeface="Arial"/>
              </a:rPr>
              <a:t>Same frozen encoder</a:t>
            </a:r>
          </a:p>
          <a:p>
            <a:pPr algn="ctr">
              <a:spcBef>
                <a:spcPts val="0"/>
              </a:spcBef>
              <a:spcAft>
                <a:spcPts val="0"/>
              </a:spcAft>
            </a:pPr>
            <a:r>
              <a:rPr sz="900" b="0">
                <a:solidFill>
                  <a:srgbClr val="263746"/>
                </a:solidFill>
                <a:latin typeface="Arial"/>
              </a:rPr>
              <a:t>MPF + region encoding</a:t>
            </a:r>
          </a:p>
        </p:txBody>
      </p:sp>
      <p:sp>
        <p:nvSpPr>
          <p:cNvPr id="8" name="Rectangle 7"/>
          <p:cNvSpPr/>
          <p:nvPr/>
        </p:nvSpPr>
        <p:spPr>
          <a:xfrm>
            <a:off x="2898000" y="604800"/>
            <a:ext cx="1206000" cy="216000"/>
          </a:xfrm>
          <a:prstGeom prst="rect">
            <a:avLst/>
          </a:prstGeom>
          <a:solidFill>
            <a:srgbClr val="FFF0DD"/>
          </a:solidFill>
          <a:ln w="8890">
            <a:solidFill>
              <a:srgbClr val="52667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2908800" y="615600"/>
            <a:ext cx="1184400" cy="194400"/>
          </a:xfrm>
          <a:prstGeom prst="rect">
            <a:avLst/>
          </a:prstGeom>
          <a:noFill/>
        </p:spPr>
        <p:txBody>
          <a:bodyPr wrap="square" lIns="10800" rIns="10800" tIns="3600" bIns="3600" anchor="ctr">
            <a:spAutoFit/>
          </a:bodyPr>
          <a:lstStyle/>
          <a:p>
            <a:pPr algn="ctr">
              <a:spcBef>
                <a:spcPts val="0"/>
              </a:spcBef>
              <a:spcAft>
                <a:spcPts val="0"/>
              </a:spcAft>
            </a:pPr>
            <a:r>
              <a:rPr sz="900" b="0">
                <a:solidFill>
                  <a:srgbClr val="263746"/>
                </a:solidFill>
                <a:latin typeface="Arial"/>
              </a:rPr>
              <a:t>Q-weighted label pool</a:t>
            </a:r>
          </a:p>
        </p:txBody>
      </p:sp>
      <p:sp>
        <p:nvSpPr>
          <p:cNvPr id="10" name="TextBox 9"/>
          <p:cNvSpPr txBox="1"/>
          <p:nvPr/>
        </p:nvSpPr>
        <p:spPr>
          <a:xfrm>
            <a:off x="2988000" y="349200"/>
            <a:ext cx="1007999" cy="144000"/>
          </a:xfrm>
          <a:prstGeom prst="rect">
            <a:avLst/>
          </a:prstGeom>
          <a:noFill/>
        </p:spPr>
        <p:txBody>
          <a:bodyPr wrap="square" lIns="10800" rIns="10800" tIns="3600" bIns="3600" anchor="ctr">
            <a:spAutoFit/>
          </a:bodyPr>
          <a:lstStyle/>
          <a:p>
            <a:pPr algn="ctr">
              <a:spcBef>
                <a:spcPts val="0"/>
              </a:spcBef>
              <a:spcAft>
                <a:spcPts val="0"/>
              </a:spcAft>
            </a:pPr>
            <a:r>
              <a:rPr sz="900" b="0">
                <a:solidFill>
                  <a:srgbClr val="263746"/>
                </a:solidFill>
                <a:latin typeface="Arial"/>
              </a:rPr>
              <a:t>Train GT</a:t>
            </a:r>
          </a:p>
        </p:txBody>
      </p:sp>
      <p:cxnSp>
        <p:nvCxnSpPr>
          <p:cNvPr id="11" name="Connector 10"/>
          <p:cNvCxnSpPr/>
          <p:nvPr/>
        </p:nvCxnSpPr>
        <p:spPr>
          <a:xfrm>
            <a:off x="3499200" y="493200"/>
            <a:ext cx="0" cy="111600"/>
          </a:xfrm>
          <a:prstGeom prst="line">
            <a:avLst/>
          </a:prstGeom>
          <a:ln w="11430">
            <a:solidFill>
              <a:srgbClr val="526675"/>
            </a:solidFill>
            <a:tailEnd type="triangle"/>
          </a:ln>
        </p:spPr>
        <p:style>
          <a:lnRef idx="2">
            <a:schemeClr val="accent1"/>
          </a:lnRef>
          <a:fillRef idx="0">
            <a:schemeClr val="accent1"/>
          </a:fillRef>
          <a:effectRef idx="0">
            <a:schemeClr val="accent1"/>
          </a:effectRef>
          <a:fontRef idx="minor">
            <a:schemeClr val="tx1"/>
          </a:fontRef>
        </p:style>
      </p:cxnSp>
      <p:sp>
        <p:nvSpPr>
          <p:cNvPr id="12" name="Rectangle 11"/>
          <p:cNvSpPr/>
          <p:nvPr/>
        </p:nvSpPr>
        <p:spPr>
          <a:xfrm>
            <a:off x="4320000" y="352800"/>
            <a:ext cx="1584000" cy="413999"/>
          </a:xfrm>
          <a:prstGeom prst="rect">
            <a:avLst/>
          </a:prstGeom>
          <a:solidFill>
            <a:srgbClr val="F0EAF7"/>
          </a:solidFill>
          <a:ln w="8890">
            <a:solidFill>
              <a:srgbClr val="52667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4330800" y="363600"/>
            <a:ext cx="1562400" cy="392399"/>
          </a:xfrm>
          <a:prstGeom prst="rect">
            <a:avLst/>
          </a:prstGeom>
          <a:noFill/>
        </p:spPr>
        <p:txBody>
          <a:bodyPr wrap="square" lIns="10800" rIns="10800" tIns="3600" bIns="3600" anchor="ctr">
            <a:spAutoFit/>
          </a:bodyPr>
          <a:lstStyle/>
          <a:p>
            <a:pPr algn="ctr">
              <a:spcBef>
                <a:spcPts val="0"/>
              </a:spcBef>
              <a:spcAft>
                <a:spcPts val="0"/>
              </a:spcAft>
            </a:pPr>
            <a:r>
              <a:rPr sz="900" b="0">
                <a:solidFill>
                  <a:srgbClr val="263746"/>
                </a:solidFill>
                <a:latin typeface="Arial"/>
              </a:rPr>
              <a:t>Event × class sampling</a:t>
            </a:r>
          </a:p>
          <a:p>
            <a:pPr algn="ctr">
              <a:spcBef>
                <a:spcPts val="0"/>
              </a:spcBef>
              <a:spcAft>
                <a:spcPts val="0"/>
              </a:spcAft>
            </a:pPr>
            <a:r>
              <a:rPr sz="900" b="0">
                <a:solidFill>
                  <a:srgbClr val="263746"/>
                </a:solidFill>
                <a:latin typeface="Arial"/>
              </a:rPr>
              <a:t>M = {Tₛ, πₛ, mₛ, ID}</a:t>
            </a:r>
          </a:p>
        </p:txBody>
      </p:sp>
      <p:cxnSp>
        <p:nvCxnSpPr>
          <p:cNvPr id="14" name="Connector 13"/>
          <p:cNvCxnSpPr/>
          <p:nvPr/>
        </p:nvCxnSpPr>
        <p:spPr>
          <a:xfrm>
            <a:off x="1080000" y="522000"/>
            <a:ext cx="180000" cy="0"/>
          </a:xfrm>
          <a:prstGeom prst="line">
            <a:avLst/>
          </a:prstGeom>
          <a:ln w="11430">
            <a:solidFill>
              <a:srgbClr val="526675"/>
            </a:solidFill>
            <a:tailEnd type="triangle"/>
          </a:ln>
        </p:spPr>
        <p:style>
          <a:lnRef idx="2">
            <a:schemeClr val="accent1"/>
          </a:lnRef>
          <a:fillRef idx="0">
            <a:schemeClr val="accent1"/>
          </a:fillRef>
          <a:effectRef idx="0">
            <a:schemeClr val="accent1"/>
          </a:effectRef>
          <a:fontRef idx="minor">
            <a:schemeClr val="tx1"/>
          </a:fontRef>
        </p:style>
      </p:cxnSp>
      <p:cxnSp>
        <p:nvCxnSpPr>
          <p:cNvPr id="15" name="Connector 14"/>
          <p:cNvCxnSpPr/>
          <p:nvPr/>
        </p:nvCxnSpPr>
        <p:spPr>
          <a:xfrm>
            <a:off x="2556000" y="666000"/>
            <a:ext cx="342000" cy="46800"/>
          </a:xfrm>
          <a:prstGeom prst="line">
            <a:avLst/>
          </a:prstGeom>
          <a:ln w="11430">
            <a:solidFill>
              <a:srgbClr val="526675"/>
            </a:solidFill>
            <a:tailEnd type="triangle"/>
          </a:ln>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2574000" y="712800"/>
            <a:ext cx="251999" cy="144000"/>
          </a:xfrm>
          <a:prstGeom prst="rect">
            <a:avLst/>
          </a:prstGeom>
          <a:noFill/>
        </p:spPr>
        <p:txBody>
          <a:bodyPr wrap="square" lIns="10800" rIns="10800" tIns="3600" bIns="3600" anchor="ctr">
            <a:spAutoFit/>
          </a:bodyPr>
          <a:lstStyle/>
          <a:p>
            <a:pPr algn="ctr">
              <a:spcBef>
                <a:spcPts val="0"/>
              </a:spcBef>
              <a:spcAft>
                <a:spcPts val="0"/>
              </a:spcAft>
            </a:pPr>
            <a:r>
              <a:rPr sz="900" b="0">
                <a:solidFill>
                  <a:srgbClr val="263746"/>
                </a:solidFill>
                <a:latin typeface="Arial"/>
              </a:rPr>
              <a:t>Qₛ</a:t>
            </a:r>
          </a:p>
        </p:txBody>
      </p:sp>
      <p:cxnSp>
        <p:nvCxnSpPr>
          <p:cNvPr id="17" name="Connector 16"/>
          <p:cNvCxnSpPr/>
          <p:nvPr/>
        </p:nvCxnSpPr>
        <p:spPr>
          <a:xfrm>
            <a:off x="2556000" y="378000"/>
            <a:ext cx="144000" cy="0"/>
          </a:xfrm>
          <a:prstGeom prst="line">
            <a:avLst/>
          </a:prstGeom>
          <a:ln w="11430">
            <a:solidFill>
              <a:srgbClr val="526675"/>
            </a:solidFill>
            <a:tailEnd type="triangle"/>
          </a:ln>
        </p:spPr>
        <p:style>
          <a:lnRef idx="2">
            <a:schemeClr val="accent1"/>
          </a:lnRef>
          <a:fillRef idx="0">
            <a:schemeClr val="accent1"/>
          </a:fillRef>
          <a:effectRef idx="0">
            <a:schemeClr val="accent1"/>
          </a:effectRef>
          <a:fontRef idx="minor">
            <a:schemeClr val="tx1"/>
          </a:fontRef>
        </p:style>
      </p:cxnSp>
      <p:cxnSp>
        <p:nvCxnSpPr>
          <p:cNvPr id="18" name="Connector 17"/>
          <p:cNvCxnSpPr/>
          <p:nvPr/>
        </p:nvCxnSpPr>
        <p:spPr>
          <a:xfrm flipV="1">
            <a:off x="2700000" y="237600"/>
            <a:ext cx="0" cy="140400"/>
          </a:xfrm>
          <a:prstGeom prst="line">
            <a:avLst/>
          </a:prstGeom>
          <a:ln w="11430">
            <a:solidFill>
              <a:srgbClr val="526675"/>
            </a:solidFill>
            <a:tailEnd type="triangle"/>
          </a:ln>
        </p:spPr>
        <p:style>
          <a:lnRef idx="2">
            <a:schemeClr val="accent1"/>
          </a:lnRef>
          <a:fillRef idx="0">
            <a:schemeClr val="accent1"/>
          </a:fillRef>
          <a:effectRef idx="0">
            <a:schemeClr val="accent1"/>
          </a:effectRef>
          <a:fontRef idx="minor">
            <a:schemeClr val="tx1"/>
          </a:fontRef>
        </p:style>
      </p:cxnSp>
      <p:cxnSp>
        <p:nvCxnSpPr>
          <p:cNvPr id="19" name="Connector 18"/>
          <p:cNvCxnSpPr/>
          <p:nvPr/>
        </p:nvCxnSpPr>
        <p:spPr>
          <a:xfrm>
            <a:off x="2700000" y="237600"/>
            <a:ext cx="2160000" cy="0"/>
          </a:xfrm>
          <a:prstGeom prst="line">
            <a:avLst/>
          </a:prstGeom>
          <a:ln w="11430">
            <a:solidFill>
              <a:srgbClr val="526675"/>
            </a:solidFill>
            <a:tailEnd type="triangle"/>
          </a:ln>
        </p:spPr>
        <p:style>
          <a:lnRef idx="2">
            <a:schemeClr val="accent1"/>
          </a:lnRef>
          <a:fillRef idx="0">
            <a:schemeClr val="accent1"/>
          </a:fillRef>
          <a:effectRef idx="0">
            <a:schemeClr val="accent1"/>
          </a:effectRef>
          <a:fontRef idx="minor">
            <a:schemeClr val="tx1"/>
          </a:fontRef>
        </p:style>
      </p:cxnSp>
      <p:cxnSp>
        <p:nvCxnSpPr>
          <p:cNvPr id="20" name="Connector 19"/>
          <p:cNvCxnSpPr/>
          <p:nvPr/>
        </p:nvCxnSpPr>
        <p:spPr>
          <a:xfrm>
            <a:off x="4860000" y="237600"/>
            <a:ext cx="0" cy="115200"/>
          </a:xfrm>
          <a:prstGeom prst="line">
            <a:avLst/>
          </a:prstGeom>
          <a:ln w="11430">
            <a:solidFill>
              <a:srgbClr val="526675"/>
            </a:solidFill>
            <a:tailEnd type="triangle"/>
          </a:ln>
        </p:spPr>
        <p:style>
          <a:lnRef idx="2">
            <a:schemeClr val="accent1"/>
          </a:lnRef>
          <a:fillRef idx="0">
            <a:schemeClr val="accent1"/>
          </a:fillRef>
          <a:effectRef idx="0">
            <a:schemeClr val="accent1"/>
          </a:effectRef>
          <a:fontRef idx="minor">
            <a:schemeClr val="tx1"/>
          </a:fontRef>
        </p:style>
      </p:cxnSp>
      <p:sp>
        <p:nvSpPr>
          <p:cNvPr id="21" name="TextBox 20"/>
          <p:cNvSpPr txBox="1"/>
          <p:nvPr/>
        </p:nvSpPr>
        <p:spPr>
          <a:xfrm>
            <a:off x="3671999" y="108000"/>
            <a:ext cx="720000" cy="144000"/>
          </a:xfrm>
          <a:prstGeom prst="rect">
            <a:avLst/>
          </a:prstGeom>
          <a:noFill/>
        </p:spPr>
        <p:txBody>
          <a:bodyPr wrap="square" lIns="10800" rIns="10800" tIns="3600" bIns="3600" anchor="ctr">
            <a:spAutoFit/>
          </a:bodyPr>
          <a:lstStyle/>
          <a:p>
            <a:pPr algn="ctr">
              <a:spcBef>
                <a:spcPts val="0"/>
              </a:spcBef>
              <a:spcAft>
                <a:spcPts val="0"/>
              </a:spcAft>
            </a:pPr>
            <a:r>
              <a:rPr sz="900" b="0">
                <a:solidFill>
                  <a:srgbClr val="263746"/>
                </a:solidFill>
                <a:latin typeface="Arial"/>
              </a:rPr>
              <a:t>Tₛ, mₛ</a:t>
            </a:r>
          </a:p>
        </p:txBody>
      </p:sp>
      <p:cxnSp>
        <p:nvCxnSpPr>
          <p:cNvPr id="22" name="Connector 21"/>
          <p:cNvCxnSpPr/>
          <p:nvPr/>
        </p:nvCxnSpPr>
        <p:spPr>
          <a:xfrm>
            <a:off x="4104000" y="712800"/>
            <a:ext cx="216000" cy="0"/>
          </a:xfrm>
          <a:prstGeom prst="line">
            <a:avLst/>
          </a:prstGeom>
          <a:ln w="11430">
            <a:solidFill>
              <a:srgbClr val="526675"/>
            </a:solidFill>
            <a:tailEnd type="triangle"/>
          </a:ln>
        </p:spPr>
        <p:style>
          <a:lnRef idx="2">
            <a:schemeClr val="accent1"/>
          </a:lnRef>
          <a:fillRef idx="0">
            <a:schemeClr val="accent1"/>
          </a:fillRef>
          <a:effectRef idx="0">
            <a:schemeClr val="accent1"/>
          </a:effectRef>
          <a:fontRef idx="minor">
            <a:schemeClr val="tx1"/>
          </a:fontRef>
        </p:style>
      </p:cxnSp>
      <p:sp>
        <p:nvSpPr>
          <p:cNvPr id="23" name="TextBox 22"/>
          <p:cNvSpPr txBox="1"/>
          <p:nvPr/>
        </p:nvSpPr>
        <p:spPr>
          <a:xfrm>
            <a:off x="4086000" y="781200"/>
            <a:ext cx="251999" cy="125999"/>
          </a:xfrm>
          <a:prstGeom prst="rect">
            <a:avLst/>
          </a:prstGeom>
          <a:noFill/>
        </p:spPr>
        <p:txBody>
          <a:bodyPr wrap="square" lIns="10800" rIns="10800" tIns="3600" bIns="3600" anchor="ctr">
            <a:spAutoFit/>
          </a:bodyPr>
          <a:lstStyle/>
          <a:p>
            <a:pPr algn="ctr">
              <a:spcBef>
                <a:spcPts val="0"/>
              </a:spcBef>
              <a:spcAft>
                <a:spcPts val="0"/>
              </a:spcAft>
            </a:pPr>
            <a:r>
              <a:rPr sz="900" b="0">
                <a:solidFill>
                  <a:srgbClr val="263746"/>
                </a:solidFill>
                <a:latin typeface="Arial"/>
              </a:rPr>
              <a:t>πₛ</a:t>
            </a:r>
          </a:p>
        </p:txBody>
      </p:sp>
      <p:sp>
        <p:nvSpPr>
          <p:cNvPr id="24" name="Rectangle 23"/>
          <p:cNvSpPr/>
          <p:nvPr/>
        </p:nvSpPr>
        <p:spPr>
          <a:xfrm>
            <a:off x="54000" y="1044000"/>
            <a:ext cx="1475999" cy="2484000"/>
          </a:xfrm>
          <a:prstGeom prst="rect">
            <a:avLst/>
          </a:prstGeom>
          <a:noFill/>
          <a:ln w="8890">
            <a:solidFill>
              <a:srgbClr val="B5C0C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82800" y="1054800"/>
            <a:ext cx="1418399" cy="324000"/>
          </a:xfrm>
          <a:prstGeom prst="rect">
            <a:avLst/>
          </a:prstGeom>
          <a:noFill/>
        </p:spPr>
        <p:txBody>
          <a:bodyPr wrap="square" lIns="10800" rIns="10800" tIns="3600" bIns="3600" anchor="ctr">
            <a:spAutoFit/>
          </a:bodyPr>
          <a:lstStyle/>
          <a:p>
            <a:pPr algn="l">
              <a:spcBef>
                <a:spcPts val="0"/>
              </a:spcBef>
              <a:spcAft>
                <a:spcPts val="0"/>
              </a:spcAft>
            </a:pPr>
            <a:r>
              <a:rPr sz="900" b="1">
                <a:solidFill>
                  <a:srgbClr val="263746"/>
                </a:solidFill>
                <a:latin typeface="Arial"/>
              </a:rPr>
              <a:t>(a) Multimodal pixel frontend</a:t>
            </a:r>
          </a:p>
        </p:txBody>
      </p:sp>
      <p:sp>
        <p:nvSpPr>
          <p:cNvPr id="26" name="Rectangle 25"/>
          <p:cNvSpPr/>
          <p:nvPr/>
        </p:nvSpPr>
        <p:spPr>
          <a:xfrm>
            <a:off x="1638000" y="1044000"/>
            <a:ext cx="1584000" cy="2484000"/>
          </a:xfrm>
          <a:prstGeom prst="rect">
            <a:avLst/>
          </a:prstGeom>
          <a:noFill/>
          <a:ln w="8890">
            <a:solidFill>
              <a:srgbClr val="B5C0C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1666800" y="1054800"/>
            <a:ext cx="1526400" cy="324000"/>
          </a:xfrm>
          <a:prstGeom prst="rect">
            <a:avLst/>
          </a:prstGeom>
          <a:noFill/>
        </p:spPr>
        <p:txBody>
          <a:bodyPr wrap="square" lIns="10800" rIns="10800" tIns="3600" bIns="3600" anchor="ctr">
            <a:spAutoFit/>
          </a:bodyPr>
          <a:lstStyle/>
          <a:p>
            <a:pPr algn="l">
              <a:spcBef>
                <a:spcPts val="0"/>
              </a:spcBef>
              <a:spcAft>
                <a:spcPts val="0"/>
              </a:spcAft>
            </a:pPr>
            <a:r>
              <a:rPr sz="900" b="1">
                <a:solidFill>
                  <a:srgbClr val="263746"/>
                </a:solidFill>
                <a:latin typeface="Arial"/>
              </a:rPr>
              <a:t>(b) Structure-guided regions</a:t>
            </a:r>
          </a:p>
        </p:txBody>
      </p:sp>
      <p:sp>
        <p:nvSpPr>
          <p:cNvPr id="28" name="Rectangle 27"/>
          <p:cNvSpPr/>
          <p:nvPr/>
        </p:nvSpPr>
        <p:spPr>
          <a:xfrm>
            <a:off x="3330000" y="1044000"/>
            <a:ext cx="2736000" cy="2484000"/>
          </a:xfrm>
          <a:prstGeom prst="rect">
            <a:avLst/>
          </a:prstGeom>
          <a:noFill/>
          <a:ln w="8890">
            <a:solidFill>
              <a:srgbClr val="B5C0C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3358800" y="1054800"/>
            <a:ext cx="2678400" cy="324000"/>
          </a:xfrm>
          <a:prstGeom prst="rect">
            <a:avLst/>
          </a:prstGeom>
          <a:noFill/>
        </p:spPr>
        <p:txBody>
          <a:bodyPr wrap="square" lIns="10800" rIns="10800" tIns="3600" bIns="3600" anchor="ctr">
            <a:spAutoFit/>
          </a:bodyPr>
          <a:lstStyle/>
          <a:p>
            <a:pPr algn="l">
              <a:spcBef>
                <a:spcPts val="0"/>
              </a:spcBef>
              <a:spcAft>
                <a:spcPts val="0"/>
              </a:spcAft>
            </a:pPr>
            <a:r>
              <a:rPr sz="900" b="1">
                <a:solidFill>
                  <a:srgbClr val="263746"/>
                </a:solidFill>
                <a:latin typeface="Arial"/>
              </a:rPr>
              <a:t>(c) Retrieval-enhanced prediction</a:t>
            </a:r>
          </a:p>
        </p:txBody>
      </p:sp>
      <p:sp>
        <p:nvSpPr>
          <p:cNvPr id="30" name="Rectangle 29"/>
          <p:cNvSpPr/>
          <p:nvPr/>
        </p:nvSpPr>
        <p:spPr>
          <a:xfrm>
            <a:off x="144000" y="1440000"/>
            <a:ext cx="503999" cy="360000"/>
          </a:xfrm>
          <a:prstGeom prst="rect">
            <a:avLst/>
          </a:prstGeom>
          <a:solidFill>
            <a:srgbClr val="F3F4F5"/>
          </a:solidFill>
          <a:ln w="8890">
            <a:solidFill>
              <a:srgbClr val="52667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154800" y="1450800"/>
            <a:ext cx="482399" cy="338400"/>
          </a:xfrm>
          <a:prstGeom prst="rect">
            <a:avLst/>
          </a:prstGeom>
          <a:noFill/>
        </p:spPr>
        <p:txBody>
          <a:bodyPr wrap="square" lIns="10800" rIns="10800" tIns="3600" bIns="3600" anchor="ctr">
            <a:spAutoFit/>
          </a:bodyPr>
          <a:lstStyle/>
          <a:p>
            <a:pPr algn="ctr">
              <a:spcBef>
                <a:spcPts val="0"/>
              </a:spcBef>
              <a:spcAft>
                <a:spcPts val="0"/>
              </a:spcAft>
            </a:pPr>
            <a:r>
              <a:rPr sz="900" b="0">
                <a:solidFill>
                  <a:srgbClr val="263746"/>
                </a:solidFill>
                <a:latin typeface="Arial"/>
              </a:rPr>
              <a:t>Pre RGB</a:t>
            </a:r>
          </a:p>
        </p:txBody>
      </p:sp>
      <p:sp>
        <p:nvSpPr>
          <p:cNvPr id="32" name="Rectangle 31"/>
          <p:cNvSpPr/>
          <p:nvPr/>
        </p:nvSpPr>
        <p:spPr>
          <a:xfrm>
            <a:off x="144000" y="1998000"/>
            <a:ext cx="503999" cy="360000"/>
          </a:xfrm>
          <a:prstGeom prst="rect">
            <a:avLst/>
          </a:prstGeom>
          <a:solidFill>
            <a:srgbClr val="F3F4F5"/>
          </a:solidFill>
          <a:ln w="8890">
            <a:solidFill>
              <a:srgbClr val="52667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154800" y="2008800"/>
            <a:ext cx="482399" cy="338400"/>
          </a:xfrm>
          <a:prstGeom prst="rect">
            <a:avLst/>
          </a:prstGeom>
          <a:noFill/>
        </p:spPr>
        <p:txBody>
          <a:bodyPr wrap="square" lIns="10800" rIns="10800" tIns="3600" bIns="3600" anchor="ctr">
            <a:spAutoFit/>
          </a:bodyPr>
          <a:lstStyle/>
          <a:p>
            <a:pPr algn="ctr">
              <a:spcBef>
                <a:spcPts val="0"/>
              </a:spcBef>
              <a:spcAft>
                <a:spcPts val="0"/>
              </a:spcAft>
            </a:pPr>
            <a:r>
              <a:rPr sz="900" b="0">
                <a:solidFill>
                  <a:srgbClr val="263746"/>
                </a:solidFill>
                <a:latin typeface="Arial"/>
              </a:rPr>
              <a:t>Post SAR</a:t>
            </a:r>
          </a:p>
        </p:txBody>
      </p:sp>
      <p:sp>
        <p:nvSpPr>
          <p:cNvPr id="34" name="Rectangle 33"/>
          <p:cNvSpPr/>
          <p:nvPr/>
        </p:nvSpPr>
        <p:spPr>
          <a:xfrm>
            <a:off x="792000" y="1584000"/>
            <a:ext cx="630000" cy="630000"/>
          </a:xfrm>
          <a:prstGeom prst="rect">
            <a:avLst/>
          </a:prstGeom>
          <a:solidFill>
            <a:srgbClr val="EAF1F8"/>
          </a:solidFill>
          <a:ln w="8890">
            <a:solidFill>
              <a:srgbClr val="52667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802800" y="1594800"/>
            <a:ext cx="608400" cy="608400"/>
          </a:xfrm>
          <a:prstGeom prst="rect">
            <a:avLst/>
          </a:prstGeom>
          <a:noFill/>
        </p:spPr>
        <p:txBody>
          <a:bodyPr wrap="square" lIns="10800" rIns="10800" tIns="3600" bIns="3600" anchor="ctr">
            <a:spAutoFit/>
          </a:bodyPr>
          <a:lstStyle/>
          <a:p>
            <a:pPr algn="ctr">
              <a:spcBef>
                <a:spcPts val="0"/>
              </a:spcBef>
              <a:spcAft>
                <a:spcPts val="0"/>
              </a:spcAft>
            </a:pPr>
            <a:r>
              <a:rPr sz="900" b="0">
                <a:solidFill>
                  <a:srgbClr val="263746"/>
                </a:solidFill>
                <a:latin typeface="Arial"/>
              </a:rPr>
              <a:t>Frozen</a:t>
            </a:r>
          </a:p>
          <a:p>
            <a:pPr algn="ctr">
              <a:spcBef>
                <a:spcPts val="0"/>
              </a:spcBef>
              <a:spcAft>
                <a:spcPts val="0"/>
              </a:spcAft>
            </a:pPr>
            <a:r>
              <a:rPr sz="900" b="0">
                <a:solidFill>
                  <a:srgbClr val="263746"/>
                </a:solidFill>
                <a:latin typeface="Arial"/>
              </a:rPr>
              <a:t>MPF</a:t>
            </a:r>
          </a:p>
        </p:txBody>
      </p:sp>
      <p:cxnSp>
        <p:nvCxnSpPr>
          <p:cNvPr id="36" name="Connector 35"/>
          <p:cNvCxnSpPr/>
          <p:nvPr/>
        </p:nvCxnSpPr>
        <p:spPr>
          <a:xfrm>
            <a:off x="648000" y="1620000"/>
            <a:ext cx="144000" cy="108000"/>
          </a:xfrm>
          <a:prstGeom prst="line">
            <a:avLst/>
          </a:prstGeom>
          <a:ln w="11430">
            <a:solidFill>
              <a:srgbClr val="526675"/>
            </a:solidFill>
            <a:tailEnd type="triangle"/>
          </a:ln>
        </p:spPr>
        <p:style>
          <a:lnRef idx="2">
            <a:schemeClr val="accent1"/>
          </a:lnRef>
          <a:fillRef idx="0">
            <a:schemeClr val="accent1"/>
          </a:fillRef>
          <a:effectRef idx="0">
            <a:schemeClr val="accent1"/>
          </a:effectRef>
          <a:fontRef idx="minor">
            <a:schemeClr val="tx1"/>
          </a:fontRef>
        </p:style>
      </p:cxnSp>
      <p:cxnSp>
        <p:nvCxnSpPr>
          <p:cNvPr id="37" name="Connector 36"/>
          <p:cNvCxnSpPr/>
          <p:nvPr/>
        </p:nvCxnSpPr>
        <p:spPr>
          <a:xfrm flipV="1">
            <a:off x="648000" y="2052000"/>
            <a:ext cx="144000" cy="126000"/>
          </a:xfrm>
          <a:prstGeom prst="line">
            <a:avLst/>
          </a:prstGeom>
          <a:ln w="11430">
            <a:solidFill>
              <a:srgbClr val="526675"/>
            </a:solidFill>
            <a:tailEnd type="triangle"/>
          </a:ln>
        </p:spPr>
        <p:style>
          <a:lnRef idx="2">
            <a:schemeClr val="accent1"/>
          </a:lnRef>
          <a:fillRef idx="0">
            <a:schemeClr val="accent1"/>
          </a:fillRef>
          <a:effectRef idx="0">
            <a:schemeClr val="accent1"/>
          </a:effectRef>
          <a:fontRef idx="minor">
            <a:schemeClr val="tx1"/>
          </a:fontRef>
        </p:style>
      </p:cxnSp>
      <p:sp>
        <p:nvSpPr>
          <p:cNvPr id="38" name="TextBox 37"/>
          <p:cNvSpPr txBox="1"/>
          <p:nvPr/>
        </p:nvSpPr>
        <p:spPr>
          <a:xfrm>
            <a:off x="162000" y="2556000"/>
            <a:ext cx="1260000" cy="540000"/>
          </a:xfrm>
          <a:prstGeom prst="rect">
            <a:avLst/>
          </a:prstGeom>
          <a:noFill/>
        </p:spPr>
        <p:txBody>
          <a:bodyPr wrap="square" lIns="10800" rIns="10800" tIns="3600" bIns="3600" anchor="ctr">
            <a:spAutoFit/>
          </a:bodyPr>
          <a:lstStyle/>
          <a:p>
            <a:pPr algn="ctr">
              <a:spcBef>
                <a:spcPts val="0"/>
              </a:spcBef>
              <a:spcAft>
                <a:spcPts val="0"/>
              </a:spcAft>
            </a:pPr>
            <a:r>
              <a:rPr sz="900" b="0">
                <a:solidFill>
                  <a:srgbClr val="263746"/>
                </a:solidFill>
                <a:latin typeface="Arial"/>
              </a:rPr>
              <a:t>F: fused pixel features</a:t>
            </a:r>
          </a:p>
          <a:p>
            <a:pPr algn="ctr">
              <a:spcBef>
                <a:spcPts val="0"/>
              </a:spcBef>
              <a:spcAft>
                <a:spcPts val="0"/>
              </a:spcAft>
            </a:pPr>
            <a:r>
              <a:rPr sz="900" b="0">
                <a:solidFill>
                  <a:srgbClr val="263746"/>
                </a:solidFill>
                <a:latin typeface="Arial"/>
              </a:rPr>
              <a:t>R: RGB structure</a:t>
            </a:r>
          </a:p>
          <a:p>
            <a:pPr algn="ctr">
              <a:spcBef>
                <a:spcPts val="0"/>
              </a:spcBef>
              <a:spcAft>
                <a:spcPts val="0"/>
              </a:spcAft>
            </a:pPr>
            <a:r>
              <a:rPr sz="900" b="0">
                <a:solidFill>
                  <a:srgbClr val="263746"/>
                </a:solidFill>
                <a:latin typeface="Arial"/>
              </a:rPr>
              <a:t>B: building probability</a:t>
            </a:r>
          </a:p>
        </p:txBody>
      </p:sp>
      <p:sp>
        <p:nvSpPr>
          <p:cNvPr id="39" name="Rectangle 38"/>
          <p:cNvSpPr/>
          <p:nvPr/>
        </p:nvSpPr>
        <p:spPr>
          <a:xfrm>
            <a:off x="1764000" y="1368000"/>
            <a:ext cx="1332000" cy="432000"/>
          </a:xfrm>
          <a:prstGeom prst="rect">
            <a:avLst/>
          </a:prstGeom>
          <a:solidFill>
            <a:srgbClr val="FFF0DD"/>
          </a:solidFill>
          <a:ln w="8890">
            <a:solidFill>
              <a:srgbClr val="52667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1774800" y="1378799"/>
            <a:ext cx="1310400" cy="410399"/>
          </a:xfrm>
          <a:prstGeom prst="rect">
            <a:avLst/>
          </a:prstGeom>
          <a:noFill/>
        </p:spPr>
        <p:txBody>
          <a:bodyPr wrap="square" lIns="10800" rIns="10800" tIns="3600" bIns="3600" anchor="ctr">
            <a:spAutoFit/>
          </a:bodyPr>
          <a:lstStyle/>
          <a:p>
            <a:pPr algn="ctr">
              <a:spcBef>
                <a:spcPts val="0"/>
              </a:spcBef>
              <a:spcAft>
                <a:spcPts val="0"/>
              </a:spcAft>
            </a:pPr>
            <a:r>
              <a:rPr sz="900" b="0">
                <a:solidFill>
                  <a:srgbClr val="263746"/>
                </a:solidFill>
                <a:latin typeface="Arial"/>
              </a:rPr>
              <a:t>R + B</a:t>
            </a:r>
          </a:p>
          <a:p>
            <a:pPr algn="ctr">
              <a:spcBef>
                <a:spcPts val="0"/>
              </a:spcBef>
              <a:spcAft>
                <a:spcPts val="0"/>
              </a:spcAft>
            </a:pPr>
            <a:r>
              <a:rPr sz="900" b="0">
                <a:solidFill>
                  <a:srgbClr val="263746"/>
                </a:solidFill>
                <a:latin typeface="Arial"/>
              </a:rPr>
              <a:t>Local soft association</a:t>
            </a:r>
          </a:p>
        </p:txBody>
      </p:sp>
      <p:sp>
        <p:nvSpPr>
          <p:cNvPr id="41" name="Rectangle 40"/>
          <p:cNvSpPr/>
          <p:nvPr/>
        </p:nvSpPr>
        <p:spPr>
          <a:xfrm>
            <a:off x="1764000" y="2034000"/>
            <a:ext cx="1332000" cy="450000"/>
          </a:xfrm>
          <a:prstGeom prst="rect">
            <a:avLst/>
          </a:prstGeom>
          <a:solidFill>
            <a:srgbClr val="FFF0DD"/>
          </a:solidFill>
          <a:ln w="8890">
            <a:solidFill>
              <a:srgbClr val="52667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1774800" y="2044800"/>
            <a:ext cx="1310400" cy="428400"/>
          </a:xfrm>
          <a:prstGeom prst="rect">
            <a:avLst/>
          </a:prstGeom>
          <a:noFill/>
        </p:spPr>
        <p:txBody>
          <a:bodyPr wrap="square" lIns="10800" rIns="10800" tIns="3600" bIns="3600" anchor="ctr">
            <a:spAutoFit/>
          </a:bodyPr>
          <a:lstStyle/>
          <a:p>
            <a:pPr algn="ctr">
              <a:spcBef>
                <a:spcPts val="0"/>
              </a:spcBef>
              <a:spcAft>
                <a:spcPts val="0"/>
              </a:spcAft>
            </a:pPr>
            <a:r>
              <a:rPr sz="900" b="0">
                <a:solidFill>
                  <a:srgbClr val="263746"/>
                </a:solidFill>
                <a:latin typeface="Arial"/>
              </a:rPr>
              <a:t>F + B + b(Q) + H(Q)</a:t>
            </a:r>
          </a:p>
          <a:p>
            <a:pPr algn="ctr">
              <a:spcBef>
                <a:spcPts val="0"/>
              </a:spcBef>
              <a:spcAft>
                <a:spcPts val="0"/>
              </a:spcAft>
            </a:pPr>
            <a:r>
              <a:rPr sz="900" b="0">
                <a:solidFill>
                  <a:srgbClr val="263746"/>
                </a:solidFill>
                <a:latin typeface="Arial"/>
              </a:rPr>
              <a:t>Structure-conditioned Adapter</a:t>
            </a:r>
          </a:p>
        </p:txBody>
      </p:sp>
      <p:sp>
        <p:nvSpPr>
          <p:cNvPr id="43" name="Rectangle 42"/>
          <p:cNvSpPr/>
          <p:nvPr/>
        </p:nvSpPr>
        <p:spPr>
          <a:xfrm>
            <a:off x="1764000" y="2700000"/>
            <a:ext cx="1332000" cy="522000"/>
          </a:xfrm>
          <a:prstGeom prst="rect">
            <a:avLst/>
          </a:prstGeom>
          <a:solidFill>
            <a:srgbClr val="FFF0DD"/>
          </a:solidFill>
          <a:ln w="8890">
            <a:solidFill>
              <a:srgbClr val="52667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1774800" y="2710800"/>
            <a:ext cx="1310400" cy="500399"/>
          </a:xfrm>
          <a:prstGeom prst="rect">
            <a:avLst/>
          </a:prstGeom>
          <a:noFill/>
        </p:spPr>
        <p:txBody>
          <a:bodyPr wrap="square" lIns="10800" rIns="10800" tIns="3600" bIns="3600" anchor="ctr">
            <a:spAutoFit/>
          </a:bodyPr>
          <a:lstStyle/>
          <a:p>
            <a:pPr algn="ctr">
              <a:spcBef>
                <a:spcPts val="0"/>
              </a:spcBef>
              <a:spcAft>
                <a:spcPts val="0"/>
              </a:spcAft>
            </a:pPr>
            <a:r>
              <a:rPr sz="900" b="0">
                <a:solidFill>
                  <a:srgbClr val="263746"/>
                </a:solidFill>
                <a:latin typeface="Arial"/>
              </a:rPr>
              <a:t>Q-weighted content</a:t>
            </a:r>
          </a:p>
          <a:p>
            <a:pPr algn="ctr">
              <a:spcBef>
                <a:spcPts val="0"/>
              </a:spcBef>
              <a:spcAft>
                <a:spcPts val="0"/>
              </a:spcAft>
            </a:pPr>
            <a:r>
              <a:rPr sz="900" b="0">
                <a:solidFill>
                  <a:srgbClr val="263746"/>
                </a:solidFill>
                <a:latin typeface="Arial"/>
              </a:rPr>
              <a:t>+ pre-Adapter F statistics</a:t>
            </a:r>
          </a:p>
          <a:p>
            <a:pPr algn="ctr">
              <a:spcBef>
                <a:spcPts val="0"/>
              </a:spcBef>
              <a:spcAft>
                <a:spcPts val="0"/>
              </a:spcAft>
            </a:pPr>
            <a:r>
              <a:rPr sz="900" b="0">
                <a:solidFill>
                  <a:srgbClr val="263746"/>
                </a:solidFill>
                <a:latin typeface="Arial"/>
              </a:rPr>
              <a:t>+ soft geometry</a:t>
            </a:r>
          </a:p>
        </p:txBody>
      </p:sp>
      <p:cxnSp>
        <p:nvCxnSpPr>
          <p:cNvPr id="45" name="Connector 44"/>
          <p:cNvCxnSpPr/>
          <p:nvPr/>
        </p:nvCxnSpPr>
        <p:spPr>
          <a:xfrm flipV="1">
            <a:off x="1422000" y="1584000"/>
            <a:ext cx="342000" cy="108000"/>
          </a:xfrm>
          <a:prstGeom prst="line">
            <a:avLst/>
          </a:prstGeom>
          <a:ln w="11430">
            <a:solidFill>
              <a:srgbClr val="526675"/>
            </a:solidFill>
            <a:tailEnd type="triangle"/>
          </a:ln>
        </p:spPr>
        <p:style>
          <a:lnRef idx="2">
            <a:schemeClr val="accent1"/>
          </a:lnRef>
          <a:fillRef idx="0">
            <a:schemeClr val="accent1"/>
          </a:fillRef>
          <a:effectRef idx="0">
            <a:schemeClr val="accent1"/>
          </a:effectRef>
          <a:fontRef idx="minor">
            <a:schemeClr val="tx1"/>
          </a:fontRef>
        </p:style>
      </p:cxnSp>
      <p:cxnSp>
        <p:nvCxnSpPr>
          <p:cNvPr id="46" name="Connector 45"/>
          <p:cNvCxnSpPr/>
          <p:nvPr/>
        </p:nvCxnSpPr>
        <p:spPr>
          <a:xfrm>
            <a:off x="3096000" y="1800000"/>
            <a:ext cx="0" cy="198000"/>
          </a:xfrm>
          <a:prstGeom prst="line">
            <a:avLst/>
          </a:prstGeom>
          <a:ln w="11430">
            <a:solidFill>
              <a:srgbClr val="526675"/>
            </a:solidFill>
            <a:tailEnd type="triangle"/>
          </a:ln>
        </p:spPr>
        <p:style>
          <a:lnRef idx="2">
            <a:schemeClr val="accent1"/>
          </a:lnRef>
          <a:fillRef idx="0">
            <a:schemeClr val="accent1"/>
          </a:fillRef>
          <a:effectRef idx="0">
            <a:schemeClr val="accent1"/>
          </a:effectRef>
          <a:fontRef idx="minor">
            <a:schemeClr val="tx1"/>
          </a:fontRef>
        </p:style>
      </p:cxnSp>
      <p:sp>
        <p:nvSpPr>
          <p:cNvPr id="47" name="TextBox 46"/>
          <p:cNvSpPr txBox="1"/>
          <p:nvPr/>
        </p:nvSpPr>
        <p:spPr>
          <a:xfrm>
            <a:off x="2951999" y="1828800"/>
            <a:ext cx="180000" cy="144000"/>
          </a:xfrm>
          <a:prstGeom prst="rect">
            <a:avLst/>
          </a:prstGeom>
          <a:noFill/>
        </p:spPr>
        <p:txBody>
          <a:bodyPr wrap="square" lIns="10800" rIns="10800" tIns="3600" bIns="3600" anchor="ctr">
            <a:spAutoFit/>
          </a:bodyPr>
          <a:lstStyle/>
          <a:p>
            <a:pPr algn="ctr">
              <a:spcBef>
                <a:spcPts val="0"/>
              </a:spcBef>
              <a:spcAft>
                <a:spcPts val="0"/>
              </a:spcAft>
            </a:pPr>
            <a:r>
              <a:rPr sz="900" b="0">
                <a:solidFill>
                  <a:srgbClr val="263746"/>
                </a:solidFill>
                <a:latin typeface="Arial"/>
              </a:rPr>
              <a:t>Q</a:t>
            </a:r>
          </a:p>
        </p:txBody>
      </p:sp>
      <p:cxnSp>
        <p:nvCxnSpPr>
          <p:cNvPr id="48" name="Connector 47"/>
          <p:cNvCxnSpPr/>
          <p:nvPr/>
        </p:nvCxnSpPr>
        <p:spPr>
          <a:xfrm>
            <a:off x="2430000" y="2484000"/>
            <a:ext cx="0" cy="216000"/>
          </a:xfrm>
          <a:prstGeom prst="line">
            <a:avLst/>
          </a:prstGeom>
          <a:ln w="11430">
            <a:solidFill>
              <a:srgbClr val="526675"/>
            </a:solidFill>
            <a:tailEnd type="triangle"/>
          </a:ln>
        </p:spPr>
        <p:style>
          <a:lnRef idx="2">
            <a:schemeClr val="accent1"/>
          </a:lnRef>
          <a:fillRef idx="0">
            <a:schemeClr val="accent1"/>
          </a:fillRef>
          <a:effectRef idx="0">
            <a:schemeClr val="accent1"/>
          </a:effectRef>
          <a:fontRef idx="minor">
            <a:schemeClr val="tx1"/>
          </a:fontRef>
        </p:style>
      </p:cxnSp>
      <p:sp>
        <p:nvSpPr>
          <p:cNvPr id="49" name="TextBox 48"/>
          <p:cNvSpPr txBox="1"/>
          <p:nvPr/>
        </p:nvSpPr>
        <p:spPr>
          <a:xfrm>
            <a:off x="3052800" y="3204000"/>
            <a:ext cx="144000" cy="144000"/>
          </a:xfrm>
          <a:prstGeom prst="rect">
            <a:avLst/>
          </a:prstGeom>
          <a:noFill/>
        </p:spPr>
        <p:txBody>
          <a:bodyPr wrap="square" lIns="10800" rIns="10800" tIns="3600" bIns="3600" anchor="ctr">
            <a:spAutoFit/>
          </a:bodyPr>
          <a:lstStyle/>
          <a:p>
            <a:pPr algn="ctr">
              <a:spcBef>
                <a:spcPts val="0"/>
              </a:spcBef>
              <a:spcAft>
                <a:spcPts val="0"/>
              </a:spcAft>
            </a:pPr>
            <a:r>
              <a:rPr sz="1000" b="1">
                <a:solidFill>
                  <a:srgbClr val="263746"/>
                </a:solidFill>
                <a:latin typeface="Arial"/>
              </a:rPr>
              <a:t>T</a:t>
            </a:r>
          </a:p>
        </p:txBody>
      </p:sp>
      <p:sp>
        <p:nvSpPr>
          <p:cNvPr id="50" name="Rectangle 49"/>
          <p:cNvSpPr/>
          <p:nvPr/>
        </p:nvSpPr>
        <p:spPr>
          <a:xfrm>
            <a:off x="3474000" y="1368000"/>
            <a:ext cx="2376000" cy="396000"/>
          </a:xfrm>
          <a:prstGeom prst="rect">
            <a:avLst/>
          </a:prstGeom>
          <a:solidFill>
            <a:srgbClr val="F0EAF7"/>
          </a:solidFill>
          <a:ln w="8890">
            <a:solidFill>
              <a:srgbClr val="52667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TextBox 50"/>
          <p:cNvSpPr txBox="1"/>
          <p:nvPr/>
        </p:nvSpPr>
        <p:spPr>
          <a:xfrm>
            <a:off x="3484800" y="1378799"/>
            <a:ext cx="2354400" cy="374400"/>
          </a:xfrm>
          <a:prstGeom prst="rect">
            <a:avLst/>
          </a:prstGeom>
          <a:noFill/>
        </p:spPr>
        <p:txBody>
          <a:bodyPr wrap="square" lIns="10800" rIns="10800" tIns="3600" bIns="3600" anchor="ctr">
            <a:spAutoFit/>
          </a:bodyPr>
          <a:lstStyle/>
          <a:p>
            <a:pPr algn="ctr">
              <a:spcBef>
                <a:spcPts val="0"/>
              </a:spcBef>
              <a:spcAft>
                <a:spcPts val="0"/>
              </a:spcAft>
            </a:pPr>
            <a:r>
              <a:rPr sz="900" b="0">
                <a:solidFill>
                  <a:srgbClr val="263746"/>
                </a:solidFill>
                <a:latin typeface="Arial"/>
              </a:rPr>
              <a:t>Select IDs</a:t>
            </a:r>
          </a:p>
          <a:p>
            <a:pPr algn="ctr">
              <a:spcBef>
                <a:spcPts val="0"/>
              </a:spcBef>
              <a:spcAft>
                <a:spcPts val="0"/>
              </a:spcAft>
            </a:pPr>
            <a:r>
              <a:rPr sz="900" b="0">
                <a:solidFill>
                  <a:srgbClr val="263746"/>
                </a:solidFill>
                <a:latin typeface="Arial"/>
              </a:rPr>
              <a:t>cosine or supervised projection</a:t>
            </a:r>
          </a:p>
        </p:txBody>
      </p:sp>
      <p:sp>
        <p:nvSpPr>
          <p:cNvPr id="52" name="Rectangle 51"/>
          <p:cNvSpPr/>
          <p:nvPr/>
        </p:nvSpPr>
        <p:spPr>
          <a:xfrm>
            <a:off x="3474000" y="1944000"/>
            <a:ext cx="2376000" cy="360000"/>
          </a:xfrm>
          <a:prstGeom prst="rect">
            <a:avLst/>
          </a:prstGeom>
          <a:solidFill>
            <a:srgbClr val="F0EAF7"/>
          </a:solidFill>
          <a:ln w="8890">
            <a:solidFill>
              <a:srgbClr val="52667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3484800" y="1954800"/>
            <a:ext cx="2354400" cy="338400"/>
          </a:xfrm>
          <a:prstGeom prst="rect">
            <a:avLst/>
          </a:prstGeom>
          <a:noFill/>
        </p:spPr>
        <p:txBody>
          <a:bodyPr wrap="square" lIns="10800" rIns="10800" tIns="3600" bIns="3600" anchor="ctr">
            <a:spAutoFit/>
          </a:bodyPr>
          <a:lstStyle/>
          <a:p>
            <a:pPr algn="ctr">
              <a:spcBef>
                <a:spcPts val="0"/>
              </a:spcBef>
              <a:spcAft>
                <a:spcPts val="0"/>
              </a:spcAft>
            </a:pPr>
            <a:r>
              <a:rPr sz="900" b="0">
                <a:solidFill>
                  <a:srgbClr val="263746"/>
                </a:solidFill>
                <a:latin typeface="Arial"/>
              </a:rPr>
              <a:t>Fetch original records</a:t>
            </a:r>
          </a:p>
          <a:p>
            <a:pPr algn="ctr">
              <a:spcBef>
                <a:spcPts val="0"/>
              </a:spcBef>
              <a:spcAft>
                <a:spcPts val="0"/>
              </a:spcAft>
            </a:pPr>
            <a:r>
              <a:rPr sz="900" b="0">
                <a:solidFill>
                  <a:srgbClr val="263746"/>
                </a:solidFill>
                <a:latin typeface="Arial"/>
              </a:rPr>
              <a:t>Tₛ, Train soft labels πₛ, metadata mₛ</a:t>
            </a:r>
          </a:p>
        </p:txBody>
      </p:sp>
      <p:sp>
        <p:nvSpPr>
          <p:cNvPr id="54" name="Rectangle 53"/>
          <p:cNvSpPr/>
          <p:nvPr/>
        </p:nvSpPr>
        <p:spPr>
          <a:xfrm>
            <a:off x="3474000" y="2484000"/>
            <a:ext cx="2376000" cy="360000"/>
          </a:xfrm>
          <a:prstGeom prst="rect">
            <a:avLst/>
          </a:prstGeom>
          <a:solidFill>
            <a:srgbClr val="F0EAF7"/>
          </a:solidFill>
          <a:ln w="8890">
            <a:solidFill>
              <a:srgbClr val="52667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3484800" y="2494800"/>
            <a:ext cx="2354400" cy="338400"/>
          </a:xfrm>
          <a:prstGeom prst="rect">
            <a:avLst/>
          </a:prstGeom>
          <a:noFill/>
        </p:spPr>
        <p:txBody>
          <a:bodyPr wrap="square" lIns="10800" rIns="10800" tIns="3600" bIns="3600" anchor="ctr">
            <a:spAutoFit/>
          </a:bodyPr>
          <a:lstStyle/>
          <a:p>
            <a:pPr algn="ctr">
              <a:spcBef>
                <a:spcPts val="0"/>
              </a:spcBef>
              <a:spcAft>
                <a:spcPts val="0"/>
              </a:spcAft>
            </a:pPr>
            <a:r>
              <a:rPr sz="900" b="0">
                <a:solidFill>
                  <a:srgbClr val="263746"/>
                </a:solidFill>
                <a:latin typeface="Arial"/>
              </a:rPr>
              <a:t>Reader</a:t>
            </a:r>
          </a:p>
          <a:p>
            <a:pPr algn="ctr">
              <a:spcBef>
                <a:spcPts val="0"/>
              </a:spcBef>
              <a:spcAft>
                <a:spcPts val="0"/>
              </a:spcAft>
            </a:pPr>
            <a:r>
              <a:rPr sz="900" b="0">
                <a:solidFill>
                  <a:srgbClr val="263746"/>
                </a:solidFill>
                <a:latin typeface="Arial"/>
              </a:rPr>
              <a:t>query T + original support content</a:t>
            </a:r>
          </a:p>
        </p:txBody>
      </p:sp>
      <p:sp>
        <p:nvSpPr>
          <p:cNvPr id="56" name="Rectangle 55"/>
          <p:cNvSpPr/>
          <p:nvPr/>
        </p:nvSpPr>
        <p:spPr>
          <a:xfrm>
            <a:off x="3474000" y="3024000"/>
            <a:ext cx="2376000" cy="360000"/>
          </a:xfrm>
          <a:prstGeom prst="rect">
            <a:avLst/>
          </a:prstGeom>
          <a:solidFill>
            <a:srgbClr val="DBEEF0"/>
          </a:solidFill>
          <a:ln w="8890">
            <a:solidFill>
              <a:srgbClr val="52667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TextBox 56"/>
          <p:cNvSpPr txBox="1"/>
          <p:nvPr/>
        </p:nvSpPr>
        <p:spPr>
          <a:xfrm>
            <a:off x="3484800" y="3034800"/>
            <a:ext cx="2354400" cy="338400"/>
          </a:xfrm>
          <a:prstGeom prst="rect">
            <a:avLst/>
          </a:prstGeom>
          <a:noFill/>
        </p:spPr>
        <p:txBody>
          <a:bodyPr wrap="square" lIns="10800" rIns="10800" tIns="3600" bIns="3600" anchor="ctr">
            <a:spAutoFit/>
          </a:bodyPr>
          <a:lstStyle/>
          <a:p>
            <a:pPr algn="ctr">
              <a:spcBef>
                <a:spcPts val="0"/>
              </a:spcBef>
              <a:spcAft>
                <a:spcPts val="0"/>
              </a:spcAft>
            </a:pPr>
            <a:r>
              <a:rPr sz="900" b="0">
                <a:solidFill>
                  <a:srgbClr val="263746"/>
                </a:solidFill>
                <a:latin typeface="Arial"/>
              </a:rPr>
              <a:t>Same-Q back-projection → C</a:t>
            </a:r>
          </a:p>
          <a:p>
            <a:pPr algn="ctr">
              <a:spcBef>
                <a:spcPts val="0"/>
              </a:spcBef>
              <a:spcAft>
                <a:spcPts val="0"/>
              </a:spcAft>
            </a:pPr>
            <a:r>
              <a:rPr sz="900" b="0">
                <a:solidFill>
                  <a:srgbClr val="263746"/>
                </a:solidFill>
                <a:latin typeface="Arial"/>
              </a:rPr>
              <a:t>Joint prediction: z = WₚF + W꜀C + b</a:t>
            </a:r>
          </a:p>
        </p:txBody>
      </p:sp>
      <p:cxnSp>
        <p:nvCxnSpPr>
          <p:cNvPr id="58" name="Connector 57"/>
          <p:cNvCxnSpPr/>
          <p:nvPr/>
        </p:nvCxnSpPr>
        <p:spPr>
          <a:xfrm>
            <a:off x="4662000" y="1764000"/>
            <a:ext cx="0" cy="180000"/>
          </a:xfrm>
          <a:prstGeom prst="line">
            <a:avLst/>
          </a:prstGeom>
          <a:ln w="11430">
            <a:solidFill>
              <a:srgbClr val="526675"/>
            </a:solidFill>
            <a:tailEnd type="triangle"/>
          </a:ln>
        </p:spPr>
        <p:style>
          <a:lnRef idx="2">
            <a:schemeClr val="accent1"/>
          </a:lnRef>
          <a:fillRef idx="0">
            <a:schemeClr val="accent1"/>
          </a:fillRef>
          <a:effectRef idx="0">
            <a:schemeClr val="accent1"/>
          </a:effectRef>
          <a:fontRef idx="minor">
            <a:schemeClr val="tx1"/>
          </a:fontRef>
        </p:style>
      </p:cxnSp>
      <p:cxnSp>
        <p:nvCxnSpPr>
          <p:cNvPr id="59" name="Connector 58"/>
          <p:cNvCxnSpPr/>
          <p:nvPr/>
        </p:nvCxnSpPr>
        <p:spPr>
          <a:xfrm>
            <a:off x="4662000" y="2304000"/>
            <a:ext cx="0" cy="180000"/>
          </a:xfrm>
          <a:prstGeom prst="line">
            <a:avLst/>
          </a:prstGeom>
          <a:ln w="11430">
            <a:solidFill>
              <a:srgbClr val="526675"/>
            </a:solidFill>
            <a:tailEnd type="triangle"/>
          </a:ln>
        </p:spPr>
        <p:style>
          <a:lnRef idx="2">
            <a:schemeClr val="accent1"/>
          </a:lnRef>
          <a:fillRef idx="0">
            <a:schemeClr val="accent1"/>
          </a:fillRef>
          <a:effectRef idx="0">
            <a:schemeClr val="accent1"/>
          </a:effectRef>
          <a:fontRef idx="minor">
            <a:schemeClr val="tx1"/>
          </a:fontRef>
        </p:style>
      </p:cxnSp>
      <p:cxnSp>
        <p:nvCxnSpPr>
          <p:cNvPr id="60" name="Connector 59"/>
          <p:cNvCxnSpPr/>
          <p:nvPr/>
        </p:nvCxnSpPr>
        <p:spPr>
          <a:xfrm>
            <a:off x="4662000" y="2844000"/>
            <a:ext cx="0" cy="180000"/>
          </a:xfrm>
          <a:prstGeom prst="line">
            <a:avLst/>
          </a:prstGeom>
          <a:ln w="11430">
            <a:solidFill>
              <a:srgbClr val="526675"/>
            </a:solidFill>
            <a:tailEnd type="triangle"/>
          </a:ln>
        </p:spPr>
        <p:style>
          <a:lnRef idx="2">
            <a:schemeClr val="accent1"/>
          </a:lnRef>
          <a:fillRef idx="0">
            <a:schemeClr val="accent1"/>
          </a:fillRef>
          <a:effectRef idx="0">
            <a:schemeClr val="accent1"/>
          </a:effectRef>
          <a:fontRef idx="minor">
            <a:schemeClr val="tx1"/>
          </a:fontRef>
        </p:style>
      </p:cxnSp>
      <p:cxnSp>
        <p:nvCxnSpPr>
          <p:cNvPr id="61" name="Connector 60"/>
          <p:cNvCxnSpPr/>
          <p:nvPr/>
        </p:nvCxnSpPr>
        <p:spPr>
          <a:xfrm>
            <a:off x="5130000" y="917999"/>
            <a:ext cx="0" cy="414001"/>
          </a:xfrm>
          <a:prstGeom prst="line">
            <a:avLst/>
          </a:prstGeom>
          <a:ln w="11430">
            <a:solidFill>
              <a:srgbClr val="526675"/>
            </a:solidFill>
            <a:tailEnd type="triangle"/>
            <a:prstDash val="dash"/>
          </a:ln>
        </p:spPr>
        <p:style>
          <a:lnRef idx="2">
            <a:schemeClr val="accent1"/>
          </a:lnRef>
          <a:fillRef idx="0">
            <a:schemeClr val="accent1"/>
          </a:fillRef>
          <a:effectRef idx="0">
            <a:schemeClr val="accent1"/>
          </a:effectRef>
          <a:fontRef idx="minor">
            <a:schemeClr val="tx1"/>
          </a:fontRef>
        </p:style>
      </p:cxnSp>
      <p:cxnSp>
        <p:nvCxnSpPr>
          <p:cNvPr id="62" name="Connector 61"/>
          <p:cNvCxnSpPr/>
          <p:nvPr/>
        </p:nvCxnSpPr>
        <p:spPr>
          <a:xfrm flipV="1">
            <a:off x="3096000" y="2682000"/>
            <a:ext cx="378000" cy="288000"/>
          </a:xfrm>
          <a:prstGeom prst="line">
            <a:avLst/>
          </a:prstGeom>
          <a:ln w="11430">
            <a:solidFill>
              <a:srgbClr val="526675"/>
            </a:solidFill>
            <a:tailEnd type="triangle"/>
          </a:ln>
        </p:spPr>
        <p:style>
          <a:lnRef idx="2">
            <a:schemeClr val="accent1"/>
          </a:lnRef>
          <a:fillRef idx="0">
            <a:schemeClr val="accent1"/>
          </a:fillRef>
          <a:effectRef idx="0">
            <a:schemeClr val="accent1"/>
          </a:effectRef>
          <a:fontRef idx="minor">
            <a:schemeClr val="tx1"/>
          </a:fontRef>
        </p:style>
      </p:cxnSp>
      <p:cxnSp>
        <p:nvCxnSpPr>
          <p:cNvPr id="63" name="Connector 62"/>
          <p:cNvCxnSpPr/>
          <p:nvPr/>
        </p:nvCxnSpPr>
        <p:spPr>
          <a:xfrm>
            <a:off x="1422000" y="2088000"/>
            <a:ext cx="162000" cy="0"/>
          </a:xfrm>
          <a:prstGeom prst="line">
            <a:avLst/>
          </a:prstGeom>
          <a:ln w="11430">
            <a:solidFill>
              <a:srgbClr val="307580"/>
            </a:solidFill>
            <a:tailEnd type="triangle"/>
          </a:ln>
        </p:spPr>
        <p:style>
          <a:lnRef idx="2">
            <a:schemeClr val="accent1"/>
          </a:lnRef>
          <a:fillRef idx="0">
            <a:schemeClr val="accent1"/>
          </a:fillRef>
          <a:effectRef idx="0">
            <a:schemeClr val="accent1"/>
          </a:effectRef>
          <a:fontRef idx="minor">
            <a:schemeClr val="tx1"/>
          </a:fontRef>
        </p:style>
      </p:cxnSp>
      <p:cxnSp>
        <p:nvCxnSpPr>
          <p:cNvPr id="64" name="Connector 63"/>
          <p:cNvCxnSpPr/>
          <p:nvPr/>
        </p:nvCxnSpPr>
        <p:spPr>
          <a:xfrm>
            <a:off x="1584000" y="2088000"/>
            <a:ext cx="0" cy="1583999"/>
          </a:xfrm>
          <a:prstGeom prst="line">
            <a:avLst/>
          </a:prstGeom>
          <a:ln w="11430">
            <a:solidFill>
              <a:srgbClr val="307580"/>
            </a:solidFill>
            <a:tailEnd type="triangle"/>
          </a:ln>
        </p:spPr>
        <p:style>
          <a:lnRef idx="2">
            <a:schemeClr val="accent1"/>
          </a:lnRef>
          <a:fillRef idx="0">
            <a:schemeClr val="accent1"/>
          </a:fillRef>
          <a:effectRef idx="0">
            <a:schemeClr val="accent1"/>
          </a:effectRef>
          <a:fontRef idx="minor">
            <a:schemeClr val="tx1"/>
          </a:fontRef>
        </p:style>
      </p:cxnSp>
      <p:cxnSp>
        <p:nvCxnSpPr>
          <p:cNvPr id="65" name="Connector 64"/>
          <p:cNvCxnSpPr/>
          <p:nvPr/>
        </p:nvCxnSpPr>
        <p:spPr>
          <a:xfrm>
            <a:off x="1584000" y="3671999"/>
            <a:ext cx="3078000" cy="0"/>
          </a:xfrm>
          <a:prstGeom prst="line">
            <a:avLst/>
          </a:prstGeom>
          <a:ln w="11430">
            <a:solidFill>
              <a:srgbClr val="307580"/>
            </a:solidFill>
            <a:tailEnd type="triangle"/>
          </a:ln>
        </p:spPr>
        <p:style>
          <a:lnRef idx="2">
            <a:schemeClr val="accent1"/>
          </a:lnRef>
          <a:fillRef idx="0">
            <a:schemeClr val="accent1"/>
          </a:fillRef>
          <a:effectRef idx="0">
            <a:schemeClr val="accent1"/>
          </a:effectRef>
          <a:fontRef idx="minor">
            <a:schemeClr val="tx1"/>
          </a:fontRef>
        </p:style>
      </p:cxnSp>
      <p:cxnSp>
        <p:nvCxnSpPr>
          <p:cNvPr id="66" name="Connector 65"/>
          <p:cNvCxnSpPr/>
          <p:nvPr/>
        </p:nvCxnSpPr>
        <p:spPr>
          <a:xfrm flipV="1">
            <a:off x="4662000" y="3384000"/>
            <a:ext cx="0" cy="287999"/>
          </a:xfrm>
          <a:prstGeom prst="line">
            <a:avLst/>
          </a:prstGeom>
          <a:ln w="11430">
            <a:solidFill>
              <a:srgbClr val="307580"/>
            </a:solidFill>
            <a:tailEnd type="triangle"/>
          </a:ln>
        </p:spPr>
        <p:style>
          <a:lnRef idx="2">
            <a:schemeClr val="accent1"/>
          </a:lnRef>
          <a:fillRef idx="0">
            <a:schemeClr val="accent1"/>
          </a:fillRef>
          <a:effectRef idx="0">
            <a:schemeClr val="accent1"/>
          </a:effectRef>
          <a:fontRef idx="minor">
            <a:schemeClr val="tx1"/>
          </a:fontRef>
        </p:style>
      </p:cxnSp>
      <p:cxnSp>
        <p:nvCxnSpPr>
          <p:cNvPr id="67" name="Connector 66"/>
          <p:cNvCxnSpPr/>
          <p:nvPr/>
        </p:nvCxnSpPr>
        <p:spPr>
          <a:xfrm>
            <a:off x="1584000" y="2250000"/>
            <a:ext cx="180000" cy="0"/>
          </a:xfrm>
          <a:prstGeom prst="line">
            <a:avLst/>
          </a:prstGeom>
          <a:ln w="11430">
            <a:solidFill>
              <a:srgbClr val="307580"/>
            </a:solidFill>
            <a:tailEnd type="triangle"/>
          </a:ln>
        </p:spPr>
        <p:style>
          <a:lnRef idx="2">
            <a:schemeClr val="accent1"/>
          </a:lnRef>
          <a:fillRef idx="0">
            <a:schemeClr val="accent1"/>
          </a:fillRef>
          <a:effectRef idx="0">
            <a:schemeClr val="accent1"/>
          </a:effectRef>
          <a:fontRef idx="minor">
            <a:schemeClr val="tx1"/>
          </a:fontRef>
        </p:style>
      </p:cxnSp>
      <p:sp>
        <p:nvSpPr>
          <p:cNvPr id="68" name="TextBox 67"/>
          <p:cNvSpPr txBox="1"/>
          <p:nvPr/>
        </p:nvSpPr>
        <p:spPr>
          <a:xfrm>
            <a:off x="1728000" y="3690000"/>
            <a:ext cx="2772000" cy="144000"/>
          </a:xfrm>
          <a:prstGeom prst="rect">
            <a:avLst/>
          </a:prstGeom>
          <a:noFill/>
        </p:spPr>
        <p:txBody>
          <a:bodyPr wrap="square" lIns="10800" rIns="10800" tIns="3600" bIns="3600" anchor="ctr">
            <a:spAutoFit/>
          </a:bodyPr>
          <a:lstStyle/>
          <a:p>
            <a:pPr algn="ctr">
              <a:spcBef>
                <a:spcPts val="0"/>
              </a:spcBef>
              <a:spcAft>
                <a:spcPts val="0"/>
              </a:spcAft>
            </a:pPr>
            <a:r>
              <a:rPr sz="900" b="0">
                <a:solidFill>
                  <a:srgbClr val="263746"/>
                </a:solidFill>
                <a:latin typeface="Arial"/>
              </a:rPr>
              <a:t>Preserved pixel feature F</a:t>
            </a:r>
          </a:p>
        </p:txBody>
      </p:sp>
      <p:cxnSp>
        <p:nvCxnSpPr>
          <p:cNvPr id="69" name="Connector 68"/>
          <p:cNvCxnSpPr/>
          <p:nvPr/>
        </p:nvCxnSpPr>
        <p:spPr>
          <a:xfrm>
            <a:off x="3096000" y="2951999"/>
            <a:ext cx="180000" cy="0"/>
          </a:xfrm>
          <a:prstGeom prst="line">
            <a:avLst/>
          </a:prstGeom>
          <a:ln w="11430">
            <a:solidFill>
              <a:srgbClr val="526675"/>
            </a:solidFill>
            <a:tailEnd type="triangle"/>
          </a:ln>
        </p:spPr>
        <p:style>
          <a:lnRef idx="2">
            <a:schemeClr val="accent1"/>
          </a:lnRef>
          <a:fillRef idx="0">
            <a:schemeClr val="accent1"/>
          </a:fillRef>
          <a:effectRef idx="0">
            <a:schemeClr val="accent1"/>
          </a:effectRef>
          <a:fontRef idx="minor">
            <a:schemeClr val="tx1"/>
          </a:fontRef>
        </p:style>
      </p:cxnSp>
      <p:cxnSp>
        <p:nvCxnSpPr>
          <p:cNvPr id="70" name="Connector 69"/>
          <p:cNvCxnSpPr/>
          <p:nvPr/>
        </p:nvCxnSpPr>
        <p:spPr>
          <a:xfrm flipV="1">
            <a:off x="3276000" y="1565999"/>
            <a:ext cx="0" cy="1386000"/>
          </a:xfrm>
          <a:prstGeom prst="line">
            <a:avLst/>
          </a:prstGeom>
          <a:ln w="11430">
            <a:solidFill>
              <a:srgbClr val="526675"/>
            </a:solidFill>
            <a:tailEnd type="triangle"/>
          </a:ln>
        </p:spPr>
        <p:style>
          <a:lnRef idx="2">
            <a:schemeClr val="accent1"/>
          </a:lnRef>
          <a:fillRef idx="0">
            <a:schemeClr val="accent1"/>
          </a:fillRef>
          <a:effectRef idx="0">
            <a:schemeClr val="accent1"/>
          </a:effectRef>
          <a:fontRef idx="minor">
            <a:schemeClr val="tx1"/>
          </a:fontRef>
        </p:style>
      </p:cxnSp>
      <p:cxnSp>
        <p:nvCxnSpPr>
          <p:cNvPr id="71" name="Connector 70"/>
          <p:cNvCxnSpPr/>
          <p:nvPr/>
        </p:nvCxnSpPr>
        <p:spPr>
          <a:xfrm>
            <a:off x="3276000" y="1565999"/>
            <a:ext cx="198000" cy="0"/>
          </a:xfrm>
          <a:prstGeom prst="line">
            <a:avLst/>
          </a:prstGeom>
          <a:ln w="11430">
            <a:solidFill>
              <a:srgbClr val="526675"/>
            </a:solidFill>
            <a:tailEnd type="triangle"/>
          </a:ln>
        </p:spPr>
        <p:style>
          <a:lnRef idx="2">
            <a:schemeClr val="accent1"/>
          </a:lnRef>
          <a:fillRef idx="0">
            <a:schemeClr val="accent1"/>
          </a:fillRef>
          <a:effectRef idx="0">
            <a:schemeClr val="accent1"/>
          </a:effectRef>
          <a:fontRef idx="minor">
            <a:schemeClr val="tx1"/>
          </a:fontRef>
        </p:style>
      </p:cxnSp>
      <p:sp>
        <p:nvSpPr>
          <p:cNvPr id="72" name="TextBox 71"/>
          <p:cNvSpPr txBox="1"/>
          <p:nvPr/>
        </p:nvSpPr>
        <p:spPr>
          <a:xfrm>
            <a:off x="54000" y="3978000"/>
            <a:ext cx="6012000" cy="234000"/>
          </a:xfrm>
          <a:prstGeom prst="rect">
            <a:avLst/>
          </a:prstGeom>
          <a:noFill/>
        </p:spPr>
        <p:txBody>
          <a:bodyPr wrap="square" lIns="10800" rIns="10800" tIns="3600" bIns="3600" anchor="ctr">
            <a:spAutoFit/>
          </a:bodyPr>
          <a:lstStyle/>
          <a:p>
            <a:pPr algn="l">
              <a:spcBef>
                <a:spcPts val="0"/>
              </a:spcBef>
              <a:spcAft>
                <a:spcPts val="0"/>
              </a:spcAft>
            </a:pPr>
            <a:r>
              <a:rPr sz="900" b="0">
                <a:solidFill>
                  <a:srgbClr val="263746"/>
                </a:solidFill>
                <a:latin typeface="Arial"/>
              </a:rPr>
              <a:t>Solid arrows: feature flow. Dashed arrow: case-bank lookup. Val / Test GT is never an input.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000" y="54000"/>
            <a:ext cx="6012000" cy="1494000"/>
          </a:xfrm>
          <a:prstGeom prst="rect">
            <a:avLst/>
          </a:prstGeom>
          <a:noFill/>
          <a:ln w="8890">
            <a:solidFill>
              <a:srgbClr val="B5C0C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82800" y="64800"/>
            <a:ext cx="5954400" cy="324000"/>
          </a:xfrm>
          <a:prstGeom prst="rect">
            <a:avLst/>
          </a:prstGeom>
          <a:noFill/>
        </p:spPr>
        <p:txBody>
          <a:bodyPr wrap="square" lIns="10800" rIns="10800" tIns="3600" bIns="3600" anchor="ctr">
            <a:spAutoFit/>
          </a:bodyPr>
          <a:lstStyle/>
          <a:p>
            <a:pPr algn="l">
              <a:spcBef>
                <a:spcPts val="0"/>
              </a:spcBef>
              <a:spcAft>
                <a:spcPts val="0"/>
              </a:spcAft>
            </a:pPr>
            <a:r>
              <a:rPr sz="900" b="1">
                <a:solidFill>
                  <a:srgbClr val="263746"/>
                </a:solidFill>
                <a:latin typeface="Arial"/>
              </a:rPr>
              <a:t>(a) Building-aware soft association Q</a:t>
            </a:r>
          </a:p>
        </p:txBody>
      </p:sp>
      <p:sp>
        <p:nvSpPr>
          <p:cNvPr id="4" name="Rectangle 3"/>
          <p:cNvSpPr/>
          <p:nvPr/>
        </p:nvSpPr>
        <p:spPr>
          <a:xfrm>
            <a:off x="180000" y="468000"/>
            <a:ext cx="1152000" cy="413999"/>
          </a:xfrm>
          <a:prstGeom prst="rect">
            <a:avLst/>
          </a:prstGeom>
          <a:solidFill>
            <a:srgbClr val="EAF1F8"/>
          </a:solidFill>
          <a:ln w="8890">
            <a:solidFill>
              <a:srgbClr val="52667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190800" y="478800"/>
            <a:ext cx="1130400" cy="392399"/>
          </a:xfrm>
          <a:prstGeom prst="rect">
            <a:avLst/>
          </a:prstGeom>
          <a:noFill/>
        </p:spPr>
        <p:txBody>
          <a:bodyPr wrap="square" lIns="10800" rIns="10800" tIns="3600" bIns="3600" anchor="ctr">
            <a:spAutoFit/>
          </a:bodyPr>
          <a:lstStyle/>
          <a:p>
            <a:pPr algn="ctr">
              <a:spcBef>
                <a:spcPts val="0"/>
              </a:spcBef>
              <a:spcAft>
                <a:spcPts val="0"/>
              </a:spcAft>
            </a:pPr>
            <a:r>
              <a:rPr sz="900" b="0">
                <a:solidFill>
                  <a:srgbClr val="263746"/>
                </a:solidFill>
                <a:latin typeface="Arial"/>
              </a:rPr>
              <a:t>RGB structure R</a:t>
            </a:r>
          </a:p>
          <a:p>
            <a:pPr algn="ctr">
              <a:spcBef>
                <a:spcPts val="0"/>
              </a:spcBef>
              <a:spcAft>
                <a:spcPts val="0"/>
              </a:spcAft>
            </a:pPr>
            <a:r>
              <a:rPr sz="900" b="0">
                <a:solidFill>
                  <a:srgbClr val="263746"/>
                </a:solidFill>
                <a:latin typeface="Arial"/>
              </a:rPr>
              <a:t>+ pixel coordinates</a:t>
            </a:r>
          </a:p>
        </p:txBody>
      </p:sp>
      <p:sp>
        <p:nvSpPr>
          <p:cNvPr id="6" name="Rectangle 5"/>
          <p:cNvSpPr/>
          <p:nvPr/>
        </p:nvSpPr>
        <p:spPr>
          <a:xfrm>
            <a:off x="1494000" y="468000"/>
            <a:ext cx="1007999" cy="413999"/>
          </a:xfrm>
          <a:prstGeom prst="rect">
            <a:avLst/>
          </a:prstGeom>
          <a:solidFill>
            <a:srgbClr val="F3F4F5"/>
          </a:solidFill>
          <a:ln w="8890">
            <a:solidFill>
              <a:srgbClr val="52667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1504800" y="478800"/>
            <a:ext cx="986399" cy="392399"/>
          </a:xfrm>
          <a:prstGeom prst="rect">
            <a:avLst/>
          </a:prstGeom>
          <a:noFill/>
        </p:spPr>
        <p:txBody>
          <a:bodyPr wrap="square" lIns="10800" rIns="10800" tIns="3600" bIns="3600" anchor="ctr">
            <a:spAutoFit/>
          </a:bodyPr>
          <a:lstStyle/>
          <a:p>
            <a:pPr algn="ctr">
              <a:spcBef>
                <a:spcPts val="0"/>
              </a:spcBef>
              <a:spcAft>
                <a:spcPts val="0"/>
              </a:spcAft>
            </a:pPr>
            <a:r>
              <a:rPr sz="900" b="0">
                <a:solidFill>
                  <a:srgbClr val="263746"/>
                </a:solidFill>
                <a:latin typeface="Arial"/>
              </a:rPr>
              <a:t>Local candidates</a:t>
            </a:r>
          </a:p>
          <a:p>
            <a:pPr algn="ctr">
              <a:spcBef>
                <a:spcPts val="0"/>
              </a:spcBef>
              <a:spcAft>
                <a:spcPts val="0"/>
              </a:spcAft>
            </a:pPr>
            <a:r>
              <a:rPr sz="900" b="0">
                <a:solidFill>
                  <a:srgbClr val="263746"/>
                </a:solidFill>
                <a:latin typeface="Arial"/>
              </a:rPr>
              <a:t>|N(i)| ≤ 9</a:t>
            </a:r>
          </a:p>
        </p:txBody>
      </p:sp>
      <p:sp>
        <p:nvSpPr>
          <p:cNvPr id="8" name="Rectangle 7"/>
          <p:cNvSpPr/>
          <p:nvPr/>
        </p:nvSpPr>
        <p:spPr>
          <a:xfrm>
            <a:off x="2664000" y="468000"/>
            <a:ext cx="1475999" cy="413999"/>
          </a:xfrm>
          <a:prstGeom prst="rect">
            <a:avLst/>
          </a:prstGeom>
          <a:solidFill>
            <a:srgbClr val="FFF0DD"/>
          </a:solidFill>
          <a:ln w="8890">
            <a:solidFill>
              <a:srgbClr val="52667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2674800" y="478800"/>
            <a:ext cx="1454400" cy="392399"/>
          </a:xfrm>
          <a:prstGeom prst="rect">
            <a:avLst/>
          </a:prstGeom>
          <a:noFill/>
        </p:spPr>
        <p:txBody>
          <a:bodyPr wrap="square" lIns="10800" rIns="10800" tIns="3600" bIns="3600" anchor="ctr">
            <a:spAutoFit/>
          </a:bodyPr>
          <a:lstStyle/>
          <a:p>
            <a:pPr algn="ctr">
              <a:spcBef>
                <a:spcPts val="0"/>
              </a:spcBef>
              <a:spcAft>
                <a:spcPts val="0"/>
              </a:spcAft>
            </a:pPr>
            <a:r>
              <a:rPr sz="900" b="0">
                <a:solidFill>
                  <a:srgbClr val="263746"/>
                </a:solidFill>
                <a:latin typeface="Arial"/>
              </a:rPr>
              <a:t>Affinity + distance</a:t>
            </a:r>
          </a:p>
          <a:p>
            <a:pPr algn="ctr">
              <a:spcBef>
                <a:spcPts val="0"/>
              </a:spcBef>
              <a:spcAft>
                <a:spcPts val="0"/>
              </a:spcAft>
            </a:pPr>
            <a:r>
              <a:rPr sz="900" b="0">
                <a:solidFill>
                  <a:srgbClr val="263746"/>
                </a:solidFill>
                <a:latin typeface="Arial"/>
              </a:rPr>
              <a:t>+ B compatibility</a:t>
            </a:r>
          </a:p>
        </p:txBody>
      </p:sp>
      <p:sp>
        <p:nvSpPr>
          <p:cNvPr id="10" name="Rectangle 9"/>
          <p:cNvSpPr/>
          <p:nvPr/>
        </p:nvSpPr>
        <p:spPr>
          <a:xfrm>
            <a:off x="4320000" y="413999"/>
            <a:ext cx="1530000" cy="522000"/>
          </a:xfrm>
          <a:prstGeom prst="rect">
            <a:avLst/>
          </a:prstGeom>
          <a:solidFill>
            <a:srgbClr val="FFF0DD"/>
          </a:solidFill>
          <a:ln w="8890">
            <a:solidFill>
              <a:srgbClr val="52667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4330800" y="424800"/>
            <a:ext cx="1508400" cy="500399"/>
          </a:xfrm>
          <a:prstGeom prst="rect">
            <a:avLst/>
          </a:prstGeom>
          <a:noFill/>
        </p:spPr>
        <p:txBody>
          <a:bodyPr wrap="square" lIns="10800" rIns="10800" tIns="3600" bIns="3600" anchor="ctr">
            <a:spAutoFit/>
          </a:bodyPr>
          <a:lstStyle/>
          <a:p>
            <a:pPr algn="ctr">
              <a:spcBef>
                <a:spcPts val="0"/>
              </a:spcBef>
              <a:spcAft>
                <a:spcPts val="0"/>
              </a:spcAft>
            </a:pPr>
            <a:r>
              <a:rPr sz="900" b="0">
                <a:solidFill>
                  <a:srgbClr val="263746"/>
                </a:solidFill>
                <a:latin typeface="Arial"/>
              </a:rPr>
              <a:t>Assignment /</a:t>
            </a:r>
          </a:p>
          <a:p>
            <a:pPr algn="ctr">
              <a:spcBef>
                <a:spcPts val="0"/>
              </a:spcBef>
              <a:spcAft>
                <a:spcPts val="0"/>
              </a:spcAft>
            </a:pPr>
            <a:r>
              <a:rPr sz="900" b="0">
                <a:solidFill>
                  <a:srgbClr val="263746"/>
                </a:solidFill>
                <a:latin typeface="Arial"/>
              </a:rPr>
              <a:t>center update</a:t>
            </a:r>
          </a:p>
          <a:p>
            <a:pPr algn="ctr">
              <a:spcBef>
                <a:spcPts val="0"/>
              </a:spcBef>
              <a:spcAft>
                <a:spcPts val="0"/>
              </a:spcAft>
            </a:pPr>
            <a:r>
              <a:rPr sz="900" b="0">
                <a:solidFill>
                  <a:srgbClr val="263746"/>
                </a:solidFill>
                <a:latin typeface="Arial"/>
              </a:rPr>
              <a:t>3 iterations</a:t>
            </a:r>
          </a:p>
        </p:txBody>
      </p:sp>
      <p:cxnSp>
        <p:nvCxnSpPr>
          <p:cNvPr id="12" name="Connector 11"/>
          <p:cNvCxnSpPr/>
          <p:nvPr/>
        </p:nvCxnSpPr>
        <p:spPr>
          <a:xfrm>
            <a:off x="1332000" y="676800"/>
            <a:ext cx="162000" cy="0"/>
          </a:xfrm>
          <a:prstGeom prst="line">
            <a:avLst/>
          </a:prstGeom>
          <a:ln w="11430">
            <a:solidFill>
              <a:srgbClr val="526675"/>
            </a:solidFill>
            <a:tailEnd type="triangle"/>
          </a:ln>
        </p:spPr>
        <p:style>
          <a:lnRef idx="2">
            <a:schemeClr val="accent1"/>
          </a:lnRef>
          <a:fillRef idx="0">
            <a:schemeClr val="accent1"/>
          </a:fillRef>
          <a:effectRef idx="0">
            <a:schemeClr val="accent1"/>
          </a:effectRef>
          <a:fontRef idx="minor">
            <a:schemeClr val="tx1"/>
          </a:fontRef>
        </p:style>
      </p:cxnSp>
      <p:cxnSp>
        <p:nvCxnSpPr>
          <p:cNvPr id="13" name="Connector 12"/>
          <p:cNvCxnSpPr/>
          <p:nvPr/>
        </p:nvCxnSpPr>
        <p:spPr>
          <a:xfrm>
            <a:off x="2502000" y="676800"/>
            <a:ext cx="162000" cy="0"/>
          </a:xfrm>
          <a:prstGeom prst="line">
            <a:avLst/>
          </a:prstGeom>
          <a:ln w="11430">
            <a:solidFill>
              <a:srgbClr val="526675"/>
            </a:solidFill>
            <a:tailEnd type="triangle"/>
          </a:ln>
        </p:spPr>
        <p:style>
          <a:lnRef idx="2">
            <a:schemeClr val="accent1"/>
          </a:lnRef>
          <a:fillRef idx="0">
            <a:schemeClr val="accent1"/>
          </a:fillRef>
          <a:effectRef idx="0">
            <a:schemeClr val="accent1"/>
          </a:effectRef>
          <a:fontRef idx="minor">
            <a:schemeClr val="tx1"/>
          </a:fontRef>
        </p:style>
      </p:cxnSp>
      <p:cxnSp>
        <p:nvCxnSpPr>
          <p:cNvPr id="14" name="Connector 13"/>
          <p:cNvCxnSpPr/>
          <p:nvPr/>
        </p:nvCxnSpPr>
        <p:spPr>
          <a:xfrm>
            <a:off x="4140000" y="676800"/>
            <a:ext cx="180000" cy="0"/>
          </a:xfrm>
          <a:prstGeom prst="line">
            <a:avLst/>
          </a:prstGeom>
          <a:ln w="11430">
            <a:solidFill>
              <a:srgbClr val="526675"/>
            </a:solidFill>
            <a:tailEnd type="triangle"/>
          </a:ln>
        </p:spPr>
        <p:style>
          <a:lnRef idx="2">
            <a:schemeClr val="accent1"/>
          </a:lnRef>
          <a:fillRef idx="0">
            <a:schemeClr val="accent1"/>
          </a:fillRef>
          <a:effectRef idx="0">
            <a:schemeClr val="accent1"/>
          </a:effectRef>
          <a:fontRef idx="minor">
            <a:schemeClr val="tx1"/>
          </a:fontRef>
        </p:style>
      </p:cxnSp>
      <p:sp>
        <p:nvSpPr>
          <p:cNvPr id="15" name="TextBox 14"/>
          <p:cNvSpPr txBox="1"/>
          <p:nvPr/>
        </p:nvSpPr>
        <p:spPr>
          <a:xfrm>
            <a:off x="360000" y="1080000"/>
            <a:ext cx="5364000" cy="234000"/>
          </a:xfrm>
          <a:prstGeom prst="rect">
            <a:avLst/>
          </a:prstGeom>
          <a:noFill/>
        </p:spPr>
        <p:txBody>
          <a:bodyPr wrap="square" lIns="10800" rIns="10800" tIns="3600" bIns="3600" anchor="ctr">
            <a:spAutoFit/>
          </a:bodyPr>
          <a:lstStyle/>
          <a:p>
            <a:pPr algn="ctr">
              <a:spcBef>
                <a:spcPts val="0"/>
              </a:spcBef>
              <a:spcAft>
                <a:spcPts val="0"/>
              </a:spcAft>
            </a:pPr>
            <a:r>
              <a:rPr sz="1000" b="0">
                <a:solidFill>
                  <a:srgbClr val="263746"/>
                </a:solidFill>
                <a:latin typeface="Arial"/>
              </a:rPr>
              <a:t>qᵢₖ = softmaxₖ∈N(i)(sᵢₖ)       Σₖ qᵢₖ = 1</a:t>
            </a:r>
          </a:p>
        </p:txBody>
      </p:sp>
      <p:sp>
        <p:nvSpPr>
          <p:cNvPr id="16" name="Rectangle 15"/>
          <p:cNvSpPr/>
          <p:nvPr/>
        </p:nvSpPr>
        <p:spPr>
          <a:xfrm>
            <a:off x="54000" y="1655999"/>
            <a:ext cx="6012000" cy="2160000"/>
          </a:xfrm>
          <a:prstGeom prst="rect">
            <a:avLst/>
          </a:prstGeom>
          <a:noFill/>
          <a:ln w="8890">
            <a:solidFill>
              <a:srgbClr val="B5C0C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82800" y="1666800"/>
            <a:ext cx="5954400" cy="324000"/>
          </a:xfrm>
          <a:prstGeom prst="rect">
            <a:avLst/>
          </a:prstGeom>
          <a:noFill/>
        </p:spPr>
        <p:txBody>
          <a:bodyPr wrap="square" lIns="10800" rIns="10800" tIns="3600" bIns="3600" anchor="ctr">
            <a:spAutoFit/>
          </a:bodyPr>
          <a:lstStyle/>
          <a:p>
            <a:pPr algn="l">
              <a:spcBef>
                <a:spcPts val="0"/>
              </a:spcBef>
              <a:spcAft>
                <a:spcPts val="0"/>
              </a:spcAft>
            </a:pPr>
            <a:r>
              <a:rPr sz="900" b="1">
                <a:solidFill>
                  <a:srgbClr val="263746"/>
                </a:solidFill>
                <a:latin typeface="Arial"/>
              </a:rPr>
              <a:t>(b) Structure-conditioned region embedding</a:t>
            </a:r>
          </a:p>
        </p:txBody>
      </p:sp>
      <p:sp>
        <p:nvSpPr>
          <p:cNvPr id="18" name="Rectangle 17"/>
          <p:cNvSpPr/>
          <p:nvPr/>
        </p:nvSpPr>
        <p:spPr>
          <a:xfrm>
            <a:off x="180000" y="2052000"/>
            <a:ext cx="1800000" cy="432000"/>
          </a:xfrm>
          <a:prstGeom prst="rect">
            <a:avLst/>
          </a:prstGeom>
          <a:solidFill>
            <a:srgbClr val="FFF0DD"/>
          </a:solidFill>
          <a:ln w="8890">
            <a:solidFill>
              <a:srgbClr val="52667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190800" y="2062800"/>
            <a:ext cx="1778400" cy="410399"/>
          </a:xfrm>
          <a:prstGeom prst="rect">
            <a:avLst/>
          </a:prstGeom>
          <a:noFill/>
        </p:spPr>
        <p:txBody>
          <a:bodyPr wrap="square" lIns="10800" rIns="10800" tIns="3600" bIns="3600" anchor="ctr">
            <a:spAutoFit/>
          </a:bodyPr>
          <a:lstStyle/>
          <a:p>
            <a:pPr algn="ctr">
              <a:spcBef>
                <a:spcPts val="0"/>
              </a:spcBef>
              <a:spcAft>
                <a:spcPts val="0"/>
              </a:spcAft>
            </a:pPr>
            <a:r>
              <a:rPr sz="900" b="0">
                <a:solidFill>
                  <a:srgbClr val="263746"/>
                </a:solidFill>
                <a:latin typeface="Arial"/>
              </a:rPr>
              <a:t>F + B + b(Q) + H(Q)</a:t>
            </a:r>
          </a:p>
          <a:p>
            <a:pPr algn="ctr">
              <a:spcBef>
                <a:spcPts val="0"/>
              </a:spcBef>
              <a:spcAft>
                <a:spcPts val="0"/>
              </a:spcAft>
            </a:pPr>
            <a:r>
              <a:rPr sz="900" b="0">
                <a:solidFill>
                  <a:srgbClr val="263746"/>
                </a:solidFill>
                <a:latin typeface="Arial"/>
              </a:rPr>
              <a:t>Structure-conditioned Adapter</a:t>
            </a:r>
          </a:p>
        </p:txBody>
      </p:sp>
      <p:sp>
        <p:nvSpPr>
          <p:cNvPr id="20" name="Rectangle 19"/>
          <p:cNvSpPr/>
          <p:nvPr/>
        </p:nvSpPr>
        <p:spPr>
          <a:xfrm>
            <a:off x="180000" y="2646000"/>
            <a:ext cx="1800000" cy="558000"/>
          </a:xfrm>
          <a:prstGeom prst="rect">
            <a:avLst/>
          </a:prstGeom>
          <a:solidFill>
            <a:srgbClr val="FFF0DD"/>
          </a:solidFill>
          <a:ln w="8890">
            <a:solidFill>
              <a:srgbClr val="52667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190800" y="2656800"/>
            <a:ext cx="1778400" cy="536400"/>
          </a:xfrm>
          <a:prstGeom prst="rect">
            <a:avLst/>
          </a:prstGeom>
          <a:noFill/>
        </p:spPr>
        <p:txBody>
          <a:bodyPr wrap="square" lIns="10800" rIns="10800" tIns="3600" bIns="3600" anchor="ctr">
            <a:spAutoFit/>
          </a:bodyPr>
          <a:lstStyle/>
          <a:p>
            <a:pPr algn="ctr">
              <a:spcBef>
                <a:spcPts val="0"/>
              </a:spcBef>
              <a:spcAft>
                <a:spcPts val="0"/>
              </a:spcAft>
            </a:pPr>
            <a:r>
              <a:rPr sz="900" b="0">
                <a:solidFill>
                  <a:srgbClr val="263746"/>
                </a:solidFill>
                <a:latin typeface="Arial"/>
              </a:rPr>
              <a:t>Adapted feature F̃</a:t>
            </a:r>
          </a:p>
          <a:p>
            <a:pPr algn="ctr">
              <a:spcBef>
                <a:spcPts val="0"/>
              </a:spcBef>
              <a:spcAft>
                <a:spcPts val="0"/>
              </a:spcAft>
            </a:pPr>
            <a:r>
              <a:rPr sz="900" b="0">
                <a:solidFill>
                  <a:srgbClr val="263746"/>
                </a:solidFill>
                <a:latin typeface="Arial"/>
              </a:rPr>
              <a:t>Q × importance a</a:t>
            </a:r>
          </a:p>
          <a:p>
            <a:pPr algn="ctr">
              <a:spcBef>
                <a:spcPts val="0"/>
              </a:spcBef>
              <a:spcAft>
                <a:spcPts val="0"/>
              </a:spcAft>
            </a:pPr>
            <a:r>
              <a:rPr sz="900" b="0">
                <a:solidFill>
                  <a:srgbClr val="263746"/>
                </a:solidFill>
                <a:latin typeface="Arial"/>
              </a:rPr>
              <a:t>φ(weighted content mean)</a:t>
            </a:r>
          </a:p>
        </p:txBody>
      </p:sp>
      <p:cxnSp>
        <p:nvCxnSpPr>
          <p:cNvPr id="22" name="Connector 21"/>
          <p:cNvCxnSpPr/>
          <p:nvPr/>
        </p:nvCxnSpPr>
        <p:spPr>
          <a:xfrm>
            <a:off x="1080000" y="2484000"/>
            <a:ext cx="0" cy="162000"/>
          </a:xfrm>
          <a:prstGeom prst="line">
            <a:avLst/>
          </a:prstGeom>
          <a:ln w="11430">
            <a:solidFill>
              <a:srgbClr val="526675"/>
            </a:solidFill>
            <a:tailEnd type="triangle"/>
          </a:ln>
        </p:spPr>
        <p:style>
          <a:lnRef idx="2">
            <a:schemeClr val="accent1"/>
          </a:lnRef>
          <a:fillRef idx="0">
            <a:schemeClr val="accent1"/>
          </a:fillRef>
          <a:effectRef idx="0">
            <a:schemeClr val="accent1"/>
          </a:effectRef>
          <a:fontRef idx="minor">
            <a:schemeClr val="tx1"/>
          </a:fontRef>
        </p:style>
      </p:cxnSp>
      <p:sp>
        <p:nvSpPr>
          <p:cNvPr id="23" name="Rectangle 22"/>
          <p:cNvSpPr/>
          <p:nvPr/>
        </p:nvSpPr>
        <p:spPr>
          <a:xfrm>
            <a:off x="2160000" y="2412000"/>
            <a:ext cx="1728000" cy="594000"/>
          </a:xfrm>
          <a:prstGeom prst="rect">
            <a:avLst/>
          </a:prstGeom>
          <a:solidFill>
            <a:srgbClr val="EAF1F8"/>
          </a:solidFill>
          <a:ln w="8890">
            <a:solidFill>
              <a:srgbClr val="52667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2170800" y="2422800"/>
            <a:ext cx="1706400" cy="572400"/>
          </a:xfrm>
          <a:prstGeom prst="rect">
            <a:avLst/>
          </a:prstGeom>
          <a:noFill/>
        </p:spPr>
        <p:txBody>
          <a:bodyPr wrap="square" lIns="10800" rIns="10800" tIns="3600" bIns="3600" anchor="ctr">
            <a:spAutoFit/>
          </a:bodyPr>
          <a:lstStyle/>
          <a:p>
            <a:pPr algn="ctr">
              <a:spcBef>
                <a:spcPts val="0"/>
              </a:spcBef>
              <a:spcAft>
                <a:spcPts val="0"/>
              </a:spcAft>
            </a:pPr>
            <a:r>
              <a:rPr sz="900" b="0">
                <a:solidFill>
                  <a:srgbClr val="263746"/>
                </a:solidFill>
                <a:latin typeface="Arial"/>
              </a:rPr>
              <a:t>Pre-Adapter fused F</a:t>
            </a:r>
          </a:p>
          <a:p>
            <a:pPr algn="ctr">
              <a:spcBef>
                <a:spcPts val="0"/>
              </a:spcBef>
              <a:spcAft>
                <a:spcPts val="0"/>
              </a:spcAft>
            </a:pPr>
            <a:r>
              <a:rPr sz="900" b="0">
                <a:solidFill>
                  <a:srgbClr val="263746"/>
                </a:solidFill>
                <a:latin typeface="Arial"/>
              </a:rPr>
              <a:t>Q-weighted μ and σ</a:t>
            </a:r>
          </a:p>
          <a:p>
            <a:pPr algn="ctr">
              <a:spcBef>
                <a:spcPts val="0"/>
              </a:spcBef>
              <a:spcAft>
                <a:spcPts val="0"/>
              </a:spcAft>
            </a:pPr>
            <a:r>
              <a:rPr sz="900" b="0">
                <a:solidFill>
                  <a:srgbClr val="263746"/>
                </a:solidFill>
                <a:latin typeface="Arial"/>
              </a:rPr>
              <a:t>ψ(μ, σ) × tanh α</a:t>
            </a:r>
          </a:p>
        </p:txBody>
      </p:sp>
      <p:sp>
        <p:nvSpPr>
          <p:cNvPr id="25" name="Rectangle 24"/>
          <p:cNvSpPr/>
          <p:nvPr/>
        </p:nvSpPr>
        <p:spPr>
          <a:xfrm>
            <a:off x="4068000" y="2412000"/>
            <a:ext cx="1800000" cy="594000"/>
          </a:xfrm>
          <a:prstGeom prst="rect">
            <a:avLst/>
          </a:prstGeom>
          <a:solidFill>
            <a:srgbClr val="EAF1F8"/>
          </a:solidFill>
          <a:ln w="8890">
            <a:solidFill>
              <a:srgbClr val="52667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4078800" y="2422800"/>
            <a:ext cx="1778400" cy="572400"/>
          </a:xfrm>
          <a:prstGeom prst="rect">
            <a:avLst/>
          </a:prstGeom>
          <a:noFill/>
        </p:spPr>
        <p:txBody>
          <a:bodyPr wrap="square" lIns="10800" rIns="10800" tIns="3600" bIns="3600" anchor="ctr">
            <a:spAutoFit/>
          </a:bodyPr>
          <a:lstStyle/>
          <a:p>
            <a:pPr algn="ctr">
              <a:spcBef>
                <a:spcPts val="0"/>
              </a:spcBef>
              <a:spcAft>
                <a:spcPts val="0"/>
              </a:spcAft>
            </a:pPr>
            <a:r>
              <a:rPr sz="900" b="0">
                <a:solidFill>
                  <a:srgbClr val="263746"/>
                </a:solidFill>
                <a:latin typeface="Arial"/>
              </a:rPr>
              <a:t>Soft geometry from Q</a:t>
            </a:r>
          </a:p>
          <a:p>
            <a:pPr algn="ctr">
              <a:spcBef>
                <a:spcPts val="0"/>
              </a:spcBef>
              <a:spcAft>
                <a:spcPts val="0"/>
              </a:spcAft>
            </a:pPr>
            <a:r>
              <a:rPr sz="900" b="0">
                <a:solidFill>
                  <a:srgbClr val="263746"/>
                </a:solidFill>
                <a:latin typeface="Arial"/>
              </a:rPr>
              <a:t>centroid, mass, shape</a:t>
            </a:r>
          </a:p>
          <a:p>
            <a:pPr algn="ctr">
              <a:spcBef>
                <a:spcPts val="0"/>
              </a:spcBef>
              <a:spcAft>
                <a:spcPts val="0"/>
              </a:spcAft>
            </a:pPr>
            <a:r>
              <a:rPr sz="900" b="0">
                <a:solidFill>
                  <a:srgbClr val="263746"/>
                </a:solidFill>
                <a:latin typeface="Arial"/>
              </a:rPr>
              <a:t>γ(gₖ)</a:t>
            </a:r>
          </a:p>
        </p:txBody>
      </p:sp>
      <p:sp>
        <p:nvSpPr>
          <p:cNvPr id="27" name="Rectangle 26"/>
          <p:cNvSpPr/>
          <p:nvPr/>
        </p:nvSpPr>
        <p:spPr>
          <a:xfrm>
            <a:off x="2124000" y="3420000"/>
            <a:ext cx="1980000" cy="288000"/>
          </a:xfrm>
          <a:prstGeom prst="rect">
            <a:avLst/>
          </a:prstGeom>
          <a:solidFill>
            <a:srgbClr val="DBEEF0"/>
          </a:solidFill>
          <a:ln w="8890">
            <a:solidFill>
              <a:srgbClr val="52667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2134800" y="3430800"/>
            <a:ext cx="1958400" cy="266400"/>
          </a:xfrm>
          <a:prstGeom prst="rect">
            <a:avLst/>
          </a:prstGeom>
          <a:noFill/>
        </p:spPr>
        <p:txBody>
          <a:bodyPr wrap="square" lIns="10800" rIns="10800" tIns="3600" bIns="3600" anchor="ctr">
            <a:spAutoFit/>
          </a:bodyPr>
          <a:lstStyle/>
          <a:p>
            <a:pPr algn="ctr">
              <a:spcBef>
                <a:spcPts val="0"/>
              </a:spcBef>
              <a:spcAft>
                <a:spcPts val="0"/>
              </a:spcAft>
            </a:pPr>
            <a:r>
              <a:rPr sz="900" b="0">
                <a:solidFill>
                  <a:srgbClr val="263746"/>
                </a:solidFill>
                <a:latin typeface="Arial"/>
              </a:rPr>
              <a:t>Add + LayerNorm → Tₖ ∈ R¹²⁸</a:t>
            </a:r>
          </a:p>
        </p:txBody>
      </p:sp>
      <p:cxnSp>
        <p:nvCxnSpPr>
          <p:cNvPr id="29" name="Connector 28"/>
          <p:cNvCxnSpPr/>
          <p:nvPr/>
        </p:nvCxnSpPr>
        <p:spPr>
          <a:xfrm>
            <a:off x="1080000" y="3204000"/>
            <a:ext cx="0" cy="360000"/>
          </a:xfrm>
          <a:prstGeom prst="line">
            <a:avLst/>
          </a:prstGeom>
          <a:ln w="11430">
            <a:solidFill>
              <a:srgbClr val="526675"/>
            </a:solidFill>
            <a:tailEnd type="triangle"/>
          </a:ln>
        </p:spPr>
        <p:style>
          <a:lnRef idx="2">
            <a:schemeClr val="accent1"/>
          </a:lnRef>
          <a:fillRef idx="0">
            <a:schemeClr val="accent1"/>
          </a:fillRef>
          <a:effectRef idx="0">
            <a:schemeClr val="accent1"/>
          </a:effectRef>
          <a:fontRef idx="minor">
            <a:schemeClr val="tx1"/>
          </a:fontRef>
        </p:style>
      </p:cxnSp>
      <p:cxnSp>
        <p:nvCxnSpPr>
          <p:cNvPr id="30" name="Connector 29"/>
          <p:cNvCxnSpPr/>
          <p:nvPr/>
        </p:nvCxnSpPr>
        <p:spPr>
          <a:xfrm>
            <a:off x="1080000" y="3564000"/>
            <a:ext cx="1044000" cy="0"/>
          </a:xfrm>
          <a:prstGeom prst="line">
            <a:avLst/>
          </a:prstGeom>
          <a:ln w="11430">
            <a:solidFill>
              <a:srgbClr val="526675"/>
            </a:solidFill>
            <a:tailEnd type="triangle"/>
          </a:ln>
        </p:spPr>
        <p:style>
          <a:lnRef idx="2">
            <a:schemeClr val="accent1"/>
          </a:lnRef>
          <a:fillRef idx="0">
            <a:schemeClr val="accent1"/>
          </a:fillRef>
          <a:effectRef idx="0">
            <a:schemeClr val="accent1"/>
          </a:effectRef>
          <a:fontRef idx="minor">
            <a:schemeClr val="tx1"/>
          </a:fontRef>
        </p:style>
      </p:cxnSp>
      <p:cxnSp>
        <p:nvCxnSpPr>
          <p:cNvPr id="31" name="Connector 30"/>
          <p:cNvCxnSpPr/>
          <p:nvPr/>
        </p:nvCxnSpPr>
        <p:spPr>
          <a:xfrm>
            <a:off x="3024000" y="3006000"/>
            <a:ext cx="0" cy="414000"/>
          </a:xfrm>
          <a:prstGeom prst="line">
            <a:avLst/>
          </a:prstGeom>
          <a:ln w="11430">
            <a:solidFill>
              <a:srgbClr val="526675"/>
            </a:solidFill>
            <a:tailEnd type="triangle"/>
          </a:ln>
        </p:spPr>
        <p:style>
          <a:lnRef idx="2">
            <a:schemeClr val="accent1"/>
          </a:lnRef>
          <a:fillRef idx="0">
            <a:schemeClr val="accent1"/>
          </a:fillRef>
          <a:effectRef idx="0">
            <a:schemeClr val="accent1"/>
          </a:effectRef>
          <a:fontRef idx="minor">
            <a:schemeClr val="tx1"/>
          </a:fontRef>
        </p:style>
      </p:cxnSp>
      <p:cxnSp>
        <p:nvCxnSpPr>
          <p:cNvPr id="32" name="Connector 31"/>
          <p:cNvCxnSpPr/>
          <p:nvPr/>
        </p:nvCxnSpPr>
        <p:spPr>
          <a:xfrm>
            <a:off x="4968000" y="3006000"/>
            <a:ext cx="0" cy="558000"/>
          </a:xfrm>
          <a:prstGeom prst="line">
            <a:avLst/>
          </a:prstGeom>
          <a:ln w="11430">
            <a:solidFill>
              <a:srgbClr val="526675"/>
            </a:solidFill>
            <a:tailEnd type="triangle"/>
          </a:ln>
        </p:spPr>
        <p:style>
          <a:lnRef idx="2">
            <a:schemeClr val="accent1"/>
          </a:lnRef>
          <a:fillRef idx="0">
            <a:schemeClr val="accent1"/>
          </a:fillRef>
          <a:effectRef idx="0">
            <a:schemeClr val="accent1"/>
          </a:effectRef>
          <a:fontRef idx="minor">
            <a:schemeClr val="tx1"/>
          </a:fontRef>
        </p:style>
      </p:cxnSp>
      <p:cxnSp>
        <p:nvCxnSpPr>
          <p:cNvPr id="33" name="Connector 32"/>
          <p:cNvCxnSpPr/>
          <p:nvPr/>
        </p:nvCxnSpPr>
        <p:spPr>
          <a:xfrm flipH="1">
            <a:off x="4104000" y="3564000"/>
            <a:ext cx="864000" cy="0"/>
          </a:xfrm>
          <a:prstGeom prst="line">
            <a:avLst/>
          </a:prstGeom>
          <a:ln w="11430">
            <a:solidFill>
              <a:srgbClr val="526675"/>
            </a:solidFill>
            <a:tailEnd type="triangle"/>
          </a:ln>
        </p:spPr>
        <p:style>
          <a:lnRef idx="2">
            <a:schemeClr val="accent1"/>
          </a:lnRef>
          <a:fillRef idx="0">
            <a:schemeClr val="accent1"/>
          </a:fillRef>
          <a:effectRef idx="0">
            <a:schemeClr val="accent1"/>
          </a:effectRef>
          <a:fontRef idx="minor">
            <a:schemeClr val="tx1"/>
          </a:fontRef>
        </p:style>
      </p:cxnSp>
      <p:sp>
        <p:nvSpPr>
          <p:cNvPr id="34" name="TextBox 33"/>
          <p:cNvSpPr txBox="1"/>
          <p:nvPr/>
        </p:nvSpPr>
        <p:spPr>
          <a:xfrm>
            <a:off x="54000" y="3960000"/>
            <a:ext cx="6012000" cy="234000"/>
          </a:xfrm>
          <a:prstGeom prst="rect">
            <a:avLst/>
          </a:prstGeom>
          <a:noFill/>
        </p:spPr>
        <p:txBody>
          <a:bodyPr wrap="square" lIns="10800" rIns="10800" tIns="3600" bIns="3600" anchor="ctr">
            <a:spAutoFit/>
          </a:bodyPr>
          <a:lstStyle/>
          <a:p>
            <a:pPr algn="l">
              <a:spcBef>
                <a:spcPts val="0"/>
              </a:spcBef>
              <a:spcAft>
                <a:spcPts val="0"/>
              </a:spcAft>
            </a:pPr>
            <a:r>
              <a:rPr sz="900" b="0">
                <a:solidFill>
                  <a:srgbClr val="263746"/>
                </a:solidFill>
                <a:latin typeface="Arial"/>
              </a:rPr>
              <a:t>B is predicted building probability; b(Q) is assignment discrepancy; H(Q) is association entropy. Neither is a GT map.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000" y="54000"/>
            <a:ext cx="6012000" cy="1152000"/>
          </a:xfrm>
          <a:prstGeom prst="rect">
            <a:avLst/>
          </a:prstGeom>
          <a:noFill/>
          <a:ln w="8890">
            <a:solidFill>
              <a:srgbClr val="B5C0C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82800" y="64800"/>
            <a:ext cx="5954400" cy="324000"/>
          </a:xfrm>
          <a:prstGeom prst="rect">
            <a:avLst/>
          </a:prstGeom>
          <a:noFill/>
        </p:spPr>
        <p:txBody>
          <a:bodyPr wrap="square" lIns="10800" rIns="10800" tIns="3600" bIns="3600" anchor="ctr">
            <a:spAutoFit/>
          </a:bodyPr>
          <a:lstStyle/>
          <a:p>
            <a:pPr algn="l">
              <a:spcBef>
                <a:spcPts val="0"/>
              </a:spcBef>
              <a:spcAft>
                <a:spcPts val="0"/>
              </a:spcAft>
            </a:pPr>
            <a:r>
              <a:rPr sz="900" b="1">
                <a:solidFill>
                  <a:srgbClr val="263746"/>
                </a:solidFill>
                <a:latin typeface="Arial"/>
              </a:rPr>
              <a:t>(a) Select support identities</a:t>
            </a:r>
          </a:p>
        </p:txBody>
      </p:sp>
      <p:sp>
        <p:nvSpPr>
          <p:cNvPr id="4" name="Rectangle 3"/>
          <p:cNvSpPr/>
          <p:nvPr/>
        </p:nvSpPr>
        <p:spPr>
          <a:xfrm>
            <a:off x="180000" y="413999"/>
            <a:ext cx="720000" cy="306000"/>
          </a:xfrm>
          <a:prstGeom prst="rect">
            <a:avLst/>
          </a:prstGeom>
          <a:solidFill>
            <a:srgbClr val="EAF1F8"/>
          </a:solidFill>
          <a:ln w="8890">
            <a:solidFill>
              <a:srgbClr val="52667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190800" y="424800"/>
            <a:ext cx="698400" cy="284400"/>
          </a:xfrm>
          <a:prstGeom prst="rect">
            <a:avLst/>
          </a:prstGeom>
          <a:noFill/>
        </p:spPr>
        <p:txBody>
          <a:bodyPr wrap="square" lIns="10800" rIns="10800" tIns="3600" bIns="3600" anchor="ctr">
            <a:spAutoFit/>
          </a:bodyPr>
          <a:lstStyle/>
          <a:p>
            <a:pPr algn="ctr">
              <a:spcBef>
                <a:spcPts val="0"/>
              </a:spcBef>
              <a:spcAft>
                <a:spcPts val="0"/>
              </a:spcAft>
            </a:pPr>
            <a:r>
              <a:rPr sz="900" b="0">
                <a:solidFill>
                  <a:srgbClr val="263746"/>
                </a:solidFill>
                <a:latin typeface="Arial"/>
              </a:rPr>
              <a:t>Query Tₖ</a:t>
            </a:r>
          </a:p>
        </p:txBody>
      </p:sp>
      <p:sp>
        <p:nvSpPr>
          <p:cNvPr id="6" name="Rectangle 5"/>
          <p:cNvSpPr/>
          <p:nvPr/>
        </p:nvSpPr>
        <p:spPr>
          <a:xfrm>
            <a:off x="1080000" y="352800"/>
            <a:ext cx="1620000" cy="432000"/>
          </a:xfrm>
          <a:prstGeom prst="rect">
            <a:avLst/>
          </a:prstGeom>
          <a:solidFill>
            <a:srgbClr val="F0EAF7"/>
          </a:solidFill>
          <a:ln w="8890">
            <a:solidFill>
              <a:srgbClr val="52667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1090800" y="363600"/>
            <a:ext cx="1598400" cy="410399"/>
          </a:xfrm>
          <a:prstGeom prst="rect">
            <a:avLst/>
          </a:prstGeom>
          <a:noFill/>
        </p:spPr>
        <p:txBody>
          <a:bodyPr wrap="square" lIns="10800" rIns="10800" tIns="3600" bIns="3600" anchor="ctr">
            <a:spAutoFit/>
          </a:bodyPr>
          <a:lstStyle/>
          <a:p>
            <a:pPr algn="ctr">
              <a:spcBef>
                <a:spcPts val="0"/>
              </a:spcBef>
              <a:spcAft>
                <a:spcPts val="0"/>
              </a:spcAft>
            </a:pPr>
            <a:r>
              <a:rPr sz="900" b="0">
                <a:solidFill>
                  <a:srgbClr val="263746"/>
                </a:solidFill>
                <a:latin typeface="Arial"/>
              </a:rPr>
              <a:t>Similarity space</a:t>
            </a:r>
          </a:p>
          <a:p>
            <a:pPr algn="ctr">
              <a:spcBef>
                <a:spcPts val="0"/>
              </a:spcBef>
              <a:spcAft>
                <a:spcPts val="0"/>
              </a:spcAft>
            </a:pPr>
            <a:r>
              <a:rPr sz="900" b="0">
                <a:solidFill>
                  <a:srgbClr val="263746"/>
                </a:solidFill>
                <a:latin typeface="Arial"/>
              </a:rPr>
              <a:t>identity or supervised G(T)</a:t>
            </a:r>
          </a:p>
        </p:txBody>
      </p:sp>
      <p:sp>
        <p:nvSpPr>
          <p:cNvPr id="8" name="Rectangle 7"/>
          <p:cNvSpPr/>
          <p:nvPr/>
        </p:nvSpPr>
        <p:spPr>
          <a:xfrm>
            <a:off x="2880000" y="352800"/>
            <a:ext cx="1548000" cy="432000"/>
          </a:xfrm>
          <a:prstGeom prst="rect">
            <a:avLst/>
          </a:prstGeom>
          <a:solidFill>
            <a:srgbClr val="F0EAF7"/>
          </a:solidFill>
          <a:ln w="8890">
            <a:solidFill>
              <a:srgbClr val="52667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2890800" y="363600"/>
            <a:ext cx="1526400" cy="410399"/>
          </a:xfrm>
          <a:prstGeom prst="rect">
            <a:avLst/>
          </a:prstGeom>
          <a:noFill/>
        </p:spPr>
        <p:txBody>
          <a:bodyPr wrap="square" lIns="10800" rIns="10800" tIns="3600" bIns="3600" anchor="ctr">
            <a:spAutoFit/>
          </a:bodyPr>
          <a:lstStyle/>
          <a:p>
            <a:pPr algn="ctr">
              <a:spcBef>
                <a:spcPts val="0"/>
              </a:spcBef>
              <a:spcAft>
                <a:spcPts val="0"/>
              </a:spcAft>
            </a:pPr>
            <a:r>
              <a:rPr sz="900" b="0">
                <a:solidFill>
                  <a:srgbClr val="263746"/>
                </a:solidFill>
                <a:latin typeface="Arial"/>
              </a:rPr>
              <a:t>Exclude same image / event</a:t>
            </a:r>
          </a:p>
          <a:p>
            <a:pPr algn="ctr">
              <a:spcBef>
                <a:spcPts val="0"/>
              </a:spcBef>
              <a:spcAft>
                <a:spcPts val="0"/>
              </a:spcAft>
            </a:pPr>
            <a:r>
              <a:rPr sz="900" b="0">
                <a:solidFill>
                  <a:srgbClr val="263746"/>
                </a:solidFill>
                <a:latin typeface="Arial"/>
              </a:rPr>
              <a:t>Top-K support IDs</a:t>
            </a:r>
          </a:p>
        </p:txBody>
      </p:sp>
      <p:sp>
        <p:nvSpPr>
          <p:cNvPr id="10" name="Rectangle 9"/>
          <p:cNvSpPr/>
          <p:nvPr/>
        </p:nvSpPr>
        <p:spPr>
          <a:xfrm>
            <a:off x="4608000" y="352800"/>
            <a:ext cx="1260000" cy="432000"/>
          </a:xfrm>
          <a:prstGeom prst="rect">
            <a:avLst/>
          </a:prstGeom>
          <a:solidFill>
            <a:srgbClr val="F3F4F5"/>
          </a:solidFill>
          <a:ln w="8890">
            <a:solidFill>
              <a:srgbClr val="52667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4618800" y="363600"/>
            <a:ext cx="1238400" cy="410399"/>
          </a:xfrm>
          <a:prstGeom prst="rect">
            <a:avLst/>
          </a:prstGeom>
          <a:noFill/>
        </p:spPr>
        <p:txBody>
          <a:bodyPr wrap="square" lIns="10800" rIns="10800" tIns="3600" bIns="3600" anchor="ctr">
            <a:spAutoFit/>
          </a:bodyPr>
          <a:lstStyle/>
          <a:p>
            <a:pPr algn="ctr">
              <a:spcBef>
                <a:spcPts val="0"/>
              </a:spcBef>
              <a:spcAft>
                <a:spcPts val="0"/>
              </a:spcAft>
            </a:pPr>
            <a:r>
              <a:rPr sz="900" b="0">
                <a:solidFill>
                  <a:srgbClr val="263746"/>
                </a:solidFill>
                <a:latin typeface="Arial"/>
              </a:rPr>
              <a:t>Fixed Train bank</a:t>
            </a:r>
          </a:p>
          <a:p>
            <a:pPr algn="ctr">
              <a:spcBef>
                <a:spcPts val="0"/>
              </a:spcBef>
              <a:spcAft>
                <a:spcPts val="0"/>
              </a:spcAft>
            </a:pPr>
            <a:r>
              <a:rPr sz="900" b="0">
                <a:solidFill>
                  <a:srgbClr val="263746"/>
                </a:solidFill>
                <a:latin typeface="Arial"/>
              </a:rPr>
              <a:t>{Tₛ, πₛ, mₛ}</a:t>
            </a:r>
          </a:p>
        </p:txBody>
      </p:sp>
      <p:cxnSp>
        <p:nvCxnSpPr>
          <p:cNvPr id="12" name="Connector 11"/>
          <p:cNvCxnSpPr/>
          <p:nvPr/>
        </p:nvCxnSpPr>
        <p:spPr>
          <a:xfrm>
            <a:off x="900000" y="568800"/>
            <a:ext cx="180000" cy="0"/>
          </a:xfrm>
          <a:prstGeom prst="line">
            <a:avLst/>
          </a:prstGeom>
          <a:ln w="11430">
            <a:solidFill>
              <a:srgbClr val="526675"/>
            </a:solidFill>
            <a:tailEnd type="triangle"/>
          </a:ln>
        </p:spPr>
        <p:style>
          <a:lnRef idx="2">
            <a:schemeClr val="accent1"/>
          </a:lnRef>
          <a:fillRef idx="0">
            <a:schemeClr val="accent1"/>
          </a:fillRef>
          <a:effectRef idx="0">
            <a:schemeClr val="accent1"/>
          </a:effectRef>
          <a:fontRef idx="minor">
            <a:schemeClr val="tx1"/>
          </a:fontRef>
        </p:style>
      </p:cxnSp>
      <p:cxnSp>
        <p:nvCxnSpPr>
          <p:cNvPr id="13" name="Connector 12"/>
          <p:cNvCxnSpPr/>
          <p:nvPr/>
        </p:nvCxnSpPr>
        <p:spPr>
          <a:xfrm>
            <a:off x="2700000" y="568800"/>
            <a:ext cx="180000" cy="0"/>
          </a:xfrm>
          <a:prstGeom prst="line">
            <a:avLst/>
          </a:prstGeom>
          <a:ln w="11430">
            <a:solidFill>
              <a:srgbClr val="526675"/>
            </a:solidFill>
            <a:tailEnd type="triangle"/>
          </a:ln>
        </p:spPr>
        <p:style>
          <a:lnRef idx="2">
            <a:schemeClr val="accent1"/>
          </a:lnRef>
          <a:fillRef idx="0">
            <a:schemeClr val="accent1"/>
          </a:fillRef>
          <a:effectRef idx="0">
            <a:schemeClr val="accent1"/>
          </a:effectRef>
          <a:fontRef idx="minor">
            <a:schemeClr val="tx1"/>
          </a:fontRef>
        </p:style>
      </p:cxnSp>
      <p:cxnSp>
        <p:nvCxnSpPr>
          <p:cNvPr id="14" name="Connector 13"/>
          <p:cNvCxnSpPr/>
          <p:nvPr/>
        </p:nvCxnSpPr>
        <p:spPr>
          <a:xfrm flipV="1">
            <a:off x="5238000" y="216000"/>
            <a:ext cx="0" cy="136800"/>
          </a:xfrm>
          <a:prstGeom prst="line">
            <a:avLst/>
          </a:prstGeom>
          <a:ln w="11430">
            <a:solidFill>
              <a:srgbClr val="526675"/>
            </a:solidFill>
            <a:tailEnd type="triangle"/>
            <a:prstDash val="dash"/>
          </a:ln>
        </p:spPr>
        <p:style>
          <a:lnRef idx="2">
            <a:schemeClr val="accent1"/>
          </a:lnRef>
          <a:fillRef idx="0">
            <a:schemeClr val="accent1"/>
          </a:fillRef>
          <a:effectRef idx="0">
            <a:schemeClr val="accent1"/>
          </a:effectRef>
          <a:fontRef idx="minor">
            <a:schemeClr val="tx1"/>
          </a:fontRef>
        </p:style>
      </p:cxnSp>
      <p:cxnSp>
        <p:nvCxnSpPr>
          <p:cNvPr id="15" name="Connector 14"/>
          <p:cNvCxnSpPr/>
          <p:nvPr/>
        </p:nvCxnSpPr>
        <p:spPr>
          <a:xfrm flipH="1">
            <a:off x="1890000" y="216000"/>
            <a:ext cx="3348000" cy="0"/>
          </a:xfrm>
          <a:prstGeom prst="line">
            <a:avLst/>
          </a:prstGeom>
          <a:ln w="11430">
            <a:solidFill>
              <a:srgbClr val="526675"/>
            </a:solidFill>
            <a:tailEnd type="triangle"/>
            <a:prstDash val="dash"/>
          </a:ln>
        </p:spPr>
        <p:style>
          <a:lnRef idx="2">
            <a:schemeClr val="accent1"/>
          </a:lnRef>
          <a:fillRef idx="0">
            <a:schemeClr val="accent1"/>
          </a:fillRef>
          <a:effectRef idx="0">
            <a:schemeClr val="accent1"/>
          </a:effectRef>
          <a:fontRef idx="minor">
            <a:schemeClr val="tx1"/>
          </a:fontRef>
        </p:style>
      </p:cxnSp>
      <p:cxnSp>
        <p:nvCxnSpPr>
          <p:cNvPr id="16" name="Connector 15"/>
          <p:cNvCxnSpPr/>
          <p:nvPr/>
        </p:nvCxnSpPr>
        <p:spPr>
          <a:xfrm>
            <a:off x="1890000" y="216000"/>
            <a:ext cx="0" cy="136800"/>
          </a:xfrm>
          <a:prstGeom prst="line">
            <a:avLst/>
          </a:prstGeom>
          <a:ln w="11430">
            <a:solidFill>
              <a:srgbClr val="526675"/>
            </a:solidFill>
            <a:tailEnd type="triangle"/>
            <a:prstDash val="dash"/>
          </a:ln>
        </p:spPr>
        <p:style>
          <a:lnRef idx="2">
            <a:schemeClr val="accent1"/>
          </a:lnRef>
          <a:fillRef idx="0">
            <a:schemeClr val="accent1"/>
          </a:fillRef>
          <a:effectRef idx="0">
            <a:schemeClr val="accent1"/>
          </a:effectRef>
          <a:fontRef idx="minor">
            <a:schemeClr val="tx1"/>
          </a:fontRef>
        </p:style>
      </p:cxnSp>
      <p:sp>
        <p:nvSpPr>
          <p:cNvPr id="17" name="TextBox 16"/>
          <p:cNvSpPr txBox="1"/>
          <p:nvPr/>
        </p:nvSpPr>
        <p:spPr>
          <a:xfrm>
            <a:off x="3348000" y="36000"/>
            <a:ext cx="1080000" cy="180000"/>
          </a:xfrm>
          <a:prstGeom prst="rect">
            <a:avLst/>
          </a:prstGeom>
          <a:noFill/>
        </p:spPr>
        <p:txBody>
          <a:bodyPr wrap="square" lIns="10800" rIns="10800" tIns="3600" bIns="3600" anchor="ctr">
            <a:spAutoFit/>
          </a:bodyPr>
          <a:lstStyle/>
          <a:p>
            <a:pPr algn="ctr">
              <a:spcBef>
                <a:spcPts val="0"/>
              </a:spcBef>
              <a:spcAft>
                <a:spcPts val="0"/>
              </a:spcAft>
            </a:pPr>
            <a:r>
              <a:rPr sz="900" b="0">
                <a:solidFill>
                  <a:srgbClr val="263746"/>
                </a:solidFill>
                <a:latin typeface="Arial"/>
              </a:rPr>
              <a:t>Stored keys</a:t>
            </a:r>
          </a:p>
        </p:txBody>
      </p:sp>
      <p:cxnSp>
        <p:nvCxnSpPr>
          <p:cNvPr id="18" name="Connector 17"/>
          <p:cNvCxnSpPr/>
          <p:nvPr/>
        </p:nvCxnSpPr>
        <p:spPr>
          <a:xfrm flipH="1">
            <a:off x="4428000" y="568800"/>
            <a:ext cx="180000" cy="0"/>
          </a:xfrm>
          <a:prstGeom prst="line">
            <a:avLst/>
          </a:prstGeom>
          <a:ln w="11430">
            <a:solidFill>
              <a:srgbClr val="526675"/>
            </a:solidFill>
            <a:tailEnd type="triangle"/>
          </a:ln>
        </p:spPr>
        <p:style>
          <a:lnRef idx="2">
            <a:schemeClr val="accent1"/>
          </a:lnRef>
          <a:fillRef idx="0">
            <a:schemeClr val="accent1"/>
          </a:fillRef>
          <a:effectRef idx="0">
            <a:schemeClr val="accent1"/>
          </a:effectRef>
          <a:fontRef idx="minor">
            <a:schemeClr val="tx1"/>
          </a:fontRef>
        </p:style>
      </p:cxnSp>
      <p:cxnSp>
        <p:nvCxnSpPr>
          <p:cNvPr id="19" name="Connector 18"/>
          <p:cNvCxnSpPr/>
          <p:nvPr/>
        </p:nvCxnSpPr>
        <p:spPr>
          <a:xfrm>
            <a:off x="3654000" y="784800"/>
            <a:ext cx="0" cy="97200"/>
          </a:xfrm>
          <a:prstGeom prst="line">
            <a:avLst/>
          </a:prstGeom>
          <a:ln w="11430">
            <a:solidFill>
              <a:srgbClr val="526675"/>
            </a:solidFill>
            <a:tailEnd type="triangle"/>
            <a:prstDash val="dash"/>
          </a:ln>
        </p:spPr>
        <p:style>
          <a:lnRef idx="2">
            <a:schemeClr val="accent1"/>
          </a:lnRef>
          <a:fillRef idx="0">
            <a:schemeClr val="accent1"/>
          </a:fillRef>
          <a:effectRef idx="0">
            <a:schemeClr val="accent1"/>
          </a:effectRef>
          <a:fontRef idx="minor">
            <a:schemeClr val="tx1"/>
          </a:fontRef>
        </p:style>
      </p:cxnSp>
      <p:cxnSp>
        <p:nvCxnSpPr>
          <p:cNvPr id="20" name="Connector 19"/>
          <p:cNvCxnSpPr/>
          <p:nvPr/>
        </p:nvCxnSpPr>
        <p:spPr>
          <a:xfrm flipH="1">
            <a:off x="10800" y="882000"/>
            <a:ext cx="3643200" cy="0"/>
          </a:xfrm>
          <a:prstGeom prst="line">
            <a:avLst/>
          </a:prstGeom>
          <a:ln w="11430">
            <a:solidFill>
              <a:srgbClr val="526675"/>
            </a:solidFill>
            <a:tailEnd type="triangle"/>
            <a:prstDash val="dash"/>
          </a:ln>
        </p:spPr>
        <p:style>
          <a:lnRef idx="2">
            <a:schemeClr val="accent1"/>
          </a:lnRef>
          <a:fillRef idx="0">
            <a:schemeClr val="accent1"/>
          </a:fillRef>
          <a:effectRef idx="0">
            <a:schemeClr val="accent1"/>
          </a:effectRef>
          <a:fontRef idx="minor">
            <a:schemeClr val="tx1"/>
          </a:fontRef>
        </p:style>
      </p:cxnSp>
      <p:cxnSp>
        <p:nvCxnSpPr>
          <p:cNvPr id="21" name="Connector 20"/>
          <p:cNvCxnSpPr/>
          <p:nvPr/>
        </p:nvCxnSpPr>
        <p:spPr>
          <a:xfrm>
            <a:off x="10800" y="882000"/>
            <a:ext cx="0" cy="972000"/>
          </a:xfrm>
          <a:prstGeom prst="line">
            <a:avLst/>
          </a:prstGeom>
          <a:ln w="11430">
            <a:solidFill>
              <a:srgbClr val="526675"/>
            </a:solidFill>
            <a:tailEnd type="triangle"/>
            <a:prstDash val="dash"/>
          </a:ln>
        </p:spPr>
        <p:style>
          <a:lnRef idx="2">
            <a:schemeClr val="accent1"/>
          </a:lnRef>
          <a:fillRef idx="0">
            <a:schemeClr val="accent1"/>
          </a:fillRef>
          <a:effectRef idx="0">
            <a:schemeClr val="accent1"/>
          </a:effectRef>
          <a:fontRef idx="minor">
            <a:schemeClr val="tx1"/>
          </a:fontRef>
        </p:style>
      </p:cxnSp>
      <p:cxnSp>
        <p:nvCxnSpPr>
          <p:cNvPr id="22" name="Connector 21"/>
          <p:cNvCxnSpPr/>
          <p:nvPr/>
        </p:nvCxnSpPr>
        <p:spPr>
          <a:xfrm>
            <a:off x="10800" y="1854000"/>
            <a:ext cx="169200" cy="0"/>
          </a:xfrm>
          <a:prstGeom prst="line">
            <a:avLst/>
          </a:prstGeom>
          <a:ln w="11430">
            <a:solidFill>
              <a:srgbClr val="526675"/>
            </a:solidFill>
            <a:tailEnd type="triangle"/>
            <a:prstDash val="dash"/>
          </a:ln>
        </p:spPr>
        <p:style>
          <a:lnRef idx="2">
            <a:schemeClr val="accent1"/>
          </a:lnRef>
          <a:fillRef idx="0">
            <a:schemeClr val="accent1"/>
          </a:fillRef>
          <a:effectRef idx="0">
            <a:schemeClr val="accent1"/>
          </a:effectRef>
          <a:fontRef idx="minor">
            <a:schemeClr val="tx1"/>
          </a:fontRef>
        </p:style>
      </p:cxnSp>
      <p:sp>
        <p:nvSpPr>
          <p:cNvPr id="23" name="TextBox 22"/>
          <p:cNvSpPr txBox="1"/>
          <p:nvPr/>
        </p:nvSpPr>
        <p:spPr>
          <a:xfrm>
            <a:off x="180000" y="917999"/>
            <a:ext cx="5688000" cy="198000"/>
          </a:xfrm>
          <a:prstGeom prst="rect">
            <a:avLst/>
          </a:prstGeom>
          <a:noFill/>
        </p:spPr>
        <p:txBody>
          <a:bodyPr wrap="square" lIns="10800" rIns="10800" tIns="3600" bIns="3600" anchor="ctr">
            <a:spAutoFit/>
          </a:bodyPr>
          <a:lstStyle/>
          <a:p>
            <a:pPr algn="ctr">
              <a:spcBef>
                <a:spcPts val="0"/>
              </a:spcBef>
              <a:spcAft>
                <a:spcPts val="0"/>
              </a:spcAft>
            </a:pPr>
            <a:r>
              <a:rPr sz="900" b="0">
                <a:solidFill>
                  <a:srgbClr val="263746"/>
                </a:solidFill>
                <a:latin typeface="Arial"/>
              </a:rPr>
              <a:t>Projection G affects IDs only. The Reader receives the original stored case content.</a:t>
            </a:r>
          </a:p>
        </p:txBody>
      </p:sp>
      <p:sp>
        <p:nvSpPr>
          <p:cNvPr id="24" name="Rectangle 23"/>
          <p:cNvSpPr/>
          <p:nvPr/>
        </p:nvSpPr>
        <p:spPr>
          <a:xfrm>
            <a:off x="54000" y="1314000"/>
            <a:ext cx="3816000" cy="2430000"/>
          </a:xfrm>
          <a:prstGeom prst="rect">
            <a:avLst/>
          </a:prstGeom>
          <a:noFill/>
          <a:ln w="8890">
            <a:solidFill>
              <a:srgbClr val="B5C0C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82800" y="1324800"/>
            <a:ext cx="3758400" cy="324000"/>
          </a:xfrm>
          <a:prstGeom prst="rect">
            <a:avLst/>
          </a:prstGeom>
          <a:noFill/>
        </p:spPr>
        <p:txBody>
          <a:bodyPr wrap="square" lIns="10800" rIns="10800" tIns="3600" bIns="3600" anchor="ctr">
            <a:spAutoFit/>
          </a:bodyPr>
          <a:lstStyle/>
          <a:p>
            <a:pPr algn="l">
              <a:spcBef>
                <a:spcPts val="0"/>
              </a:spcBef>
              <a:spcAft>
                <a:spcPts val="0"/>
              </a:spcAft>
            </a:pPr>
            <a:r>
              <a:rPr sz="900" b="1">
                <a:solidFill>
                  <a:srgbClr val="263746"/>
                </a:solidFill>
                <a:latin typeface="Arial"/>
              </a:rPr>
              <a:t>(b) Read original support content</a:t>
            </a:r>
          </a:p>
        </p:txBody>
      </p:sp>
      <p:sp>
        <p:nvSpPr>
          <p:cNvPr id="26" name="Rectangle 25"/>
          <p:cNvSpPr/>
          <p:nvPr/>
        </p:nvSpPr>
        <p:spPr>
          <a:xfrm>
            <a:off x="180000" y="1674000"/>
            <a:ext cx="1655999" cy="360000"/>
          </a:xfrm>
          <a:prstGeom prst="rect">
            <a:avLst/>
          </a:prstGeom>
          <a:solidFill>
            <a:srgbClr val="F0EAF7"/>
          </a:solidFill>
          <a:ln w="8890">
            <a:solidFill>
              <a:srgbClr val="52667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190800" y="1684800"/>
            <a:ext cx="1634400" cy="338400"/>
          </a:xfrm>
          <a:prstGeom prst="rect">
            <a:avLst/>
          </a:prstGeom>
          <a:noFill/>
        </p:spPr>
        <p:txBody>
          <a:bodyPr wrap="square" lIns="10800" rIns="10800" tIns="3600" bIns="3600" anchor="ctr">
            <a:spAutoFit/>
          </a:bodyPr>
          <a:lstStyle/>
          <a:p>
            <a:pPr algn="ctr">
              <a:spcBef>
                <a:spcPts val="0"/>
              </a:spcBef>
              <a:spcAft>
                <a:spcPts val="0"/>
              </a:spcAft>
            </a:pPr>
            <a:r>
              <a:rPr sz="900" b="0">
                <a:solidFill>
                  <a:srgbClr val="263746"/>
                </a:solidFill>
                <a:latin typeface="Arial"/>
              </a:rPr>
              <a:t>Original support Tₛ</a:t>
            </a:r>
          </a:p>
          <a:p>
            <a:pPr algn="ctr">
              <a:spcBef>
                <a:spcPts val="0"/>
              </a:spcBef>
              <a:spcAft>
                <a:spcPts val="0"/>
              </a:spcAft>
            </a:pPr>
            <a:r>
              <a:rPr sz="900" b="0">
                <a:solidFill>
                  <a:srgbClr val="263746"/>
                </a:solidFill>
                <a:latin typeface="Arial"/>
              </a:rPr>
              <a:t>Kᵢₙ = Tₛ</a:t>
            </a:r>
          </a:p>
        </p:txBody>
      </p:sp>
      <p:sp>
        <p:nvSpPr>
          <p:cNvPr id="28" name="Rectangle 27"/>
          <p:cNvSpPr/>
          <p:nvPr/>
        </p:nvSpPr>
        <p:spPr>
          <a:xfrm>
            <a:off x="1998000" y="1674000"/>
            <a:ext cx="1674000" cy="360000"/>
          </a:xfrm>
          <a:prstGeom prst="rect">
            <a:avLst/>
          </a:prstGeom>
          <a:solidFill>
            <a:srgbClr val="FFF0DD"/>
          </a:solidFill>
          <a:ln w="8890">
            <a:solidFill>
              <a:srgbClr val="52667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2008800" y="1684800"/>
            <a:ext cx="1652400" cy="338400"/>
          </a:xfrm>
          <a:prstGeom prst="rect">
            <a:avLst/>
          </a:prstGeom>
          <a:noFill/>
        </p:spPr>
        <p:txBody>
          <a:bodyPr wrap="square" lIns="10800" rIns="10800" tIns="3600" bIns="3600" anchor="ctr">
            <a:spAutoFit/>
          </a:bodyPr>
          <a:lstStyle/>
          <a:p>
            <a:pPr algn="ctr">
              <a:spcBef>
                <a:spcPts val="0"/>
              </a:spcBef>
              <a:spcAft>
                <a:spcPts val="0"/>
              </a:spcAft>
            </a:pPr>
            <a:r>
              <a:rPr sz="900" b="0">
                <a:solidFill>
                  <a:srgbClr val="263746"/>
                </a:solidFill>
                <a:latin typeface="Arial"/>
              </a:rPr>
              <a:t>Train label / metadata encoding</a:t>
            </a:r>
          </a:p>
          <a:p>
            <a:pPr algn="ctr">
              <a:spcBef>
                <a:spcPts val="0"/>
              </a:spcBef>
              <a:spcAft>
                <a:spcPts val="0"/>
              </a:spcAft>
            </a:pPr>
            <a:r>
              <a:rPr sz="900" b="0">
                <a:solidFill>
                  <a:srgbClr val="263746"/>
                </a:solidFill>
                <a:latin typeface="Arial"/>
              </a:rPr>
              <a:t>Vᵢₙ = Tₛ + E(πₛ, mₛ)</a:t>
            </a:r>
          </a:p>
        </p:txBody>
      </p:sp>
      <p:sp>
        <p:nvSpPr>
          <p:cNvPr id="30" name="Rectangle 29"/>
          <p:cNvSpPr/>
          <p:nvPr/>
        </p:nvSpPr>
        <p:spPr>
          <a:xfrm>
            <a:off x="180000" y="2286000"/>
            <a:ext cx="1080000" cy="378000"/>
          </a:xfrm>
          <a:prstGeom prst="rect">
            <a:avLst/>
          </a:prstGeom>
          <a:solidFill>
            <a:srgbClr val="EAF1F8"/>
          </a:solidFill>
          <a:ln w="8890">
            <a:solidFill>
              <a:srgbClr val="52667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190800" y="2296800"/>
            <a:ext cx="1058400" cy="356400"/>
          </a:xfrm>
          <a:prstGeom prst="rect">
            <a:avLst/>
          </a:prstGeom>
          <a:noFill/>
        </p:spPr>
        <p:txBody>
          <a:bodyPr wrap="square" lIns="10800" rIns="10800" tIns="3600" bIns="3600" anchor="ctr">
            <a:spAutoFit/>
          </a:bodyPr>
          <a:lstStyle/>
          <a:p>
            <a:pPr algn="ctr">
              <a:spcBef>
                <a:spcPts val="0"/>
              </a:spcBef>
              <a:spcAft>
                <a:spcPts val="0"/>
              </a:spcAft>
            </a:pPr>
            <a:r>
              <a:rPr sz="900" b="0">
                <a:solidFill>
                  <a:srgbClr val="263746"/>
                </a:solidFill>
                <a:latin typeface="Arial"/>
              </a:rPr>
              <a:t>Query Tₖ</a:t>
            </a:r>
          </a:p>
          <a:p>
            <a:pPr algn="ctr">
              <a:spcBef>
                <a:spcPts val="0"/>
              </a:spcBef>
              <a:spcAft>
                <a:spcPts val="0"/>
              </a:spcAft>
            </a:pPr>
            <a:r>
              <a:rPr sz="900" b="0">
                <a:solidFill>
                  <a:srgbClr val="263746"/>
                </a:solidFill>
                <a:latin typeface="Arial"/>
              </a:rPr>
              <a:t>Qᵢₙ = Tₖ</a:t>
            </a:r>
          </a:p>
        </p:txBody>
      </p:sp>
      <p:sp>
        <p:nvSpPr>
          <p:cNvPr id="32" name="Rectangle 31"/>
          <p:cNvSpPr/>
          <p:nvPr/>
        </p:nvSpPr>
        <p:spPr>
          <a:xfrm>
            <a:off x="1440000" y="2286000"/>
            <a:ext cx="2232000" cy="378000"/>
          </a:xfrm>
          <a:prstGeom prst="rect">
            <a:avLst/>
          </a:prstGeom>
          <a:solidFill>
            <a:srgbClr val="F0EAF7"/>
          </a:solidFill>
          <a:ln w="8890">
            <a:solidFill>
              <a:srgbClr val="52667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1450800" y="2296800"/>
            <a:ext cx="2210400" cy="356400"/>
          </a:xfrm>
          <a:prstGeom prst="rect">
            <a:avLst/>
          </a:prstGeom>
          <a:noFill/>
        </p:spPr>
        <p:txBody>
          <a:bodyPr wrap="square" lIns="10800" rIns="10800" tIns="3600" bIns="3600" anchor="ctr">
            <a:spAutoFit/>
          </a:bodyPr>
          <a:lstStyle/>
          <a:p>
            <a:pPr algn="ctr">
              <a:spcBef>
                <a:spcPts val="0"/>
              </a:spcBef>
              <a:spcAft>
                <a:spcPts val="0"/>
              </a:spcAft>
            </a:pPr>
            <a:r>
              <a:rPr sz="900" b="0">
                <a:solidFill>
                  <a:srgbClr val="263746"/>
                </a:solidFill>
                <a:latin typeface="Arial"/>
              </a:rPr>
              <a:t>Pre-LN cross-attention</a:t>
            </a:r>
          </a:p>
          <a:p>
            <a:pPr algn="ctr">
              <a:spcBef>
                <a:spcPts val="0"/>
              </a:spcBef>
              <a:spcAft>
                <a:spcPts val="0"/>
              </a:spcAft>
            </a:pPr>
            <a:r>
              <a:rPr sz="900" b="0">
                <a:solidFill>
                  <a:srgbClr val="263746"/>
                </a:solidFill>
                <a:latin typeface="Arial"/>
              </a:rPr>
              <a:t>+ residual FFN</a:t>
            </a:r>
          </a:p>
        </p:txBody>
      </p:sp>
      <p:cxnSp>
        <p:nvCxnSpPr>
          <p:cNvPr id="34" name="Connector 33"/>
          <p:cNvCxnSpPr/>
          <p:nvPr/>
        </p:nvCxnSpPr>
        <p:spPr>
          <a:xfrm>
            <a:off x="1260000" y="2476800"/>
            <a:ext cx="180000" cy="0"/>
          </a:xfrm>
          <a:prstGeom prst="line">
            <a:avLst/>
          </a:prstGeom>
          <a:ln w="11430">
            <a:solidFill>
              <a:srgbClr val="526675"/>
            </a:solidFill>
            <a:tailEnd type="triangle"/>
          </a:ln>
        </p:spPr>
        <p:style>
          <a:lnRef idx="2">
            <a:schemeClr val="accent1"/>
          </a:lnRef>
          <a:fillRef idx="0">
            <a:schemeClr val="accent1"/>
          </a:fillRef>
          <a:effectRef idx="0">
            <a:schemeClr val="accent1"/>
          </a:effectRef>
          <a:fontRef idx="minor">
            <a:schemeClr val="tx1"/>
          </a:fontRef>
        </p:style>
      </p:cxnSp>
      <p:cxnSp>
        <p:nvCxnSpPr>
          <p:cNvPr id="35" name="Connector 34"/>
          <p:cNvCxnSpPr/>
          <p:nvPr/>
        </p:nvCxnSpPr>
        <p:spPr>
          <a:xfrm>
            <a:off x="1007999" y="2034000"/>
            <a:ext cx="900001" cy="252000"/>
          </a:xfrm>
          <a:prstGeom prst="line">
            <a:avLst/>
          </a:prstGeom>
          <a:ln w="11430">
            <a:solidFill>
              <a:srgbClr val="526675"/>
            </a:solidFill>
            <a:tailEnd type="triangle"/>
          </a:ln>
        </p:spPr>
        <p:style>
          <a:lnRef idx="2">
            <a:schemeClr val="accent1"/>
          </a:lnRef>
          <a:fillRef idx="0">
            <a:schemeClr val="accent1"/>
          </a:fillRef>
          <a:effectRef idx="0">
            <a:schemeClr val="accent1"/>
          </a:effectRef>
          <a:fontRef idx="minor">
            <a:schemeClr val="tx1"/>
          </a:fontRef>
        </p:style>
      </p:cxnSp>
      <p:cxnSp>
        <p:nvCxnSpPr>
          <p:cNvPr id="36" name="Connector 35"/>
          <p:cNvCxnSpPr/>
          <p:nvPr/>
        </p:nvCxnSpPr>
        <p:spPr>
          <a:xfrm>
            <a:off x="2844000" y="2034000"/>
            <a:ext cx="0" cy="252000"/>
          </a:xfrm>
          <a:prstGeom prst="line">
            <a:avLst/>
          </a:prstGeom>
          <a:ln w="11430">
            <a:solidFill>
              <a:srgbClr val="526675"/>
            </a:solidFill>
            <a:tailEnd type="triangle"/>
          </a:ln>
        </p:spPr>
        <p:style>
          <a:lnRef idx="2">
            <a:schemeClr val="accent1"/>
          </a:lnRef>
          <a:fillRef idx="0">
            <a:schemeClr val="accent1"/>
          </a:fillRef>
          <a:effectRef idx="0">
            <a:schemeClr val="accent1"/>
          </a:effectRef>
          <a:fontRef idx="minor">
            <a:schemeClr val="tx1"/>
          </a:fontRef>
        </p:style>
      </p:cxnSp>
      <p:sp>
        <p:nvSpPr>
          <p:cNvPr id="37" name="Rectangle 36"/>
          <p:cNvSpPr/>
          <p:nvPr/>
        </p:nvSpPr>
        <p:spPr>
          <a:xfrm>
            <a:off x="936000" y="2988000"/>
            <a:ext cx="2232000" cy="360000"/>
          </a:xfrm>
          <a:prstGeom prst="rect">
            <a:avLst/>
          </a:prstGeom>
          <a:solidFill>
            <a:srgbClr val="DBEEF0"/>
          </a:solidFill>
          <a:ln w="8890">
            <a:solidFill>
              <a:srgbClr val="52667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946800" y="2998800"/>
            <a:ext cx="2210400" cy="338400"/>
          </a:xfrm>
          <a:prstGeom prst="rect">
            <a:avLst/>
          </a:prstGeom>
          <a:noFill/>
        </p:spPr>
        <p:txBody>
          <a:bodyPr wrap="square" lIns="10800" rIns="10800" tIns="3600" bIns="3600" anchor="ctr">
            <a:spAutoFit/>
          </a:bodyPr>
          <a:lstStyle/>
          <a:p>
            <a:pPr algn="ctr">
              <a:spcBef>
                <a:spcPts val="0"/>
              </a:spcBef>
              <a:spcAft>
                <a:spcPts val="0"/>
              </a:spcAft>
            </a:pPr>
            <a:r>
              <a:rPr sz="900" b="0">
                <a:solidFill>
                  <a:srgbClr val="263746"/>
                </a:solidFill>
                <a:latin typeface="Arial"/>
              </a:rPr>
              <a:t>Enhanced regional content T′ₖ</a:t>
            </a:r>
          </a:p>
        </p:txBody>
      </p:sp>
      <p:cxnSp>
        <p:nvCxnSpPr>
          <p:cNvPr id="39" name="Connector 38"/>
          <p:cNvCxnSpPr/>
          <p:nvPr/>
        </p:nvCxnSpPr>
        <p:spPr>
          <a:xfrm>
            <a:off x="2556000" y="2664000"/>
            <a:ext cx="0" cy="324000"/>
          </a:xfrm>
          <a:prstGeom prst="line">
            <a:avLst/>
          </a:prstGeom>
          <a:ln w="11430">
            <a:solidFill>
              <a:srgbClr val="526675"/>
            </a:solidFill>
            <a:tailEnd type="triangle"/>
          </a:ln>
        </p:spPr>
        <p:style>
          <a:lnRef idx="2">
            <a:schemeClr val="accent1"/>
          </a:lnRef>
          <a:fillRef idx="0">
            <a:schemeClr val="accent1"/>
          </a:fillRef>
          <a:effectRef idx="0">
            <a:schemeClr val="accent1"/>
          </a:effectRef>
          <a:fontRef idx="minor">
            <a:schemeClr val="tx1"/>
          </a:fontRef>
        </p:style>
      </p:cxnSp>
      <p:sp>
        <p:nvSpPr>
          <p:cNvPr id="40" name="Rectangle 39"/>
          <p:cNvSpPr/>
          <p:nvPr/>
        </p:nvSpPr>
        <p:spPr>
          <a:xfrm>
            <a:off x="3978000" y="1314000"/>
            <a:ext cx="2088000" cy="2430000"/>
          </a:xfrm>
          <a:prstGeom prst="rect">
            <a:avLst/>
          </a:prstGeom>
          <a:noFill/>
          <a:ln w="8890">
            <a:solidFill>
              <a:srgbClr val="B5C0C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4006800" y="1324800"/>
            <a:ext cx="2030400" cy="324000"/>
          </a:xfrm>
          <a:prstGeom prst="rect">
            <a:avLst/>
          </a:prstGeom>
          <a:noFill/>
        </p:spPr>
        <p:txBody>
          <a:bodyPr wrap="square" lIns="10800" rIns="10800" tIns="3600" bIns="3600" anchor="ctr">
            <a:spAutoFit/>
          </a:bodyPr>
          <a:lstStyle/>
          <a:p>
            <a:pPr algn="l">
              <a:spcBef>
                <a:spcPts val="0"/>
              </a:spcBef>
              <a:spcAft>
                <a:spcPts val="0"/>
              </a:spcAft>
            </a:pPr>
            <a:r>
              <a:rPr sz="900" b="1">
                <a:solidFill>
                  <a:srgbClr val="263746"/>
                </a:solidFill>
                <a:latin typeface="Arial"/>
              </a:rPr>
              <a:t>(c) Joint classification</a:t>
            </a:r>
          </a:p>
        </p:txBody>
      </p:sp>
      <p:sp>
        <p:nvSpPr>
          <p:cNvPr id="42" name="Rectangle 41"/>
          <p:cNvSpPr/>
          <p:nvPr/>
        </p:nvSpPr>
        <p:spPr>
          <a:xfrm>
            <a:off x="4121999" y="1674000"/>
            <a:ext cx="1800000" cy="432000"/>
          </a:xfrm>
          <a:prstGeom prst="rect">
            <a:avLst/>
          </a:prstGeom>
          <a:solidFill>
            <a:srgbClr val="DBEEF0"/>
          </a:solidFill>
          <a:ln w="8890">
            <a:solidFill>
              <a:srgbClr val="52667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TextBox 42"/>
          <p:cNvSpPr txBox="1"/>
          <p:nvPr/>
        </p:nvSpPr>
        <p:spPr>
          <a:xfrm>
            <a:off x="4132799" y="1684800"/>
            <a:ext cx="1778400" cy="410399"/>
          </a:xfrm>
          <a:prstGeom prst="rect">
            <a:avLst/>
          </a:prstGeom>
          <a:noFill/>
        </p:spPr>
        <p:txBody>
          <a:bodyPr wrap="square" lIns="10800" rIns="10800" tIns="3600" bIns="3600" anchor="ctr">
            <a:spAutoFit/>
          </a:bodyPr>
          <a:lstStyle/>
          <a:p>
            <a:pPr algn="ctr">
              <a:spcBef>
                <a:spcPts val="0"/>
              </a:spcBef>
              <a:spcAft>
                <a:spcPts val="0"/>
              </a:spcAft>
            </a:pPr>
            <a:r>
              <a:rPr sz="900" b="0">
                <a:solidFill>
                  <a:srgbClr val="263746"/>
                </a:solidFill>
                <a:latin typeface="Arial"/>
              </a:rPr>
              <a:t>Same-Q back-projection</a:t>
            </a:r>
          </a:p>
          <a:p>
            <a:pPr algn="ctr">
              <a:spcBef>
                <a:spcPts val="0"/>
              </a:spcBef>
              <a:spcAft>
                <a:spcPts val="0"/>
              </a:spcAft>
            </a:pPr>
            <a:r>
              <a:rPr sz="900" b="0">
                <a:solidFill>
                  <a:srgbClr val="263746"/>
                </a:solidFill>
                <a:latin typeface="Arial"/>
              </a:rPr>
              <a:t>Cᵢ = Σₖ qᵢₖ T′ₖ</a:t>
            </a:r>
          </a:p>
        </p:txBody>
      </p:sp>
      <p:sp>
        <p:nvSpPr>
          <p:cNvPr id="44" name="Rectangle 43"/>
          <p:cNvSpPr/>
          <p:nvPr/>
        </p:nvSpPr>
        <p:spPr>
          <a:xfrm>
            <a:off x="4121999" y="2304000"/>
            <a:ext cx="1800000" cy="306000"/>
          </a:xfrm>
          <a:prstGeom prst="rect">
            <a:avLst/>
          </a:prstGeom>
          <a:solidFill>
            <a:srgbClr val="EAF1F8"/>
          </a:solidFill>
          <a:ln w="8890">
            <a:solidFill>
              <a:srgbClr val="52667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4132799" y="2314800"/>
            <a:ext cx="1778400" cy="284400"/>
          </a:xfrm>
          <a:prstGeom prst="rect">
            <a:avLst/>
          </a:prstGeom>
          <a:noFill/>
        </p:spPr>
        <p:txBody>
          <a:bodyPr wrap="square" lIns="10800" rIns="10800" tIns="3600" bIns="3600" anchor="ctr">
            <a:spAutoFit/>
          </a:bodyPr>
          <a:lstStyle/>
          <a:p>
            <a:pPr algn="ctr">
              <a:spcBef>
                <a:spcPts val="0"/>
              </a:spcBef>
              <a:spcAft>
                <a:spcPts val="0"/>
              </a:spcAft>
            </a:pPr>
            <a:r>
              <a:rPr sz="900" b="0">
                <a:solidFill>
                  <a:srgbClr val="263746"/>
                </a:solidFill>
                <a:latin typeface="Arial"/>
              </a:rPr>
              <a:t>Preserved pixel feature Fᵢ</a:t>
            </a:r>
          </a:p>
        </p:txBody>
      </p:sp>
      <p:sp>
        <p:nvSpPr>
          <p:cNvPr id="46" name="Rectangle 45"/>
          <p:cNvSpPr/>
          <p:nvPr/>
        </p:nvSpPr>
        <p:spPr>
          <a:xfrm>
            <a:off x="4121999" y="2988000"/>
            <a:ext cx="1800000" cy="360000"/>
          </a:xfrm>
          <a:prstGeom prst="rect">
            <a:avLst/>
          </a:prstGeom>
          <a:solidFill>
            <a:srgbClr val="DBEEF0"/>
          </a:solidFill>
          <a:ln w="8890">
            <a:solidFill>
              <a:srgbClr val="52667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4132799" y="2998800"/>
            <a:ext cx="1778400" cy="338400"/>
          </a:xfrm>
          <a:prstGeom prst="rect">
            <a:avLst/>
          </a:prstGeom>
          <a:noFill/>
        </p:spPr>
        <p:txBody>
          <a:bodyPr wrap="square" lIns="10800" rIns="10800" tIns="3600" bIns="3600" anchor="ctr">
            <a:spAutoFit/>
          </a:bodyPr>
          <a:lstStyle/>
          <a:p>
            <a:pPr algn="ctr">
              <a:spcBef>
                <a:spcPts val="0"/>
              </a:spcBef>
              <a:spcAft>
                <a:spcPts val="0"/>
              </a:spcAft>
            </a:pPr>
            <a:r>
              <a:rPr sz="900" b="0">
                <a:solidFill>
                  <a:srgbClr val="263746"/>
                </a:solidFill>
                <a:latin typeface="Arial"/>
              </a:rPr>
              <a:t>zᵢ = WₚFᵢ + W꜀Cᵢ + b</a:t>
            </a:r>
          </a:p>
          <a:p>
            <a:pPr algn="ctr">
              <a:spcBef>
                <a:spcPts val="0"/>
              </a:spcBef>
              <a:spcAft>
                <a:spcPts val="0"/>
              </a:spcAft>
            </a:pPr>
            <a:r>
              <a:rPr sz="900" b="0">
                <a:solidFill>
                  <a:srgbClr val="263746"/>
                </a:solidFill>
                <a:latin typeface="Arial"/>
              </a:rPr>
              <a:t>Four-class prediction</a:t>
            </a:r>
          </a:p>
        </p:txBody>
      </p:sp>
      <p:cxnSp>
        <p:nvCxnSpPr>
          <p:cNvPr id="48" name="Connector 47"/>
          <p:cNvCxnSpPr/>
          <p:nvPr/>
        </p:nvCxnSpPr>
        <p:spPr>
          <a:xfrm>
            <a:off x="5922000" y="1890000"/>
            <a:ext cx="71999" cy="0"/>
          </a:xfrm>
          <a:prstGeom prst="line">
            <a:avLst/>
          </a:prstGeom>
          <a:ln w="11430">
            <a:solidFill>
              <a:srgbClr val="526675"/>
            </a:solidFill>
            <a:tailEnd type="triangle"/>
          </a:ln>
        </p:spPr>
        <p:style>
          <a:lnRef idx="2">
            <a:schemeClr val="accent1"/>
          </a:lnRef>
          <a:fillRef idx="0">
            <a:schemeClr val="accent1"/>
          </a:fillRef>
          <a:effectRef idx="0">
            <a:schemeClr val="accent1"/>
          </a:effectRef>
          <a:fontRef idx="minor">
            <a:schemeClr val="tx1"/>
          </a:fontRef>
        </p:style>
      </p:cxnSp>
      <p:cxnSp>
        <p:nvCxnSpPr>
          <p:cNvPr id="49" name="Connector 48"/>
          <p:cNvCxnSpPr/>
          <p:nvPr/>
        </p:nvCxnSpPr>
        <p:spPr>
          <a:xfrm>
            <a:off x="5993999" y="1890000"/>
            <a:ext cx="0" cy="936000"/>
          </a:xfrm>
          <a:prstGeom prst="line">
            <a:avLst/>
          </a:prstGeom>
          <a:ln w="11430">
            <a:solidFill>
              <a:srgbClr val="526675"/>
            </a:solidFill>
            <a:tailEnd type="triangle"/>
          </a:ln>
        </p:spPr>
        <p:style>
          <a:lnRef idx="2">
            <a:schemeClr val="accent1"/>
          </a:lnRef>
          <a:fillRef idx="0">
            <a:schemeClr val="accent1"/>
          </a:fillRef>
          <a:effectRef idx="0">
            <a:schemeClr val="accent1"/>
          </a:effectRef>
          <a:fontRef idx="minor">
            <a:schemeClr val="tx1"/>
          </a:fontRef>
        </p:style>
      </p:cxnSp>
      <p:cxnSp>
        <p:nvCxnSpPr>
          <p:cNvPr id="50" name="Connector 49"/>
          <p:cNvCxnSpPr/>
          <p:nvPr/>
        </p:nvCxnSpPr>
        <p:spPr>
          <a:xfrm flipH="1">
            <a:off x="5544000" y="2826000"/>
            <a:ext cx="449999" cy="0"/>
          </a:xfrm>
          <a:prstGeom prst="line">
            <a:avLst/>
          </a:prstGeom>
          <a:ln w="11430">
            <a:solidFill>
              <a:srgbClr val="526675"/>
            </a:solidFill>
            <a:tailEnd type="triangle"/>
          </a:ln>
        </p:spPr>
        <p:style>
          <a:lnRef idx="2">
            <a:schemeClr val="accent1"/>
          </a:lnRef>
          <a:fillRef idx="0">
            <a:schemeClr val="accent1"/>
          </a:fillRef>
          <a:effectRef idx="0">
            <a:schemeClr val="accent1"/>
          </a:effectRef>
          <a:fontRef idx="minor">
            <a:schemeClr val="tx1"/>
          </a:fontRef>
        </p:style>
      </p:cxnSp>
      <p:cxnSp>
        <p:nvCxnSpPr>
          <p:cNvPr id="51" name="Connector 50"/>
          <p:cNvCxnSpPr/>
          <p:nvPr/>
        </p:nvCxnSpPr>
        <p:spPr>
          <a:xfrm>
            <a:off x="5544000" y="2826000"/>
            <a:ext cx="0" cy="162000"/>
          </a:xfrm>
          <a:prstGeom prst="line">
            <a:avLst/>
          </a:prstGeom>
          <a:ln w="11430">
            <a:solidFill>
              <a:srgbClr val="526675"/>
            </a:solidFill>
            <a:tailEnd type="triangle"/>
          </a:ln>
        </p:spPr>
        <p:style>
          <a:lnRef idx="2">
            <a:schemeClr val="accent1"/>
          </a:lnRef>
          <a:fillRef idx="0">
            <a:schemeClr val="accent1"/>
          </a:fillRef>
          <a:effectRef idx="0">
            <a:schemeClr val="accent1"/>
          </a:effectRef>
          <a:fontRef idx="minor">
            <a:schemeClr val="tx1"/>
          </a:fontRef>
        </p:style>
      </p:cxnSp>
      <p:cxnSp>
        <p:nvCxnSpPr>
          <p:cNvPr id="52" name="Connector 51"/>
          <p:cNvCxnSpPr/>
          <p:nvPr/>
        </p:nvCxnSpPr>
        <p:spPr>
          <a:xfrm>
            <a:off x="5022000" y="2610000"/>
            <a:ext cx="0" cy="378000"/>
          </a:xfrm>
          <a:prstGeom prst="line">
            <a:avLst/>
          </a:prstGeom>
          <a:ln w="11430">
            <a:solidFill>
              <a:srgbClr val="526675"/>
            </a:solidFill>
            <a:tailEnd type="triangle"/>
          </a:ln>
        </p:spPr>
        <p:style>
          <a:lnRef idx="2">
            <a:schemeClr val="accent1"/>
          </a:lnRef>
          <a:fillRef idx="0">
            <a:schemeClr val="accent1"/>
          </a:fillRef>
          <a:effectRef idx="0">
            <a:schemeClr val="accent1"/>
          </a:effectRef>
          <a:fontRef idx="minor">
            <a:schemeClr val="tx1"/>
          </a:fontRef>
        </p:style>
      </p:cxnSp>
      <p:cxnSp>
        <p:nvCxnSpPr>
          <p:cNvPr id="53" name="Connector 52"/>
          <p:cNvCxnSpPr/>
          <p:nvPr/>
        </p:nvCxnSpPr>
        <p:spPr>
          <a:xfrm flipV="1">
            <a:off x="3168000" y="1890000"/>
            <a:ext cx="953999" cy="1278000"/>
          </a:xfrm>
          <a:prstGeom prst="line">
            <a:avLst/>
          </a:prstGeom>
          <a:ln w="11430">
            <a:solidFill>
              <a:srgbClr val="526675"/>
            </a:solidFill>
            <a:tailEnd type="triangle"/>
          </a:ln>
        </p:spPr>
        <p:style>
          <a:lnRef idx="2">
            <a:schemeClr val="accent1"/>
          </a:lnRef>
          <a:fillRef idx="0">
            <a:schemeClr val="accent1"/>
          </a:fillRef>
          <a:effectRef idx="0">
            <a:schemeClr val="accent1"/>
          </a:effectRef>
          <a:fontRef idx="minor">
            <a:schemeClr val="tx1"/>
          </a:fontRef>
        </p:style>
      </p:cxnSp>
      <p:sp>
        <p:nvSpPr>
          <p:cNvPr id="54" name="TextBox 53"/>
          <p:cNvSpPr txBox="1"/>
          <p:nvPr/>
        </p:nvSpPr>
        <p:spPr>
          <a:xfrm>
            <a:off x="54000" y="3960000"/>
            <a:ext cx="6012000" cy="234000"/>
          </a:xfrm>
          <a:prstGeom prst="rect">
            <a:avLst/>
          </a:prstGeom>
          <a:noFill/>
        </p:spPr>
        <p:txBody>
          <a:bodyPr wrap="square" lIns="10800" rIns="10800" tIns="3600" bIns="3600" anchor="ctr">
            <a:spAutoFit/>
          </a:bodyPr>
          <a:lstStyle/>
          <a:p>
            <a:pPr algn="l">
              <a:spcBef>
                <a:spcPts val="0"/>
              </a:spcBef>
              <a:spcAft>
                <a:spcPts val="0"/>
              </a:spcAft>
            </a:pPr>
            <a:r>
              <a:rPr sz="900" b="0">
                <a:solidFill>
                  <a:srgbClr val="263746"/>
                </a:solidFill>
                <a:latin typeface="Arial"/>
              </a:rPr>
              <a:t>Parametric-support control uses learned reference vectors instead of Train cases. It is an ablation, not a claim of memory gain.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4.png"/>
          <p:cNvPicPr>
            <a:picLocks noChangeAspect="1"/>
          </p:cNvPicPr>
          <p:nvPr/>
        </p:nvPicPr>
        <p:blipFill>
          <a:blip r:embed="rId2"/>
          <a:stretch>
            <a:fillRect/>
          </a:stretch>
        </p:blipFill>
        <p:spPr>
          <a:xfrm>
            <a:off x="54000" y="484645"/>
            <a:ext cx="6012000" cy="3278709"/>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000" y="18000"/>
            <a:ext cx="5976000" cy="198000"/>
          </a:xfrm>
          <a:prstGeom prst="rect">
            <a:avLst/>
          </a:prstGeom>
          <a:noFill/>
        </p:spPr>
        <p:txBody>
          <a:bodyPr wrap="square" lIns="10800" rIns="10800" tIns="3600" bIns="3600" anchor="ctr">
            <a:spAutoFit/>
          </a:bodyPr>
          <a:lstStyle/>
          <a:p>
            <a:pPr algn="ctr">
              <a:spcBef>
                <a:spcPts val="0"/>
              </a:spcBef>
              <a:spcAft>
                <a:spcPts val="0"/>
              </a:spcAft>
            </a:pPr>
            <a:r>
              <a:rPr sz="1000" b="1">
                <a:solidFill>
                  <a:srgbClr val="263746"/>
                </a:solidFill>
                <a:latin typeface="Arial"/>
              </a:rPr>
              <a:t>(a) Earthquake and volcano examples</a:t>
            </a:r>
          </a:p>
        </p:txBody>
      </p:sp>
      <p:sp>
        <p:nvSpPr>
          <p:cNvPr id="3" name="TextBox 2"/>
          <p:cNvSpPr txBox="1"/>
          <p:nvPr/>
        </p:nvSpPr>
        <p:spPr>
          <a:xfrm>
            <a:off x="720000" y="216000"/>
            <a:ext cx="867600" cy="180000"/>
          </a:xfrm>
          <a:prstGeom prst="rect">
            <a:avLst/>
          </a:prstGeom>
          <a:noFill/>
        </p:spPr>
        <p:txBody>
          <a:bodyPr wrap="square" lIns="10800" rIns="10800" tIns="3600" bIns="3600" anchor="ctr">
            <a:spAutoFit/>
          </a:bodyPr>
          <a:lstStyle/>
          <a:p>
            <a:pPr algn="ctr">
              <a:spcBef>
                <a:spcPts val="0"/>
              </a:spcBef>
              <a:spcAft>
                <a:spcPts val="0"/>
              </a:spcAft>
            </a:pPr>
            <a:r>
              <a:rPr sz="900" b="1">
                <a:solidFill>
                  <a:srgbClr val="263746"/>
                </a:solidFill>
                <a:latin typeface="Arial"/>
              </a:rPr>
              <a:t>RGB</a:t>
            </a:r>
          </a:p>
        </p:txBody>
      </p:sp>
      <p:sp>
        <p:nvSpPr>
          <p:cNvPr id="4" name="TextBox 3"/>
          <p:cNvSpPr txBox="1"/>
          <p:nvPr/>
        </p:nvSpPr>
        <p:spPr>
          <a:xfrm>
            <a:off x="1605600" y="216000"/>
            <a:ext cx="867600" cy="180000"/>
          </a:xfrm>
          <a:prstGeom prst="rect">
            <a:avLst/>
          </a:prstGeom>
          <a:noFill/>
        </p:spPr>
        <p:txBody>
          <a:bodyPr wrap="square" lIns="10800" rIns="10800" tIns="3600" bIns="3600" anchor="ctr">
            <a:spAutoFit/>
          </a:bodyPr>
          <a:lstStyle/>
          <a:p>
            <a:pPr algn="ctr">
              <a:spcBef>
                <a:spcPts val="0"/>
              </a:spcBef>
              <a:spcAft>
                <a:spcPts val="0"/>
              </a:spcAft>
            </a:pPr>
            <a:r>
              <a:rPr sz="900" b="1">
                <a:solidFill>
                  <a:srgbClr val="263746"/>
                </a:solidFill>
                <a:latin typeface="Arial"/>
              </a:rPr>
              <a:t>SAR</a:t>
            </a:r>
          </a:p>
        </p:txBody>
      </p:sp>
      <p:sp>
        <p:nvSpPr>
          <p:cNvPr id="5" name="TextBox 4"/>
          <p:cNvSpPr txBox="1"/>
          <p:nvPr/>
        </p:nvSpPr>
        <p:spPr>
          <a:xfrm>
            <a:off x="2491200" y="216000"/>
            <a:ext cx="867600" cy="180000"/>
          </a:xfrm>
          <a:prstGeom prst="rect">
            <a:avLst/>
          </a:prstGeom>
          <a:noFill/>
        </p:spPr>
        <p:txBody>
          <a:bodyPr wrap="square" lIns="10800" rIns="10800" tIns="3600" bIns="3600" anchor="ctr">
            <a:spAutoFit/>
          </a:bodyPr>
          <a:lstStyle/>
          <a:p>
            <a:pPr algn="ctr">
              <a:spcBef>
                <a:spcPts val="0"/>
              </a:spcBef>
              <a:spcAft>
                <a:spcPts val="0"/>
              </a:spcAft>
            </a:pPr>
            <a:r>
              <a:rPr sz="900" b="1">
                <a:solidFill>
                  <a:srgbClr val="263746"/>
                </a:solidFill>
                <a:latin typeface="Arial"/>
              </a:rPr>
              <a:t>GT</a:t>
            </a:r>
          </a:p>
        </p:txBody>
      </p:sp>
      <p:sp>
        <p:nvSpPr>
          <p:cNvPr id="6" name="TextBox 5"/>
          <p:cNvSpPr txBox="1"/>
          <p:nvPr/>
        </p:nvSpPr>
        <p:spPr>
          <a:xfrm>
            <a:off x="3376799" y="216000"/>
            <a:ext cx="867600" cy="180000"/>
          </a:xfrm>
          <a:prstGeom prst="rect">
            <a:avLst/>
          </a:prstGeom>
          <a:noFill/>
        </p:spPr>
        <p:txBody>
          <a:bodyPr wrap="square" lIns="10800" rIns="10800" tIns="3600" bIns="3600" anchor="ctr">
            <a:spAutoFit/>
          </a:bodyPr>
          <a:lstStyle/>
          <a:p>
            <a:pPr algn="ctr">
              <a:spcBef>
                <a:spcPts val="0"/>
              </a:spcBef>
              <a:spcAft>
                <a:spcPts val="0"/>
              </a:spcAft>
            </a:pPr>
            <a:r>
              <a:rPr sz="900" b="1">
                <a:solidFill>
                  <a:srgbClr val="263746"/>
                </a:solidFill>
                <a:latin typeface="Arial"/>
              </a:rPr>
              <a:t>DamageFormer</a:t>
            </a:r>
          </a:p>
        </p:txBody>
      </p:sp>
      <p:sp>
        <p:nvSpPr>
          <p:cNvPr id="7" name="TextBox 6"/>
          <p:cNvSpPr txBox="1"/>
          <p:nvPr/>
        </p:nvSpPr>
        <p:spPr>
          <a:xfrm>
            <a:off x="4262400" y="216000"/>
            <a:ext cx="867600" cy="180000"/>
          </a:xfrm>
          <a:prstGeom prst="rect">
            <a:avLst/>
          </a:prstGeom>
          <a:noFill/>
        </p:spPr>
        <p:txBody>
          <a:bodyPr wrap="square" lIns="10800" rIns="10800" tIns="3600" bIns="3600" anchor="ctr">
            <a:spAutoFit/>
          </a:bodyPr>
          <a:lstStyle/>
          <a:p>
            <a:pPr algn="ctr">
              <a:spcBef>
                <a:spcPts val="0"/>
              </a:spcBef>
              <a:spcAft>
                <a:spcPts val="0"/>
              </a:spcAft>
            </a:pPr>
            <a:r>
              <a:rPr sz="900" b="1">
                <a:solidFill>
                  <a:srgbClr val="263746"/>
                </a:solidFill>
                <a:latin typeface="Arial"/>
              </a:rPr>
              <a:t>MPF</a:t>
            </a:r>
          </a:p>
        </p:txBody>
      </p:sp>
      <p:sp>
        <p:nvSpPr>
          <p:cNvPr id="8" name="TextBox 7"/>
          <p:cNvSpPr txBox="1"/>
          <p:nvPr/>
        </p:nvSpPr>
        <p:spPr>
          <a:xfrm>
            <a:off x="5148000" y="216000"/>
            <a:ext cx="867600" cy="180000"/>
          </a:xfrm>
          <a:prstGeom prst="rect">
            <a:avLst/>
          </a:prstGeom>
          <a:noFill/>
        </p:spPr>
        <p:txBody>
          <a:bodyPr wrap="square" lIns="10800" rIns="10800" tIns="3600" bIns="3600" anchor="ctr">
            <a:spAutoFit/>
          </a:bodyPr>
          <a:lstStyle/>
          <a:p>
            <a:pPr algn="ctr">
              <a:spcBef>
                <a:spcPts val="0"/>
              </a:spcBef>
              <a:spcAft>
                <a:spcPts val="0"/>
              </a:spcAft>
            </a:pPr>
            <a:r>
              <a:rPr sz="900" b="1">
                <a:solidFill>
                  <a:srgbClr val="263746"/>
                </a:solidFill>
                <a:latin typeface="Arial"/>
              </a:rPr>
              <a:t>Ours</a:t>
            </a:r>
          </a:p>
        </p:txBody>
      </p:sp>
      <p:sp>
        <p:nvSpPr>
          <p:cNvPr id="9" name="TextBox 8"/>
          <p:cNvSpPr txBox="1"/>
          <p:nvPr/>
        </p:nvSpPr>
        <p:spPr>
          <a:xfrm>
            <a:off x="36000" y="486000"/>
            <a:ext cx="648000" cy="827999"/>
          </a:xfrm>
          <a:prstGeom prst="rect">
            <a:avLst/>
          </a:prstGeom>
          <a:noFill/>
        </p:spPr>
        <p:txBody>
          <a:bodyPr wrap="square" lIns="10800" rIns="10800" tIns="3600" bIns="3600" anchor="ctr">
            <a:spAutoFit/>
          </a:bodyPr>
          <a:lstStyle/>
          <a:p>
            <a:pPr algn="ctr">
              <a:spcBef>
                <a:spcPts val="0"/>
              </a:spcBef>
              <a:spcAft>
                <a:spcPts val="0"/>
              </a:spcAft>
            </a:pPr>
            <a:r>
              <a:rPr sz="850" b="0">
                <a:solidFill>
                  <a:srgbClr val="263746"/>
                </a:solidFill>
                <a:latin typeface="Arial"/>
              </a:rPr>
              <a:t>Türkiye</a:t>
            </a:r>
          </a:p>
          <a:p>
            <a:pPr algn="ctr">
              <a:spcBef>
                <a:spcPts val="0"/>
              </a:spcBef>
              <a:spcAft>
                <a:spcPts val="0"/>
              </a:spcAft>
            </a:pPr>
            <a:r>
              <a:rPr sz="850" b="0">
                <a:solidFill>
                  <a:srgbClr val="263746"/>
                </a:solidFill>
                <a:latin typeface="Arial"/>
              </a:rPr>
              <a:t>earthquake</a:t>
            </a:r>
          </a:p>
          <a:p>
            <a:pPr algn="ctr">
              <a:spcBef>
                <a:spcPts val="0"/>
              </a:spcBef>
              <a:spcAft>
                <a:spcPts val="0"/>
              </a:spcAft>
            </a:pPr>
            <a:r>
              <a:rPr sz="850" b="0">
                <a:solidFill>
                  <a:srgbClr val="263746"/>
                </a:solidFill>
                <a:latin typeface="Arial"/>
              </a:rPr>
              <a:t>00001065</a:t>
            </a:r>
          </a:p>
          <a:p>
            <a:pPr algn="ctr">
              <a:spcBef>
                <a:spcPts val="0"/>
              </a:spcBef>
              <a:spcAft>
                <a:spcPts val="0"/>
              </a:spcAft>
            </a:pPr>
            <a:r>
              <a:rPr sz="850" b="0">
                <a:solidFill>
                  <a:srgbClr val="263746"/>
                </a:solidFill>
                <a:latin typeface="Arial"/>
              </a:rPr>
              <a:t>512 × 512 px</a:t>
            </a:r>
          </a:p>
        </p:txBody>
      </p:sp>
      <p:pic>
        <p:nvPicPr>
          <p:cNvPr id="10" name="Picture 9" descr="turkey-earthquake_00001065_0_RGB.png"/>
          <p:cNvPicPr>
            <a:picLocks noChangeAspect="1"/>
          </p:cNvPicPr>
          <p:nvPr/>
        </p:nvPicPr>
        <p:blipFill>
          <a:blip r:embed="rId3"/>
          <a:stretch>
            <a:fillRect/>
          </a:stretch>
        </p:blipFill>
        <p:spPr>
          <a:xfrm>
            <a:off x="720000" y="486000"/>
            <a:ext cx="827999" cy="827999"/>
          </a:xfrm>
          <a:prstGeom prst="rect">
            <a:avLst/>
          </a:prstGeom>
          <a:ln w="5080">
            <a:solidFill>
              <a:srgbClr val="A7ADB3"/>
            </a:solidFill>
          </a:ln>
        </p:spPr>
      </p:pic>
      <p:pic>
        <p:nvPicPr>
          <p:cNvPr id="11" name="Picture 10" descr="turkey-earthquake_00001065_1_SAR.png"/>
          <p:cNvPicPr>
            <a:picLocks noChangeAspect="1"/>
          </p:cNvPicPr>
          <p:nvPr/>
        </p:nvPicPr>
        <p:blipFill>
          <a:blip r:embed="rId4"/>
          <a:stretch>
            <a:fillRect/>
          </a:stretch>
        </p:blipFill>
        <p:spPr>
          <a:xfrm>
            <a:off x="1605600" y="486000"/>
            <a:ext cx="827999" cy="827999"/>
          </a:xfrm>
          <a:prstGeom prst="rect">
            <a:avLst/>
          </a:prstGeom>
          <a:ln w="5080">
            <a:solidFill>
              <a:srgbClr val="A7ADB3"/>
            </a:solidFill>
          </a:ln>
        </p:spPr>
      </p:pic>
      <p:pic>
        <p:nvPicPr>
          <p:cNvPr id="12" name="Picture 11" descr="turkey-earthquake_00001065_2_GT.png"/>
          <p:cNvPicPr>
            <a:picLocks noChangeAspect="1"/>
          </p:cNvPicPr>
          <p:nvPr/>
        </p:nvPicPr>
        <p:blipFill>
          <a:blip r:embed="rId5"/>
          <a:stretch>
            <a:fillRect/>
          </a:stretch>
        </p:blipFill>
        <p:spPr>
          <a:xfrm>
            <a:off x="2491200" y="486000"/>
            <a:ext cx="827999" cy="827999"/>
          </a:xfrm>
          <a:prstGeom prst="rect">
            <a:avLst/>
          </a:prstGeom>
          <a:ln w="5080">
            <a:solidFill>
              <a:srgbClr val="A7ADB3"/>
            </a:solidFill>
          </a:ln>
        </p:spPr>
      </p:pic>
      <p:pic>
        <p:nvPicPr>
          <p:cNvPr id="13" name="Picture 12" descr="turkey-earthquake_00001065_7_DamageFormer.png"/>
          <p:cNvPicPr>
            <a:picLocks noChangeAspect="1"/>
          </p:cNvPicPr>
          <p:nvPr/>
        </p:nvPicPr>
        <p:blipFill>
          <a:blip r:embed="rId6"/>
          <a:stretch>
            <a:fillRect/>
          </a:stretch>
        </p:blipFill>
        <p:spPr>
          <a:xfrm>
            <a:off x="3376799" y="486000"/>
            <a:ext cx="827999" cy="827999"/>
          </a:xfrm>
          <a:prstGeom prst="rect">
            <a:avLst/>
          </a:prstGeom>
          <a:ln w="5080">
            <a:solidFill>
              <a:srgbClr val="A7ADB3"/>
            </a:solidFill>
          </a:ln>
        </p:spPr>
      </p:pic>
      <p:pic>
        <p:nvPicPr>
          <p:cNvPr id="14" name="Picture 13" descr="turkey-earthquake_00001065_8_MPF.png"/>
          <p:cNvPicPr>
            <a:picLocks noChangeAspect="1"/>
          </p:cNvPicPr>
          <p:nvPr/>
        </p:nvPicPr>
        <p:blipFill>
          <a:blip r:embed="rId7"/>
          <a:stretch>
            <a:fillRect/>
          </a:stretch>
        </p:blipFill>
        <p:spPr>
          <a:xfrm>
            <a:off x="4262400" y="486000"/>
            <a:ext cx="827999" cy="827999"/>
          </a:xfrm>
          <a:prstGeom prst="rect">
            <a:avLst/>
          </a:prstGeom>
          <a:ln w="5080">
            <a:solidFill>
              <a:srgbClr val="A7ADB3"/>
            </a:solidFill>
          </a:ln>
        </p:spPr>
      </p:pic>
      <p:sp>
        <p:nvSpPr>
          <p:cNvPr id="15" name="Rectangle 14"/>
          <p:cNvSpPr/>
          <p:nvPr/>
        </p:nvSpPr>
        <p:spPr>
          <a:xfrm>
            <a:off x="5148000" y="486000"/>
            <a:ext cx="827999" cy="827999"/>
          </a:xfrm>
          <a:prstGeom prst="rect">
            <a:avLst/>
          </a:prstGeom>
          <a:solidFill>
            <a:srgbClr val="FFFFFF"/>
          </a:solidFill>
          <a:ln w="7620">
            <a:solidFill>
              <a:srgbClr val="ADB7B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36000" y="1530000"/>
            <a:ext cx="648000" cy="827999"/>
          </a:xfrm>
          <a:prstGeom prst="rect">
            <a:avLst/>
          </a:prstGeom>
          <a:noFill/>
        </p:spPr>
        <p:txBody>
          <a:bodyPr wrap="square" lIns="10800" rIns="10800" tIns="3600" bIns="3600" anchor="ctr">
            <a:spAutoFit/>
          </a:bodyPr>
          <a:lstStyle/>
          <a:p>
            <a:pPr algn="ctr">
              <a:spcBef>
                <a:spcPts val="0"/>
              </a:spcBef>
              <a:spcAft>
                <a:spcPts val="0"/>
              </a:spcAft>
            </a:pPr>
            <a:r>
              <a:rPr sz="850" b="0">
                <a:solidFill>
                  <a:srgbClr val="263746"/>
                </a:solidFill>
                <a:latin typeface="Arial"/>
              </a:rPr>
              <a:t>noto</a:t>
            </a:r>
          </a:p>
          <a:p>
            <a:pPr algn="ctr">
              <a:spcBef>
                <a:spcPts val="0"/>
              </a:spcBef>
              <a:spcAft>
                <a:spcPts val="0"/>
              </a:spcAft>
            </a:pPr>
            <a:r>
              <a:rPr sz="850" b="0">
                <a:solidFill>
                  <a:srgbClr val="263746"/>
                </a:solidFill>
                <a:latin typeface="Arial"/>
              </a:rPr>
              <a:t>earthquake</a:t>
            </a:r>
          </a:p>
          <a:p>
            <a:pPr algn="ctr">
              <a:spcBef>
                <a:spcPts val="0"/>
              </a:spcBef>
              <a:spcAft>
                <a:spcPts val="0"/>
              </a:spcAft>
            </a:pPr>
            <a:r>
              <a:rPr sz="850" b="0">
                <a:solidFill>
                  <a:srgbClr val="263746"/>
                </a:solidFill>
                <a:latin typeface="Arial"/>
              </a:rPr>
              <a:t>00000038</a:t>
            </a:r>
          </a:p>
          <a:p>
            <a:pPr algn="ctr">
              <a:spcBef>
                <a:spcPts val="0"/>
              </a:spcBef>
              <a:spcAft>
                <a:spcPts val="0"/>
              </a:spcAft>
            </a:pPr>
            <a:r>
              <a:rPr sz="850" b="0">
                <a:solidFill>
                  <a:srgbClr val="263746"/>
                </a:solidFill>
                <a:latin typeface="Arial"/>
              </a:rPr>
              <a:t>768 × 768 px</a:t>
            </a:r>
          </a:p>
        </p:txBody>
      </p:sp>
      <p:pic>
        <p:nvPicPr>
          <p:cNvPr id="17" name="Picture 16" descr="noto-earthquake_00000038_0_RGB.png"/>
          <p:cNvPicPr>
            <a:picLocks noChangeAspect="1"/>
          </p:cNvPicPr>
          <p:nvPr/>
        </p:nvPicPr>
        <p:blipFill>
          <a:blip r:embed="rId8"/>
          <a:stretch>
            <a:fillRect/>
          </a:stretch>
        </p:blipFill>
        <p:spPr>
          <a:xfrm>
            <a:off x="720000" y="1530000"/>
            <a:ext cx="827999" cy="827999"/>
          </a:xfrm>
          <a:prstGeom prst="rect">
            <a:avLst/>
          </a:prstGeom>
          <a:ln w="5080">
            <a:solidFill>
              <a:srgbClr val="A7ADB3"/>
            </a:solidFill>
          </a:ln>
        </p:spPr>
      </p:pic>
      <p:pic>
        <p:nvPicPr>
          <p:cNvPr id="18" name="Picture 17" descr="noto-earthquake_00000038_1_SAR.png"/>
          <p:cNvPicPr>
            <a:picLocks noChangeAspect="1"/>
          </p:cNvPicPr>
          <p:nvPr/>
        </p:nvPicPr>
        <p:blipFill>
          <a:blip r:embed="rId9"/>
          <a:stretch>
            <a:fillRect/>
          </a:stretch>
        </p:blipFill>
        <p:spPr>
          <a:xfrm>
            <a:off x="1605600" y="1530000"/>
            <a:ext cx="827999" cy="827999"/>
          </a:xfrm>
          <a:prstGeom prst="rect">
            <a:avLst/>
          </a:prstGeom>
          <a:ln w="5080">
            <a:solidFill>
              <a:srgbClr val="A7ADB3"/>
            </a:solidFill>
          </a:ln>
        </p:spPr>
      </p:pic>
      <p:pic>
        <p:nvPicPr>
          <p:cNvPr id="19" name="Picture 18" descr="noto-earthquake_00000038_2_GT.png"/>
          <p:cNvPicPr>
            <a:picLocks noChangeAspect="1"/>
          </p:cNvPicPr>
          <p:nvPr/>
        </p:nvPicPr>
        <p:blipFill>
          <a:blip r:embed="rId10"/>
          <a:stretch>
            <a:fillRect/>
          </a:stretch>
        </p:blipFill>
        <p:spPr>
          <a:xfrm>
            <a:off x="2491200" y="1530000"/>
            <a:ext cx="827999" cy="827999"/>
          </a:xfrm>
          <a:prstGeom prst="rect">
            <a:avLst/>
          </a:prstGeom>
          <a:ln w="5080">
            <a:solidFill>
              <a:srgbClr val="A7ADB3"/>
            </a:solidFill>
          </a:ln>
        </p:spPr>
      </p:pic>
      <p:pic>
        <p:nvPicPr>
          <p:cNvPr id="20" name="Picture 19" descr="noto-earthquake_00000038_7_DamageFormer.png"/>
          <p:cNvPicPr>
            <a:picLocks noChangeAspect="1"/>
          </p:cNvPicPr>
          <p:nvPr/>
        </p:nvPicPr>
        <p:blipFill>
          <a:blip r:embed="rId11"/>
          <a:stretch>
            <a:fillRect/>
          </a:stretch>
        </p:blipFill>
        <p:spPr>
          <a:xfrm>
            <a:off x="3376799" y="1530000"/>
            <a:ext cx="827999" cy="827999"/>
          </a:xfrm>
          <a:prstGeom prst="rect">
            <a:avLst/>
          </a:prstGeom>
          <a:ln w="5080">
            <a:solidFill>
              <a:srgbClr val="A7ADB3"/>
            </a:solidFill>
          </a:ln>
        </p:spPr>
      </p:pic>
      <p:pic>
        <p:nvPicPr>
          <p:cNvPr id="21" name="Picture 20" descr="noto-earthquake_00000038_8_MPF.png"/>
          <p:cNvPicPr>
            <a:picLocks noChangeAspect="1"/>
          </p:cNvPicPr>
          <p:nvPr/>
        </p:nvPicPr>
        <p:blipFill>
          <a:blip r:embed="rId12"/>
          <a:stretch>
            <a:fillRect/>
          </a:stretch>
        </p:blipFill>
        <p:spPr>
          <a:xfrm>
            <a:off x="4262400" y="1530000"/>
            <a:ext cx="827999" cy="827999"/>
          </a:xfrm>
          <a:prstGeom prst="rect">
            <a:avLst/>
          </a:prstGeom>
          <a:ln w="5080">
            <a:solidFill>
              <a:srgbClr val="A7ADB3"/>
            </a:solidFill>
          </a:ln>
        </p:spPr>
      </p:pic>
      <p:sp>
        <p:nvSpPr>
          <p:cNvPr id="22" name="Rectangle 21"/>
          <p:cNvSpPr/>
          <p:nvPr/>
        </p:nvSpPr>
        <p:spPr>
          <a:xfrm>
            <a:off x="5148000" y="1530000"/>
            <a:ext cx="827999" cy="827999"/>
          </a:xfrm>
          <a:prstGeom prst="rect">
            <a:avLst/>
          </a:prstGeom>
          <a:solidFill>
            <a:srgbClr val="FFFFFF"/>
          </a:solidFill>
          <a:ln w="7620">
            <a:solidFill>
              <a:srgbClr val="ADB7B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36000" y="2574000"/>
            <a:ext cx="648000" cy="827999"/>
          </a:xfrm>
          <a:prstGeom prst="rect">
            <a:avLst/>
          </a:prstGeom>
          <a:noFill/>
        </p:spPr>
        <p:txBody>
          <a:bodyPr wrap="square" lIns="10800" rIns="10800" tIns="3600" bIns="3600" anchor="ctr">
            <a:spAutoFit/>
          </a:bodyPr>
          <a:lstStyle/>
          <a:p>
            <a:pPr algn="ctr">
              <a:spcBef>
                <a:spcPts val="0"/>
              </a:spcBef>
              <a:spcAft>
                <a:spcPts val="0"/>
              </a:spcAft>
            </a:pPr>
            <a:r>
              <a:rPr sz="850" b="0">
                <a:solidFill>
                  <a:srgbClr val="263746"/>
                </a:solidFill>
                <a:latin typeface="Arial"/>
              </a:rPr>
              <a:t>La Palma</a:t>
            </a:r>
          </a:p>
          <a:p>
            <a:pPr algn="ctr">
              <a:spcBef>
                <a:spcPts val="0"/>
              </a:spcBef>
              <a:spcAft>
                <a:spcPts val="0"/>
              </a:spcAft>
            </a:pPr>
            <a:r>
              <a:rPr sz="850" b="0">
                <a:solidFill>
                  <a:srgbClr val="263746"/>
                </a:solidFill>
                <a:latin typeface="Arial"/>
              </a:rPr>
              <a:t>volcano</a:t>
            </a:r>
          </a:p>
          <a:p>
            <a:pPr algn="ctr">
              <a:spcBef>
                <a:spcPts val="0"/>
              </a:spcBef>
              <a:spcAft>
                <a:spcPts val="0"/>
              </a:spcAft>
            </a:pPr>
            <a:r>
              <a:rPr sz="850" b="0">
                <a:solidFill>
                  <a:srgbClr val="263746"/>
                </a:solidFill>
                <a:latin typeface="Arial"/>
              </a:rPr>
              <a:t>00000597</a:t>
            </a:r>
          </a:p>
          <a:p>
            <a:pPr algn="ctr">
              <a:spcBef>
                <a:spcPts val="0"/>
              </a:spcBef>
              <a:spcAft>
                <a:spcPts val="0"/>
              </a:spcAft>
            </a:pPr>
            <a:r>
              <a:rPr sz="850" b="0">
                <a:solidFill>
                  <a:srgbClr val="263746"/>
                </a:solidFill>
                <a:latin typeface="Arial"/>
              </a:rPr>
              <a:t>768 × 768 px</a:t>
            </a:r>
          </a:p>
        </p:txBody>
      </p:sp>
      <p:pic>
        <p:nvPicPr>
          <p:cNvPr id="24" name="Picture 23" descr="la_palma-volcano_00000597_0_RGB.png"/>
          <p:cNvPicPr>
            <a:picLocks noChangeAspect="1"/>
          </p:cNvPicPr>
          <p:nvPr/>
        </p:nvPicPr>
        <p:blipFill>
          <a:blip r:embed="rId13"/>
          <a:stretch>
            <a:fillRect/>
          </a:stretch>
        </p:blipFill>
        <p:spPr>
          <a:xfrm>
            <a:off x="720000" y="2574000"/>
            <a:ext cx="827999" cy="827999"/>
          </a:xfrm>
          <a:prstGeom prst="rect">
            <a:avLst/>
          </a:prstGeom>
          <a:ln w="5080">
            <a:solidFill>
              <a:srgbClr val="A7ADB3"/>
            </a:solidFill>
          </a:ln>
        </p:spPr>
      </p:pic>
      <p:pic>
        <p:nvPicPr>
          <p:cNvPr id="25" name="Picture 24" descr="la_palma-volcano_00000597_1_SAR.png"/>
          <p:cNvPicPr>
            <a:picLocks noChangeAspect="1"/>
          </p:cNvPicPr>
          <p:nvPr/>
        </p:nvPicPr>
        <p:blipFill>
          <a:blip r:embed="rId14"/>
          <a:stretch>
            <a:fillRect/>
          </a:stretch>
        </p:blipFill>
        <p:spPr>
          <a:xfrm>
            <a:off x="1605600" y="2574000"/>
            <a:ext cx="827999" cy="827999"/>
          </a:xfrm>
          <a:prstGeom prst="rect">
            <a:avLst/>
          </a:prstGeom>
          <a:ln w="5080">
            <a:solidFill>
              <a:srgbClr val="A7ADB3"/>
            </a:solidFill>
          </a:ln>
        </p:spPr>
      </p:pic>
      <p:pic>
        <p:nvPicPr>
          <p:cNvPr id="26" name="Picture 25" descr="la_palma-volcano_00000597_2_GT.png"/>
          <p:cNvPicPr>
            <a:picLocks noChangeAspect="1"/>
          </p:cNvPicPr>
          <p:nvPr/>
        </p:nvPicPr>
        <p:blipFill>
          <a:blip r:embed="rId15"/>
          <a:stretch>
            <a:fillRect/>
          </a:stretch>
        </p:blipFill>
        <p:spPr>
          <a:xfrm>
            <a:off x="2491200" y="2574000"/>
            <a:ext cx="827999" cy="827999"/>
          </a:xfrm>
          <a:prstGeom prst="rect">
            <a:avLst/>
          </a:prstGeom>
          <a:ln w="5080">
            <a:solidFill>
              <a:srgbClr val="A7ADB3"/>
            </a:solidFill>
          </a:ln>
        </p:spPr>
      </p:pic>
      <p:pic>
        <p:nvPicPr>
          <p:cNvPr id="27" name="Picture 26" descr="la_palma-volcano_00000597_7_DamageFormer.png"/>
          <p:cNvPicPr>
            <a:picLocks noChangeAspect="1"/>
          </p:cNvPicPr>
          <p:nvPr/>
        </p:nvPicPr>
        <p:blipFill>
          <a:blip r:embed="rId16"/>
          <a:stretch>
            <a:fillRect/>
          </a:stretch>
        </p:blipFill>
        <p:spPr>
          <a:xfrm>
            <a:off x="3376799" y="2574000"/>
            <a:ext cx="827999" cy="827999"/>
          </a:xfrm>
          <a:prstGeom prst="rect">
            <a:avLst/>
          </a:prstGeom>
          <a:ln w="5080">
            <a:solidFill>
              <a:srgbClr val="A7ADB3"/>
            </a:solidFill>
          </a:ln>
        </p:spPr>
      </p:pic>
      <p:pic>
        <p:nvPicPr>
          <p:cNvPr id="28" name="Picture 27" descr="la_palma-volcano_00000597_8_MPF.png"/>
          <p:cNvPicPr>
            <a:picLocks noChangeAspect="1"/>
          </p:cNvPicPr>
          <p:nvPr/>
        </p:nvPicPr>
        <p:blipFill>
          <a:blip r:embed="rId17"/>
          <a:stretch>
            <a:fillRect/>
          </a:stretch>
        </p:blipFill>
        <p:spPr>
          <a:xfrm>
            <a:off x="4262400" y="2574000"/>
            <a:ext cx="827999" cy="827999"/>
          </a:xfrm>
          <a:prstGeom prst="rect">
            <a:avLst/>
          </a:prstGeom>
          <a:ln w="5080">
            <a:solidFill>
              <a:srgbClr val="A7ADB3"/>
            </a:solidFill>
          </a:ln>
        </p:spPr>
      </p:pic>
      <p:sp>
        <p:nvSpPr>
          <p:cNvPr id="29" name="Rectangle 28"/>
          <p:cNvSpPr/>
          <p:nvPr/>
        </p:nvSpPr>
        <p:spPr>
          <a:xfrm>
            <a:off x="5148000" y="2574000"/>
            <a:ext cx="827999" cy="827999"/>
          </a:xfrm>
          <a:prstGeom prst="rect">
            <a:avLst/>
          </a:prstGeom>
          <a:solidFill>
            <a:srgbClr val="FFFFFF"/>
          </a:solidFill>
          <a:ln w="7620">
            <a:solidFill>
              <a:srgbClr val="ADB7B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ectangle 29"/>
          <p:cNvSpPr/>
          <p:nvPr/>
        </p:nvSpPr>
        <p:spPr>
          <a:xfrm>
            <a:off x="846000" y="3751200"/>
            <a:ext cx="100800" cy="100800"/>
          </a:xfrm>
          <a:prstGeom prst="rect">
            <a:avLst/>
          </a:prstGeom>
          <a:solidFill>
            <a:srgbClr val="FFFFFF"/>
          </a:solidFill>
          <a:ln>
            <a:solidFill>
              <a:srgbClr val="8F99A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982800" y="3708000"/>
            <a:ext cx="936000" cy="180000"/>
          </a:xfrm>
          <a:prstGeom prst="rect">
            <a:avLst/>
          </a:prstGeom>
          <a:noFill/>
        </p:spPr>
        <p:txBody>
          <a:bodyPr wrap="square" lIns="10800" rIns="10800" tIns="3600" bIns="3600" anchor="ctr">
            <a:spAutoFit/>
          </a:bodyPr>
          <a:lstStyle/>
          <a:p>
            <a:pPr algn="l">
              <a:spcBef>
                <a:spcPts val="0"/>
              </a:spcBef>
              <a:spcAft>
                <a:spcPts val="0"/>
              </a:spcAft>
            </a:pPr>
            <a:r>
              <a:rPr sz="850" b="0">
                <a:solidFill>
                  <a:srgbClr val="263746"/>
                </a:solidFill>
                <a:latin typeface="Arial"/>
              </a:rPr>
              <a:t>Background</a:t>
            </a:r>
          </a:p>
        </p:txBody>
      </p:sp>
      <p:sp>
        <p:nvSpPr>
          <p:cNvPr id="32" name="Rectangle 31"/>
          <p:cNvSpPr/>
          <p:nvPr/>
        </p:nvSpPr>
        <p:spPr>
          <a:xfrm>
            <a:off x="1962000" y="3751200"/>
            <a:ext cx="100800" cy="100800"/>
          </a:xfrm>
          <a:prstGeom prst="rect">
            <a:avLst/>
          </a:prstGeom>
          <a:solidFill>
            <a:srgbClr val="46B579"/>
          </a:solidFill>
          <a:ln>
            <a:solidFill>
              <a:srgbClr val="8F99A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2098800" y="3708000"/>
            <a:ext cx="936000" cy="180000"/>
          </a:xfrm>
          <a:prstGeom prst="rect">
            <a:avLst/>
          </a:prstGeom>
          <a:noFill/>
        </p:spPr>
        <p:txBody>
          <a:bodyPr wrap="square" lIns="10800" rIns="10800" tIns="3600" bIns="3600" anchor="ctr">
            <a:spAutoFit/>
          </a:bodyPr>
          <a:lstStyle/>
          <a:p>
            <a:pPr algn="l">
              <a:spcBef>
                <a:spcPts val="0"/>
              </a:spcBef>
              <a:spcAft>
                <a:spcPts val="0"/>
              </a:spcAft>
            </a:pPr>
            <a:r>
              <a:rPr sz="850" b="0">
                <a:solidFill>
                  <a:srgbClr val="263746"/>
                </a:solidFill>
                <a:latin typeface="Arial"/>
              </a:rPr>
              <a:t>Intact</a:t>
            </a:r>
          </a:p>
        </p:txBody>
      </p:sp>
      <p:sp>
        <p:nvSpPr>
          <p:cNvPr id="34" name="Rectangle 33"/>
          <p:cNvSpPr/>
          <p:nvPr/>
        </p:nvSpPr>
        <p:spPr>
          <a:xfrm>
            <a:off x="3078000" y="3751200"/>
            <a:ext cx="100800" cy="100800"/>
          </a:xfrm>
          <a:prstGeom prst="rect">
            <a:avLst/>
          </a:prstGeom>
          <a:solidFill>
            <a:srgbClr val="E4BD8B"/>
          </a:solidFill>
          <a:ln>
            <a:solidFill>
              <a:srgbClr val="8F99A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3214800" y="3708000"/>
            <a:ext cx="936000" cy="180000"/>
          </a:xfrm>
          <a:prstGeom prst="rect">
            <a:avLst/>
          </a:prstGeom>
          <a:noFill/>
        </p:spPr>
        <p:txBody>
          <a:bodyPr wrap="square" lIns="10800" rIns="10800" tIns="3600" bIns="3600" anchor="ctr">
            <a:spAutoFit/>
          </a:bodyPr>
          <a:lstStyle/>
          <a:p>
            <a:pPr algn="l">
              <a:spcBef>
                <a:spcPts val="0"/>
              </a:spcBef>
              <a:spcAft>
                <a:spcPts val="0"/>
              </a:spcAft>
            </a:pPr>
            <a:r>
              <a:rPr sz="850" b="0">
                <a:solidFill>
                  <a:srgbClr val="263746"/>
                </a:solidFill>
                <a:latin typeface="Arial"/>
              </a:rPr>
              <a:t>Damaged</a:t>
            </a:r>
          </a:p>
        </p:txBody>
      </p:sp>
      <p:sp>
        <p:nvSpPr>
          <p:cNvPr id="36" name="Rectangle 35"/>
          <p:cNvSpPr/>
          <p:nvPr/>
        </p:nvSpPr>
        <p:spPr>
          <a:xfrm>
            <a:off x="4194000" y="3751200"/>
            <a:ext cx="100800" cy="100800"/>
          </a:xfrm>
          <a:prstGeom prst="rect">
            <a:avLst/>
          </a:prstGeom>
          <a:solidFill>
            <a:srgbClr val="B64645"/>
          </a:solidFill>
          <a:ln>
            <a:solidFill>
              <a:srgbClr val="8F99A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4330800" y="3708000"/>
            <a:ext cx="936000" cy="180000"/>
          </a:xfrm>
          <a:prstGeom prst="rect">
            <a:avLst/>
          </a:prstGeom>
          <a:noFill/>
        </p:spPr>
        <p:txBody>
          <a:bodyPr wrap="square" lIns="10800" rIns="10800" tIns="3600" bIns="3600" anchor="ctr">
            <a:spAutoFit/>
          </a:bodyPr>
          <a:lstStyle/>
          <a:p>
            <a:pPr algn="l">
              <a:spcBef>
                <a:spcPts val="0"/>
              </a:spcBef>
              <a:spcAft>
                <a:spcPts val="0"/>
              </a:spcAft>
            </a:pPr>
            <a:r>
              <a:rPr sz="850" b="0">
                <a:solidFill>
                  <a:srgbClr val="263746"/>
                </a:solidFill>
                <a:latin typeface="Arial"/>
              </a:rPr>
              <a:t>Destroyed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000" y="18000"/>
            <a:ext cx="5976000" cy="198000"/>
          </a:xfrm>
          <a:prstGeom prst="rect">
            <a:avLst/>
          </a:prstGeom>
          <a:noFill/>
        </p:spPr>
        <p:txBody>
          <a:bodyPr wrap="square" lIns="10800" rIns="10800" tIns="3600" bIns="3600" anchor="ctr">
            <a:spAutoFit/>
          </a:bodyPr>
          <a:lstStyle/>
          <a:p>
            <a:pPr algn="ctr">
              <a:spcBef>
                <a:spcPts val="0"/>
              </a:spcBef>
              <a:spcAft>
                <a:spcPts val="0"/>
              </a:spcAft>
            </a:pPr>
            <a:r>
              <a:rPr sz="1000" b="1">
                <a:solidFill>
                  <a:srgbClr val="263746"/>
                </a:solidFill>
                <a:latin typeface="Arial"/>
              </a:rPr>
              <a:t>(b) Flood, conflict and wildfire examples</a:t>
            </a:r>
          </a:p>
        </p:txBody>
      </p:sp>
      <p:sp>
        <p:nvSpPr>
          <p:cNvPr id="3" name="TextBox 2"/>
          <p:cNvSpPr txBox="1"/>
          <p:nvPr/>
        </p:nvSpPr>
        <p:spPr>
          <a:xfrm>
            <a:off x="720000" y="216000"/>
            <a:ext cx="867600" cy="180000"/>
          </a:xfrm>
          <a:prstGeom prst="rect">
            <a:avLst/>
          </a:prstGeom>
          <a:noFill/>
        </p:spPr>
        <p:txBody>
          <a:bodyPr wrap="square" lIns="10800" rIns="10800" tIns="3600" bIns="3600" anchor="ctr">
            <a:spAutoFit/>
          </a:bodyPr>
          <a:lstStyle/>
          <a:p>
            <a:pPr algn="ctr">
              <a:spcBef>
                <a:spcPts val="0"/>
              </a:spcBef>
              <a:spcAft>
                <a:spcPts val="0"/>
              </a:spcAft>
            </a:pPr>
            <a:r>
              <a:rPr sz="900" b="1">
                <a:solidFill>
                  <a:srgbClr val="263746"/>
                </a:solidFill>
                <a:latin typeface="Arial"/>
              </a:rPr>
              <a:t>RGB</a:t>
            </a:r>
          </a:p>
        </p:txBody>
      </p:sp>
      <p:sp>
        <p:nvSpPr>
          <p:cNvPr id="4" name="TextBox 3"/>
          <p:cNvSpPr txBox="1"/>
          <p:nvPr/>
        </p:nvSpPr>
        <p:spPr>
          <a:xfrm>
            <a:off x="1605600" y="216000"/>
            <a:ext cx="867600" cy="180000"/>
          </a:xfrm>
          <a:prstGeom prst="rect">
            <a:avLst/>
          </a:prstGeom>
          <a:noFill/>
        </p:spPr>
        <p:txBody>
          <a:bodyPr wrap="square" lIns="10800" rIns="10800" tIns="3600" bIns="3600" anchor="ctr">
            <a:spAutoFit/>
          </a:bodyPr>
          <a:lstStyle/>
          <a:p>
            <a:pPr algn="ctr">
              <a:spcBef>
                <a:spcPts val="0"/>
              </a:spcBef>
              <a:spcAft>
                <a:spcPts val="0"/>
              </a:spcAft>
            </a:pPr>
            <a:r>
              <a:rPr sz="900" b="1">
                <a:solidFill>
                  <a:srgbClr val="263746"/>
                </a:solidFill>
                <a:latin typeface="Arial"/>
              </a:rPr>
              <a:t>SAR</a:t>
            </a:r>
          </a:p>
        </p:txBody>
      </p:sp>
      <p:sp>
        <p:nvSpPr>
          <p:cNvPr id="5" name="TextBox 4"/>
          <p:cNvSpPr txBox="1"/>
          <p:nvPr/>
        </p:nvSpPr>
        <p:spPr>
          <a:xfrm>
            <a:off x="2491200" y="216000"/>
            <a:ext cx="867600" cy="180000"/>
          </a:xfrm>
          <a:prstGeom prst="rect">
            <a:avLst/>
          </a:prstGeom>
          <a:noFill/>
        </p:spPr>
        <p:txBody>
          <a:bodyPr wrap="square" lIns="10800" rIns="10800" tIns="3600" bIns="3600" anchor="ctr">
            <a:spAutoFit/>
          </a:bodyPr>
          <a:lstStyle/>
          <a:p>
            <a:pPr algn="ctr">
              <a:spcBef>
                <a:spcPts val="0"/>
              </a:spcBef>
              <a:spcAft>
                <a:spcPts val="0"/>
              </a:spcAft>
            </a:pPr>
            <a:r>
              <a:rPr sz="900" b="1">
                <a:solidFill>
                  <a:srgbClr val="263746"/>
                </a:solidFill>
                <a:latin typeface="Arial"/>
              </a:rPr>
              <a:t>GT</a:t>
            </a:r>
          </a:p>
        </p:txBody>
      </p:sp>
      <p:sp>
        <p:nvSpPr>
          <p:cNvPr id="6" name="TextBox 5"/>
          <p:cNvSpPr txBox="1"/>
          <p:nvPr/>
        </p:nvSpPr>
        <p:spPr>
          <a:xfrm>
            <a:off x="3376799" y="216000"/>
            <a:ext cx="867600" cy="180000"/>
          </a:xfrm>
          <a:prstGeom prst="rect">
            <a:avLst/>
          </a:prstGeom>
          <a:noFill/>
        </p:spPr>
        <p:txBody>
          <a:bodyPr wrap="square" lIns="10800" rIns="10800" tIns="3600" bIns="3600" anchor="ctr">
            <a:spAutoFit/>
          </a:bodyPr>
          <a:lstStyle/>
          <a:p>
            <a:pPr algn="ctr">
              <a:spcBef>
                <a:spcPts val="0"/>
              </a:spcBef>
              <a:spcAft>
                <a:spcPts val="0"/>
              </a:spcAft>
            </a:pPr>
            <a:r>
              <a:rPr sz="900" b="1">
                <a:solidFill>
                  <a:srgbClr val="263746"/>
                </a:solidFill>
                <a:latin typeface="Arial"/>
              </a:rPr>
              <a:t>DamageFormer</a:t>
            </a:r>
          </a:p>
        </p:txBody>
      </p:sp>
      <p:sp>
        <p:nvSpPr>
          <p:cNvPr id="7" name="TextBox 6"/>
          <p:cNvSpPr txBox="1"/>
          <p:nvPr/>
        </p:nvSpPr>
        <p:spPr>
          <a:xfrm>
            <a:off x="4262400" y="216000"/>
            <a:ext cx="867600" cy="180000"/>
          </a:xfrm>
          <a:prstGeom prst="rect">
            <a:avLst/>
          </a:prstGeom>
          <a:noFill/>
        </p:spPr>
        <p:txBody>
          <a:bodyPr wrap="square" lIns="10800" rIns="10800" tIns="3600" bIns="3600" anchor="ctr">
            <a:spAutoFit/>
          </a:bodyPr>
          <a:lstStyle/>
          <a:p>
            <a:pPr algn="ctr">
              <a:spcBef>
                <a:spcPts val="0"/>
              </a:spcBef>
              <a:spcAft>
                <a:spcPts val="0"/>
              </a:spcAft>
            </a:pPr>
            <a:r>
              <a:rPr sz="900" b="1">
                <a:solidFill>
                  <a:srgbClr val="263746"/>
                </a:solidFill>
                <a:latin typeface="Arial"/>
              </a:rPr>
              <a:t>MPF</a:t>
            </a:r>
          </a:p>
        </p:txBody>
      </p:sp>
      <p:sp>
        <p:nvSpPr>
          <p:cNvPr id="8" name="TextBox 7"/>
          <p:cNvSpPr txBox="1"/>
          <p:nvPr/>
        </p:nvSpPr>
        <p:spPr>
          <a:xfrm>
            <a:off x="5148000" y="216000"/>
            <a:ext cx="867600" cy="180000"/>
          </a:xfrm>
          <a:prstGeom prst="rect">
            <a:avLst/>
          </a:prstGeom>
          <a:noFill/>
        </p:spPr>
        <p:txBody>
          <a:bodyPr wrap="square" lIns="10800" rIns="10800" tIns="3600" bIns="3600" anchor="ctr">
            <a:spAutoFit/>
          </a:bodyPr>
          <a:lstStyle/>
          <a:p>
            <a:pPr algn="ctr">
              <a:spcBef>
                <a:spcPts val="0"/>
              </a:spcBef>
              <a:spcAft>
                <a:spcPts val="0"/>
              </a:spcAft>
            </a:pPr>
            <a:r>
              <a:rPr sz="900" b="1">
                <a:solidFill>
                  <a:srgbClr val="263746"/>
                </a:solidFill>
                <a:latin typeface="Arial"/>
              </a:rPr>
              <a:t>Ours</a:t>
            </a:r>
          </a:p>
        </p:txBody>
      </p:sp>
      <p:sp>
        <p:nvSpPr>
          <p:cNvPr id="9" name="TextBox 8"/>
          <p:cNvSpPr txBox="1"/>
          <p:nvPr/>
        </p:nvSpPr>
        <p:spPr>
          <a:xfrm>
            <a:off x="36000" y="486000"/>
            <a:ext cx="648000" cy="827999"/>
          </a:xfrm>
          <a:prstGeom prst="rect">
            <a:avLst/>
          </a:prstGeom>
          <a:noFill/>
        </p:spPr>
        <p:txBody>
          <a:bodyPr wrap="square" lIns="10800" rIns="10800" tIns="3600" bIns="3600" anchor="ctr">
            <a:spAutoFit/>
          </a:bodyPr>
          <a:lstStyle/>
          <a:p>
            <a:pPr algn="ctr">
              <a:spcBef>
                <a:spcPts val="0"/>
              </a:spcBef>
              <a:spcAft>
                <a:spcPts val="0"/>
              </a:spcAft>
            </a:pPr>
            <a:r>
              <a:rPr sz="850" b="0">
                <a:solidFill>
                  <a:srgbClr val="263746"/>
                </a:solidFill>
                <a:latin typeface="Arial"/>
              </a:rPr>
              <a:t>libya</a:t>
            </a:r>
          </a:p>
          <a:p>
            <a:pPr algn="ctr">
              <a:spcBef>
                <a:spcPts val="0"/>
              </a:spcBef>
              <a:spcAft>
                <a:spcPts val="0"/>
              </a:spcAft>
            </a:pPr>
            <a:r>
              <a:rPr sz="850" b="0">
                <a:solidFill>
                  <a:srgbClr val="263746"/>
                </a:solidFill>
                <a:latin typeface="Arial"/>
              </a:rPr>
              <a:t>flood</a:t>
            </a:r>
          </a:p>
          <a:p>
            <a:pPr algn="ctr">
              <a:spcBef>
                <a:spcPts val="0"/>
              </a:spcBef>
              <a:spcAft>
                <a:spcPts val="0"/>
              </a:spcAft>
            </a:pPr>
            <a:r>
              <a:rPr sz="850" b="0">
                <a:solidFill>
                  <a:srgbClr val="263746"/>
                </a:solidFill>
                <a:latin typeface="Arial"/>
              </a:rPr>
              <a:t>00000021</a:t>
            </a:r>
          </a:p>
          <a:p>
            <a:pPr algn="ctr">
              <a:spcBef>
                <a:spcPts val="0"/>
              </a:spcBef>
              <a:spcAft>
                <a:spcPts val="0"/>
              </a:spcAft>
            </a:pPr>
            <a:r>
              <a:rPr sz="850" b="0">
                <a:solidFill>
                  <a:srgbClr val="263746"/>
                </a:solidFill>
                <a:latin typeface="Arial"/>
              </a:rPr>
              <a:t>768 × 768 px</a:t>
            </a:r>
          </a:p>
        </p:txBody>
      </p:sp>
      <p:pic>
        <p:nvPicPr>
          <p:cNvPr id="10" name="Picture 9" descr="libya-flood_00000021_0_RGB.png"/>
          <p:cNvPicPr>
            <a:picLocks noChangeAspect="1"/>
          </p:cNvPicPr>
          <p:nvPr/>
        </p:nvPicPr>
        <p:blipFill>
          <a:blip r:embed="rId3"/>
          <a:stretch>
            <a:fillRect/>
          </a:stretch>
        </p:blipFill>
        <p:spPr>
          <a:xfrm>
            <a:off x="720000" y="486000"/>
            <a:ext cx="827999" cy="827999"/>
          </a:xfrm>
          <a:prstGeom prst="rect">
            <a:avLst/>
          </a:prstGeom>
          <a:ln w="5080">
            <a:solidFill>
              <a:srgbClr val="A7ADB3"/>
            </a:solidFill>
          </a:ln>
        </p:spPr>
      </p:pic>
      <p:pic>
        <p:nvPicPr>
          <p:cNvPr id="11" name="Picture 10" descr="libya-flood_00000021_1_SAR.png"/>
          <p:cNvPicPr>
            <a:picLocks noChangeAspect="1"/>
          </p:cNvPicPr>
          <p:nvPr/>
        </p:nvPicPr>
        <p:blipFill>
          <a:blip r:embed="rId4"/>
          <a:stretch>
            <a:fillRect/>
          </a:stretch>
        </p:blipFill>
        <p:spPr>
          <a:xfrm>
            <a:off x="1605600" y="486000"/>
            <a:ext cx="827999" cy="827999"/>
          </a:xfrm>
          <a:prstGeom prst="rect">
            <a:avLst/>
          </a:prstGeom>
          <a:ln w="5080">
            <a:solidFill>
              <a:srgbClr val="A7ADB3"/>
            </a:solidFill>
          </a:ln>
        </p:spPr>
      </p:pic>
      <p:pic>
        <p:nvPicPr>
          <p:cNvPr id="12" name="Picture 11" descr="libya-flood_00000021_2_GT.png"/>
          <p:cNvPicPr>
            <a:picLocks noChangeAspect="1"/>
          </p:cNvPicPr>
          <p:nvPr/>
        </p:nvPicPr>
        <p:blipFill>
          <a:blip r:embed="rId5"/>
          <a:stretch>
            <a:fillRect/>
          </a:stretch>
        </p:blipFill>
        <p:spPr>
          <a:xfrm>
            <a:off x="2491200" y="486000"/>
            <a:ext cx="827999" cy="827999"/>
          </a:xfrm>
          <a:prstGeom prst="rect">
            <a:avLst/>
          </a:prstGeom>
          <a:ln w="5080">
            <a:solidFill>
              <a:srgbClr val="A7ADB3"/>
            </a:solidFill>
          </a:ln>
        </p:spPr>
      </p:pic>
      <p:pic>
        <p:nvPicPr>
          <p:cNvPr id="13" name="Picture 12" descr="libya-flood_00000021_7_DamageFormer.png"/>
          <p:cNvPicPr>
            <a:picLocks noChangeAspect="1"/>
          </p:cNvPicPr>
          <p:nvPr/>
        </p:nvPicPr>
        <p:blipFill>
          <a:blip r:embed="rId6"/>
          <a:stretch>
            <a:fillRect/>
          </a:stretch>
        </p:blipFill>
        <p:spPr>
          <a:xfrm>
            <a:off x="3376799" y="486000"/>
            <a:ext cx="827999" cy="827999"/>
          </a:xfrm>
          <a:prstGeom prst="rect">
            <a:avLst/>
          </a:prstGeom>
          <a:ln w="5080">
            <a:solidFill>
              <a:srgbClr val="A7ADB3"/>
            </a:solidFill>
          </a:ln>
        </p:spPr>
      </p:pic>
      <p:pic>
        <p:nvPicPr>
          <p:cNvPr id="14" name="Picture 13" descr="libya-flood_00000021_8_MPF.png"/>
          <p:cNvPicPr>
            <a:picLocks noChangeAspect="1"/>
          </p:cNvPicPr>
          <p:nvPr/>
        </p:nvPicPr>
        <p:blipFill>
          <a:blip r:embed="rId7"/>
          <a:stretch>
            <a:fillRect/>
          </a:stretch>
        </p:blipFill>
        <p:spPr>
          <a:xfrm>
            <a:off x="4262400" y="486000"/>
            <a:ext cx="827999" cy="827999"/>
          </a:xfrm>
          <a:prstGeom prst="rect">
            <a:avLst/>
          </a:prstGeom>
          <a:ln w="5080">
            <a:solidFill>
              <a:srgbClr val="A7ADB3"/>
            </a:solidFill>
          </a:ln>
        </p:spPr>
      </p:pic>
      <p:sp>
        <p:nvSpPr>
          <p:cNvPr id="15" name="Rectangle 14"/>
          <p:cNvSpPr/>
          <p:nvPr/>
        </p:nvSpPr>
        <p:spPr>
          <a:xfrm>
            <a:off x="5148000" y="486000"/>
            <a:ext cx="827999" cy="827999"/>
          </a:xfrm>
          <a:prstGeom prst="rect">
            <a:avLst/>
          </a:prstGeom>
          <a:solidFill>
            <a:srgbClr val="FFFFFF"/>
          </a:solidFill>
          <a:ln w="7620">
            <a:solidFill>
              <a:srgbClr val="ADB7B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36000" y="1530000"/>
            <a:ext cx="648000" cy="827999"/>
          </a:xfrm>
          <a:prstGeom prst="rect">
            <a:avLst/>
          </a:prstGeom>
          <a:noFill/>
        </p:spPr>
        <p:txBody>
          <a:bodyPr wrap="square" lIns="10800" rIns="10800" tIns="3600" bIns="3600" anchor="ctr">
            <a:spAutoFit/>
          </a:bodyPr>
          <a:lstStyle/>
          <a:p>
            <a:pPr algn="ctr">
              <a:spcBef>
                <a:spcPts val="0"/>
              </a:spcBef>
              <a:spcAft>
                <a:spcPts val="0"/>
              </a:spcAft>
            </a:pPr>
            <a:r>
              <a:rPr sz="850" b="0">
                <a:solidFill>
                  <a:srgbClr val="263746"/>
                </a:solidFill>
                <a:latin typeface="Arial"/>
              </a:rPr>
              <a:t>ukraine</a:t>
            </a:r>
          </a:p>
          <a:p>
            <a:pPr algn="ctr">
              <a:spcBef>
                <a:spcPts val="0"/>
              </a:spcBef>
              <a:spcAft>
                <a:spcPts val="0"/>
              </a:spcAft>
            </a:pPr>
            <a:r>
              <a:rPr sz="850" b="0">
                <a:solidFill>
                  <a:srgbClr val="263746"/>
                </a:solidFill>
                <a:latin typeface="Arial"/>
              </a:rPr>
              <a:t>conflict</a:t>
            </a:r>
          </a:p>
          <a:p>
            <a:pPr algn="ctr">
              <a:spcBef>
                <a:spcPts val="0"/>
              </a:spcBef>
              <a:spcAft>
                <a:spcPts val="0"/>
              </a:spcAft>
            </a:pPr>
            <a:r>
              <a:rPr sz="850" b="0">
                <a:solidFill>
                  <a:srgbClr val="263746"/>
                </a:solidFill>
                <a:latin typeface="Arial"/>
              </a:rPr>
              <a:t>00000354</a:t>
            </a:r>
          </a:p>
          <a:p>
            <a:pPr algn="ctr">
              <a:spcBef>
                <a:spcPts val="0"/>
              </a:spcBef>
              <a:spcAft>
                <a:spcPts val="0"/>
              </a:spcAft>
            </a:pPr>
            <a:r>
              <a:rPr sz="850" b="0">
                <a:solidFill>
                  <a:srgbClr val="263746"/>
                </a:solidFill>
                <a:latin typeface="Arial"/>
              </a:rPr>
              <a:t>512 × 512 px</a:t>
            </a:r>
          </a:p>
        </p:txBody>
      </p:sp>
      <p:pic>
        <p:nvPicPr>
          <p:cNvPr id="17" name="Picture 16" descr="ukraine-conflict_00000354_0_RGB.png"/>
          <p:cNvPicPr>
            <a:picLocks noChangeAspect="1"/>
          </p:cNvPicPr>
          <p:nvPr/>
        </p:nvPicPr>
        <p:blipFill>
          <a:blip r:embed="rId8"/>
          <a:stretch>
            <a:fillRect/>
          </a:stretch>
        </p:blipFill>
        <p:spPr>
          <a:xfrm>
            <a:off x="720000" y="1530000"/>
            <a:ext cx="827999" cy="827999"/>
          </a:xfrm>
          <a:prstGeom prst="rect">
            <a:avLst/>
          </a:prstGeom>
          <a:ln w="5080">
            <a:solidFill>
              <a:srgbClr val="A7ADB3"/>
            </a:solidFill>
          </a:ln>
        </p:spPr>
      </p:pic>
      <p:pic>
        <p:nvPicPr>
          <p:cNvPr id="18" name="Picture 17" descr="ukraine-conflict_00000354_1_SAR.png"/>
          <p:cNvPicPr>
            <a:picLocks noChangeAspect="1"/>
          </p:cNvPicPr>
          <p:nvPr/>
        </p:nvPicPr>
        <p:blipFill>
          <a:blip r:embed="rId9"/>
          <a:stretch>
            <a:fillRect/>
          </a:stretch>
        </p:blipFill>
        <p:spPr>
          <a:xfrm>
            <a:off x="1605600" y="1530000"/>
            <a:ext cx="827999" cy="827999"/>
          </a:xfrm>
          <a:prstGeom prst="rect">
            <a:avLst/>
          </a:prstGeom>
          <a:ln w="5080">
            <a:solidFill>
              <a:srgbClr val="A7ADB3"/>
            </a:solidFill>
          </a:ln>
        </p:spPr>
      </p:pic>
      <p:pic>
        <p:nvPicPr>
          <p:cNvPr id="19" name="Picture 18" descr="ukraine-conflict_00000354_2_GT.png"/>
          <p:cNvPicPr>
            <a:picLocks noChangeAspect="1"/>
          </p:cNvPicPr>
          <p:nvPr/>
        </p:nvPicPr>
        <p:blipFill>
          <a:blip r:embed="rId10"/>
          <a:stretch>
            <a:fillRect/>
          </a:stretch>
        </p:blipFill>
        <p:spPr>
          <a:xfrm>
            <a:off x="2491200" y="1530000"/>
            <a:ext cx="827999" cy="827999"/>
          </a:xfrm>
          <a:prstGeom prst="rect">
            <a:avLst/>
          </a:prstGeom>
          <a:ln w="5080">
            <a:solidFill>
              <a:srgbClr val="A7ADB3"/>
            </a:solidFill>
          </a:ln>
        </p:spPr>
      </p:pic>
      <p:pic>
        <p:nvPicPr>
          <p:cNvPr id="20" name="Picture 19" descr="ukraine-conflict_00000354_7_DamageFormer.png"/>
          <p:cNvPicPr>
            <a:picLocks noChangeAspect="1"/>
          </p:cNvPicPr>
          <p:nvPr/>
        </p:nvPicPr>
        <p:blipFill>
          <a:blip r:embed="rId11"/>
          <a:stretch>
            <a:fillRect/>
          </a:stretch>
        </p:blipFill>
        <p:spPr>
          <a:xfrm>
            <a:off x="3376799" y="1530000"/>
            <a:ext cx="827999" cy="827999"/>
          </a:xfrm>
          <a:prstGeom prst="rect">
            <a:avLst/>
          </a:prstGeom>
          <a:ln w="5080">
            <a:solidFill>
              <a:srgbClr val="A7ADB3"/>
            </a:solidFill>
          </a:ln>
        </p:spPr>
      </p:pic>
      <p:pic>
        <p:nvPicPr>
          <p:cNvPr id="21" name="Picture 20" descr="ukraine-conflict_00000354_8_MPF.png"/>
          <p:cNvPicPr>
            <a:picLocks noChangeAspect="1"/>
          </p:cNvPicPr>
          <p:nvPr/>
        </p:nvPicPr>
        <p:blipFill>
          <a:blip r:embed="rId12"/>
          <a:stretch>
            <a:fillRect/>
          </a:stretch>
        </p:blipFill>
        <p:spPr>
          <a:xfrm>
            <a:off x="4262400" y="1530000"/>
            <a:ext cx="827999" cy="827999"/>
          </a:xfrm>
          <a:prstGeom prst="rect">
            <a:avLst/>
          </a:prstGeom>
          <a:ln w="5080">
            <a:solidFill>
              <a:srgbClr val="A7ADB3"/>
            </a:solidFill>
          </a:ln>
        </p:spPr>
      </p:pic>
      <p:sp>
        <p:nvSpPr>
          <p:cNvPr id="22" name="Rectangle 21"/>
          <p:cNvSpPr/>
          <p:nvPr/>
        </p:nvSpPr>
        <p:spPr>
          <a:xfrm>
            <a:off x="5148000" y="1530000"/>
            <a:ext cx="827999" cy="827999"/>
          </a:xfrm>
          <a:prstGeom prst="rect">
            <a:avLst/>
          </a:prstGeom>
          <a:solidFill>
            <a:srgbClr val="FFFFFF"/>
          </a:solidFill>
          <a:ln w="7620">
            <a:solidFill>
              <a:srgbClr val="ADB7B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36000" y="2574000"/>
            <a:ext cx="648000" cy="827999"/>
          </a:xfrm>
          <a:prstGeom prst="rect">
            <a:avLst/>
          </a:prstGeom>
          <a:noFill/>
        </p:spPr>
        <p:txBody>
          <a:bodyPr wrap="square" lIns="10800" rIns="10800" tIns="3600" bIns="3600" anchor="ctr">
            <a:spAutoFit/>
          </a:bodyPr>
          <a:lstStyle/>
          <a:p>
            <a:pPr algn="ctr">
              <a:spcBef>
                <a:spcPts val="0"/>
              </a:spcBef>
              <a:spcAft>
                <a:spcPts val="0"/>
              </a:spcAft>
            </a:pPr>
            <a:r>
              <a:rPr sz="850" b="0">
                <a:solidFill>
                  <a:srgbClr val="263746"/>
                </a:solidFill>
                <a:latin typeface="Arial"/>
              </a:rPr>
              <a:t>hawaii</a:t>
            </a:r>
          </a:p>
          <a:p>
            <a:pPr algn="ctr">
              <a:spcBef>
                <a:spcPts val="0"/>
              </a:spcBef>
              <a:spcAft>
                <a:spcPts val="0"/>
              </a:spcAft>
            </a:pPr>
            <a:r>
              <a:rPr sz="850" b="0">
                <a:solidFill>
                  <a:srgbClr val="263746"/>
                </a:solidFill>
                <a:latin typeface="Arial"/>
              </a:rPr>
              <a:t>wildfire</a:t>
            </a:r>
          </a:p>
          <a:p>
            <a:pPr algn="ctr">
              <a:spcBef>
                <a:spcPts val="0"/>
              </a:spcBef>
              <a:spcAft>
                <a:spcPts val="0"/>
              </a:spcAft>
            </a:pPr>
            <a:r>
              <a:rPr sz="850" b="0">
                <a:solidFill>
                  <a:srgbClr val="263746"/>
                </a:solidFill>
                <a:latin typeface="Arial"/>
              </a:rPr>
              <a:t>00000003</a:t>
            </a:r>
          </a:p>
          <a:p>
            <a:pPr algn="ctr">
              <a:spcBef>
                <a:spcPts val="0"/>
              </a:spcBef>
              <a:spcAft>
                <a:spcPts val="0"/>
              </a:spcAft>
            </a:pPr>
            <a:r>
              <a:rPr sz="850" b="0">
                <a:solidFill>
                  <a:srgbClr val="263746"/>
                </a:solidFill>
                <a:latin typeface="Arial"/>
              </a:rPr>
              <a:t>512 × 512 px</a:t>
            </a:r>
          </a:p>
        </p:txBody>
      </p:sp>
      <p:pic>
        <p:nvPicPr>
          <p:cNvPr id="24" name="Picture 23" descr="hawaii-wildfire_00000003_0_RGB.png"/>
          <p:cNvPicPr>
            <a:picLocks noChangeAspect="1"/>
          </p:cNvPicPr>
          <p:nvPr/>
        </p:nvPicPr>
        <p:blipFill>
          <a:blip r:embed="rId13"/>
          <a:stretch>
            <a:fillRect/>
          </a:stretch>
        </p:blipFill>
        <p:spPr>
          <a:xfrm>
            <a:off x="720000" y="2574000"/>
            <a:ext cx="827999" cy="827999"/>
          </a:xfrm>
          <a:prstGeom prst="rect">
            <a:avLst/>
          </a:prstGeom>
          <a:ln w="5080">
            <a:solidFill>
              <a:srgbClr val="A7ADB3"/>
            </a:solidFill>
          </a:ln>
        </p:spPr>
      </p:pic>
      <p:pic>
        <p:nvPicPr>
          <p:cNvPr id="25" name="Picture 24" descr="hawaii-wildfire_00000003_1_SAR.png"/>
          <p:cNvPicPr>
            <a:picLocks noChangeAspect="1"/>
          </p:cNvPicPr>
          <p:nvPr/>
        </p:nvPicPr>
        <p:blipFill>
          <a:blip r:embed="rId14"/>
          <a:stretch>
            <a:fillRect/>
          </a:stretch>
        </p:blipFill>
        <p:spPr>
          <a:xfrm>
            <a:off x="1605600" y="2574000"/>
            <a:ext cx="827999" cy="827999"/>
          </a:xfrm>
          <a:prstGeom prst="rect">
            <a:avLst/>
          </a:prstGeom>
          <a:ln w="5080">
            <a:solidFill>
              <a:srgbClr val="A7ADB3"/>
            </a:solidFill>
          </a:ln>
        </p:spPr>
      </p:pic>
      <p:pic>
        <p:nvPicPr>
          <p:cNvPr id="26" name="Picture 25" descr="hawaii-wildfire_00000003_2_GT.png"/>
          <p:cNvPicPr>
            <a:picLocks noChangeAspect="1"/>
          </p:cNvPicPr>
          <p:nvPr/>
        </p:nvPicPr>
        <p:blipFill>
          <a:blip r:embed="rId15"/>
          <a:stretch>
            <a:fillRect/>
          </a:stretch>
        </p:blipFill>
        <p:spPr>
          <a:xfrm>
            <a:off x="2491200" y="2574000"/>
            <a:ext cx="827999" cy="827999"/>
          </a:xfrm>
          <a:prstGeom prst="rect">
            <a:avLst/>
          </a:prstGeom>
          <a:ln w="5080">
            <a:solidFill>
              <a:srgbClr val="A7ADB3"/>
            </a:solidFill>
          </a:ln>
        </p:spPr>
      </p:pic>
      <p:pic>
        <p:nvPicPr>
          <p:cNvPr id="27" name="Picture 26" descr="hawaii-wildfire_00000003_7_DamageFormer.png"/>
          <p:cNvPicPr>
            <a:picLocks noChangeAspect="1"/>
          </p:cNvPicPr>
          <p:nvPr/>
        </p:nvPicPr>
        <p:blipFill>
          <a:blip r:embed="rId16"/>
          <a:stretch>
            <a:fillRect/>
          </a:stretch>
        </p:blipFill>
        <p:spPr>
          <a:xfrm>
            <a:off x="3376799" y="2574000"/>
            <a:ext cx="827999" cy="827999"/>
          </a:xfrm>
          <a:prstGeom prst="rect">
            <a:avLst/>
          </a:prstGeom>
          <a:ln w="5080">
            <a:solidFill>
              <a:srgbClr val="A7ADB3"/>
            </a:solidFill>
          </a:ln>
        </p:spPr>
      </p:pic>
      <p:pic>
        <p:nvPicPr>
          <p:cNvPr id="28" name="Picture 27" descr="hawaii-wildfire_00000003_8_MPF.png"/>
          <p:cNvPicPr>
            <a:picLocks noChangeAspect="1"/>
          </p:cNvPicPr>
          <p:nvPr/>
        </p:nvPicPr>
        <p:blipFill>
          <a:blip r:embed="rId17"/>
          <a:stretch>
            <a:fillRect/>
          </a:stretch>
        </p:blipFill>
        <p:spPr>
          <a:xfrm>
            <a:off x="4262400" y="2574000"/>
            <a:ext cx="827999" cy="827999"/>
          </a:xfrm>
          <a:prstGeom prst="rect">
            <a:avLst/>
          </a:prstGeom>
          <a:ln w="5080">
            <a:solidFill>
              <a:srgbClr val="A7ADB3"/>
            </a:solidFill>
          </a:ln>
        </p:spPr>
      </p:pic>
      <p:sp>
        <p:nvSpPr>
          <p:cNvPr id="29" name="Rectangle 28"/>
          <p:cNvSpPr/>
          <p:nvPr/>
        </p:nvSpPr>
        <p:spPr>
          <a:xfrm>
            <a:off x="5148000" y="2574000"/>
            <a:ext cx="827999" cy="827999"/>
          </a:xfrm>
          <a:prstGeom prst="rect">
            <a:avLst/>
          </a:prstGeom>
          <a:solidFill>
            <a:srgbClr val="FFFFFF"/>
          </a:solidFill>
          <a:ln w="7620">
            <a:solidFill>
              <a:srgbClr val="ADB7B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ectangle 29"/>
          <p:cNvSpPr/>
          <p:nvPr/>
        </p:nvSpPr>
        <p:spPr>
          <a:xfrm>
            <a:off x="846000" y="3751200"/>
            <a:ext cx="100800" cy="100800"/>
          </a:xfrm>
          <a:prstGeom prst="rect">
            <a:avLst/>
          </a:prstGeom>
          <a:solidFill>
            <a:srgbClr val="FFFFFF"/>
          </a:solidFill>
          <a:ln>
            <a:solidFill>
              <a:srgbClr val="8F99A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982800" y="3708000"/>
            <a:ext cx="936000" cy="180000"/>
          </a:xfrm>
          <a:prstGeom prst="rect">
            <a:avLst/>
          </a:prstGeom>
          <a:noFill/>
        </p:spPr>
        <p:txBody>
          <a:bodyPr wrap="square" lIns="10800" rIns="10800" tIns="3600" bIns="3600" anchor="ctr">
            <a:spAutoFit/>
          </a:bodyPr>
          <a:lstStyle/>
          <a:p>
            <a:pPr algn="l">
              <a:spcBef>
                <a:spcPts val="0"/>
              </a:spcBef>
              <a:spcAft>
                <a:spcPts val="0"/>
              </a:spcAft>
            </a:pPr>
            <a:r>
              <a:rPr sz="850" b="0">
                <a:solidFill>
                  <a:srgbClr val="263746"/>
                </a:solidFill>
                <a:latin typeface="Arial"/>
              </a:rPr>
              <a:t>Background</a:t>
            </a:r>
          </a:p>
        </p:txBody>
      </p:sp>
      <p:sp>
        <p:nvSpPr>
          <p:cNvPr id="32" name="Rectangle 31"/>
          <p:cNvSpPr/>
          <p:nvPr/>
        </p:nvSpPr>
        <p:spPr>
          <a:xfrm>
            <a:off x="1962000" y="3751200"/>
            <a:ext cx="100800" cy="100800"/>
          </a:xfrm>
          <a:prstGeom prst="rect">
            <a:avLst/>
          </a:prstGeom>
          <a:solidFill>
            <a:srgbClr val="46B579"/>
          </a:solidFill>
          <a:ln>
            <a:solidFill>
              <a:srgbClr val="8F99A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2098800" y="3708000"/>
            <a:ext cx="936000" cy="180000"/>
          </a:xfrm>
          <a:prstGeom prst="rect">
            <a:avLst/>
          </a:prstGeom>
          <a:noFill/>
        </p:spPr>
        <p:txBody>
          <a:bodyPr wrap="square" lIns="10800" rIns="10800" tIns="3600" bIns="3600" anchor="ctr">
            <a:spAutoFit/>
          </a:bodyPr>
          <a:lstStyle/>
          <a:p>
            <a:pPr algn="l">
              <a:spcBef>
                <a:spcPts val="0"/>
              </a:spcBef>
              <a:spcAft>
                <a:spcPts val="0"/>
              </a:spcAft>
            </a:pPr>
            <a:r>
              <a:rPr sz="850" b="0">
                <a:solidFill>
                  <a:srgbClr val="263746"/>
                </a:solidFill>
                <a:latin typeface="Arial"/>
              </a:rPr>
              <a:t>Intact</a:t>
            </a:r>
          </a:p>
        </p:txBody>
      </p:sp>
      <p:sp>
        <p:nvSpPr>
          <p:cNvPr id="34" name="Rectangle 33"/>
          <p:cNvSpPr/>
          <p:nvPr/>
        </p:nvSpPr>
        <p:spPr>
          <a:xfrm>
            <a:off x="3078000" y="3751200"/>
            <a:ext cx="100800" cy="100800"/>
          </a:xfrm>
          <a:prstGeom prst="rect">
            <a:avLst/>
          </a:prstGeom>
          <a:solidFill>
            <a:srgbClr val="E4BD8B"/>
          </a:solidFill>
          <a:ln>
            <a:solidFill>
              <a:srgbClr val="8F99A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3214800" y="3708000"/>
            <a:ext cx="936000" cy="180000"/>
          </a:xfrm>
          <a:prstGeom prst="rect">
            <a:avLst/>
          </a:prstGeom>
          <a:noFill/>
        </p:spPr>
        <p:txBody>
          <a:bodyPr wrap="square" lIns="10800" rIns="10800" tIns="3600" bIns="3600" anchor="ctr">
            <a:spAutoFit/>
          </a:bodyPr>
          <a:lstStyle/>
          <a:p>
            <a:pPr algn="l">
              <a:spcBef>
                <a:spcPts val="0"/>
              </a:spcBef>
              <a:spcAft>
                <a:spcPts val="0"/>
              </a:spcAft>
            </a:pPr>
            <a:r>
              <a:rPr sz="850" b="0">
                <a:solidFill>
                  <a:srgbClr val="263746"/>
                </a:solidFill>
                <a:latin typeface="Arial"/>
              </a:rPr>
              <a:t>Damaged</a:t>
            </a:r>
          </a:p>
        </p:txBody>
      </p:sp>
      <p:sp>
        <p:nvSpPr>
          <p:cNvPr id="36" name="Rectangle 35"/>
          <p:cNvSpPr/>
          <p:nvPr/>
        </p:nvSpPr>
        <p:spPr>
          <a:xfrm>
            <a:off x="4194000" y="3751200"/>
            <a:ext cx="100800" cy="100800"/>
          </a:xfrm>
          <a:prstGeom prst="rect">
            <a:avLst/>
          </a:prstGeom>
          <a:solidFill>
            <a:srgbClr val="B64645"/>
          </a:solidFill>
          <a:ln>
            <a:solidFill>
              <a:srgbClr val="8F99A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4330800" y="3708000"/>
            <a:ext cx="936000" cy="180000"/>
          </a:xfrm>
          <a:prstGeom prst="rect">
            <a:avLst/>
          </a:prstGeom>
          <a:noFill/>
        </p:spPr>
        <p:txBody>
          <a:bodyPr wrap="square" lIns="10800" rIns="10800" tIns="3600" bIns="3600" anchor="ctr">
            <a:spAutoFit/>
          </a:bodyPr>
          <a:lstStyle/>
          <a:p>
            <a:pPr algn="l">
              <a:spcBef>
                <a:spcPts val="0"/>
              </a:spcBef>
              <a:spcAft>
                <a:spcPts val="0"/>
              </a:spcAft>
            </a:pPr>
            <a:r>
              <a:rPr sz="850" b="0">
                <a:solidFill>
                  <a:srgbClr val="263746"/>
                </a:solidFill>
                <a:latin typeface="Arial"/>
              </a:rPr>
              <a:t>Destroyed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000" y="36000"/>
            <a:ext cx="5976000" cy="216000"/>
          </a:xfrm>
          <a:prstGeom prst="rect">
            <a:avLst/>
          </a:prstGeom>
          <a:noFill/>
        </p:spPr>
        <p:txBody>
          <a:bodyPr wrap="square" lIns="10800" rIns="10800" tIns="3600" bIns="3600" anchor="ctr">
            <a:spAutoFit/>
          </a:bodyPr>
          <a:lstStyle/>
          <a:p>
            <a:pPr algn="ctr">
              <a:spcBef>
                <a:spcPts val="0"/>
              </a:spcBef>
              <a:spcAft>
                <a:spcPts val="0"/>
              </a:spcAft>
            </a:pPr>
            <a:r>
              <a:rPr sz="1000" b="1">
                <a:solidFill>
                  <a:srgbClr val="263746"/>
                </a:solidFill>
                <a:latin typeface="Arial"/>
              </a:rPr>
              <a:t>Structure diagnostic panels</a:t>
            </a:r>
          </a:p>
        </p:txBody>
      </p:sp>
      <p:sp>
        <p:nvSpPr>
          <p:cNvPr id="3" name="TextBox 2"/>
          <p:cNvSpPr txBox="1"/>
          <p:nvPr/>
        </p:nvSpPr>
        <p:spPr>
          <a:xfrm>
            <a:off x="72000" y="270000"/>
            <a:ext cx="5976000" cy="180000"/>
          </a:xfrm>
          <a:prstGeom prst="rect">
            <a:avLst/>
          </a:prstGeom>
          <a:noFill/>
        </p:spPr>
        <p:txBody>
          <a:bodyPr wrap="square" lIns="10800" rIns="10800" tIns="3600" bIns="3600" anchor="ctr">
            <a:spAutoFit/>
          </a:bodyPr>
          <a:lstStyle/>
          <a:p>
            <a:pPr algn="ctr">
              <a:spcBef>
                <a:spcPts val="0"/>
              </a:spcBef>
              <a:spcAft>
                <a:spcPts val="0"/>
              </a:spcAft>
            </a:pPr>
            <a:r>
              <a:rPr sz="900" b="0">
                <a:solidFill>
                  <a:srgbClr val="263746"/>
                </a:solidFill>
                <a:latin typeface="Arial"/>
              </a:rPr>
              <a:t>turkey-earthquake_00001065  |  source crop [256, 0, 512, 512]</a:t>
            </a:r>
          </a:p>
        </p:txBody>
      </p:sp>
      <p:sp>
        <p:nvSpPr>
          <p:cNvPr id="4" name="TextBox 3"/>
          <p:cNvSpPr txBox="1"/>
          <p:nvPr/>
        </p:nvSpPr>
        <p:spPr>
          <a:xfrm>
            <a:off x="144000" y="468000"/>
            <a:ext cx="1296000" cy="180000"/>
          </a:xfrm>
          <a:prstGeom prst="rect">
            <a:avLst/>
          </a:prstGeom>
          <a:noFill/>
        </p:spPr>
        <p:txBody>
          <a:bodyPr wrap="square" lIns="10800" rIns="10800" tIns="3600" bIns="3600" anchor="ctr">
            <a:spAutoFit/>
          </a:bodyPr>
          <a:lstStyle/>
          <a:p>
            <a:pPr algn="ctr">
              <a:spcBef>
                <a:spcPts val="0"/>
              </a:spcBef>
              <a:spcAft>
                <a:spcPts val="0"/>
              </a:spcAft>
            </a:pPr>
            <a:r>
              <a:rPr sz="900" b="1">
                <a:solidFill>
                  <a:srgbClr val="263746"/>
                </a:solidFill>
                <a:latin typeface="Arial"/>
              </a:rPr>
              <a:t>RGB</a:t>
            </a:r>
          </a:p>
        </p:txBody>
      </p:sp>
      <p:pic>
        <p:nvPicPr>
          <p:cNvPr id="5" name="Picture 4" descr="turkey-earthquake_00001065_0_RGB.png"/>
          <p:cNvPicPr>
            <a:picLocks noChangeAspect="1"/>
          </p:cNvPicPr>
          <p:nvPr/>
        </p:nvPicPr>
        <p:blipFill>
          <a:blip r:embed="rId3"/>
          <a:stretch>
            <a:fillRect/>
          </a:stretch>
        </p:blipFill>
        <p:spPr>
          <a:xfrm>
            <a:off x="144000" y="666000"/>
            <a:ext cx="1296000" cy="1296000"/>
          </a:xfrm>
          <a:prstGeom prst="rect">
            <a:avLst/>
          </a:prstGeom>
          <a:ln w="5080">
            <a:solidFill>
              <a:srgbClr val="A7ADB3"/>
            </a:solidFill>
          </a:ln>
        </p:spPr>
      </p:pic>
      <p:sp>
        <p:nvSpPr>
          <p:cNvPr id="6" name="TextBox 5"/>
          <p:cNvSpPr txBox="1"/>
          <p:nvPr/>
        </p:nvSpPr>
        <p:spPr>
          <a:xfrm>
            <a:off x="1656000" y="468000"/>
            <a:ext cx="1296000" cy="180000"/>
          </a:xfrm>
          <a:prstGeom prst="rect">
            <a:avLst/>
          </a:prstGeom>
          <a:noFill/>
        </p:spPr>
        <p:txBody>
          <a:bodyPr wrap="square" lIns="10800" rIns="10800" tIns="3600" bIns="3600" anchor="ctr">
            <a:spAutoFit/>
          </a:bodyPr>
          <a:lstStyle/>
          <a:p>
            <a:pPr algn="ctr">
              <a:spcBef>
                <a:spcPts val="0"/>
              </a:spcBef>
              <a:spcAft>
                <a:spcPts val="0"/>
              </a:spcAft>
            </a:pPr>
            <a:r>
              <a:rPr sz="900" b="1">
                <a:solidFill>
                  <a:srgbClr val="263746"/>
                </a:solidFill>
                <a:latin typeface="Arial"/>
              </a:rPr>
              <a:t>SAR</a:t>
            </a:r>
          </a:p>
        </p:txBody>
      </p:sp>
      <p:pic>
        <p:nvPicPr>
          <p:cNvPr id="7" name="Picture 6" descr="turkey-earthquake_00001065_1_SAR.png"/>
          <p:cNvPicPr>
            <a:picLocks noChangeAspect="1"/>
          </p:cNvPicPr>
          <p:nvPr/>
        </p:nvPicPr>
        <p:blipFill>
          <a:blip r:embed="rId4"/>
          <a:stretch>
            <a:fillRect/>
          </a:stretch>
        </p:blipFill>
        <p:spPr>
          <a:xfrm>
            <a:off x="1656000" y="666000"/>
            <a:ext cx="1296000" cy="1296000"/>
          </a:xfrm>
          <a:prstGeom prst="rect">
            <a:avLst/>
          </a:prstGeom>
          <a:ln w="5080">
            <a:solidFill>
              <a:srgbClr val="A7ADB3"/>
            </a:solidFill>
          </a:ln>
        </p:spPr>
      </p:pic>
      <p:sp>
        <p:nvSpPr>
          <p:cNvPr id="8" name="TextBox 7"/>
          <p:cNvSpPr txBox="1"/>
          <p:nvPr/>
        </p:nvSpPr>
        <p:spPr>
          <a:xfrm>
            <a:off x="3168000" y="468000"/>
            <a:ext cx="1296000" cy="180000"/>
          </a:xfrm>
          <a:prstGeom prst="rect">
            <a:avLst/>
          </a:prstGeom>
          <a:noFill/>
        </p:spPr>
        <p:txBody>
          <a:bodyPr wrap="square" lIns="10800" rIns="10800" tIns="3600" bIns="3600" anchor="ctr">
            <a:spAutoFit/>
          </a:bodyPr>
          <a:lstStyle/>
          <a:p>
            <a:pPr algn="ctr">
              <a:spcBef>
                <a:spcPts val="0"/>
              </a:spcBef>
              <a:spcAft>
                <a:spcPts val="0"/>
              </a:spcAft>
            </a:pPr>
            <a:r>
              <a:rPr sz="900" b="1">
                <a:solidFill>
                  <a:srgbClr val="263746"/>
                </a:solidFill>
                <a:latin typeface="Arial"/>
              </a:rPr>
              <a:t>GT</a:t>
            </a:r>
          </a:p>
        </p:txBody>
      </p:sp>
      <p:pic>
        <p:nvPicPr>
          <p:cNvPr id="9" name="Picture 8" descr="turkey-earthquake_00001065_2_GT.png"/>
          <p:cNvPicPr>
            <a:picLocks noChangeAspect="1"/>
          </p:cNvPicPr>
          <p:nvPr/>
        </p:nvPicPr>
        <p:blipFill>
          <a:blip r:embed="rId5"/>
          <a:stretch>
            <a:fillRect/>
          </a:stretch>
        </p:blipFill>
        <p:spPr>
          <a:xfrm>
            <a:off x="3168000" y="666000"/>
            <a:ext cx="1296000" cy="1296000"/>
          </a:xfrm>
          <a:prstGeom prst="rect">
            <a:avLst/>
          </a:prstGeom>
          <a:ln w="5080">
            <a:solidFill>
              <a:srgbClr val="A7ADB3"/>
            </a:solidFill>
          </a:ln>
        </p:spPr>
      </p:pic>
      <p:sp>
        <p:nvSpPr>
          <p:cNvPr id="10" name="TextBox 9"/>
          <p:cNvSpPr txBox="1"/>
          <p:nvPr/>
        </p:nvSpPr>
        <p:spPr>
          <a:xfrm>
            <a:off x="4680000" y="468000"/>
            <a:ext cx="1296000" cy="180000"/>
          </a:xfrm>
          <a:prstGeom prst="rect">
            <a:avLst/>
          </a:prstGeom>
          <a:noFill/>
        </p:spPr>
        <p:txBody>
          <a:bodyPr wrap="square" lIns="10800" rIns="10800" tIns="3600" bIns="3600" anchor="ctr">
            <a:spAutoFit/>
          </a:bodyPr>
          <a:lstStyle/>
          <a:p>
            <a:pPr algn="ctr">
              <a:spcBef>
                <a:spcPts val="0"/>
              </a:spcBef>
              <a:spcAft>
                <a:spcPts val="0"/>
              </a:spcAft>
            </a:pPr>
            <a:r>
              <a:rPr sz="900" b="1">
                <a:solidFill>
                  <a:srgbClr val="263746"/>
                </a:solidFill>
                <a:latin typeface="Arial"/>
              </a:rPr>
              <a:t>Building B</a:t>
            </a:r>
          </a:p>
        </p:txBody>
      </p:sp>
      <p:sp>
        <p:nvSpPr>
          <p:cNvPr id="11" name="Rectangle 10"/>
          <p:cNvSpPr/>
          <p:nvPr/>
        </p:nvSpPr>
        <p:spPr>
          <a:xfrm>
            <a:off x="4680000" y="666000"/>
            <a:ext cx="1296000" cy="1296000"/>
          </a:xfrm>
          <a:prstGeom prst="rect">
            <a:avLst/>
          </a:prstGeom>
          <a:solidFill>
            <a:srgbClr val="FFFFFF"/>
          </a:solidFill>
          <a:ln w="7620">
            <a:solidFill>
              <a:srgbClr val="ADB7B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44000" y="2016000"/>
            <a:ext cx="1296000" cy="180000"/>
          </a:xfrm>
          <a:prstGeom prst="rect">
            <a:avLst/>
          </a:prstGeom>
          <a:noFill/>
        </p:spPr>
        <p:txBody>
          <a:bodyPr wrap="square" lIns="10800" rIns="10800" tIns="3600" bIns="3600" anchor="ctr">
            <a:spAutoFit/>
          </a:bodyPr>
          <a:lstStyle/>
          <a:p>
            <a:pPr algn="ctr">
              <a:spcBef>
                <a:spcPts val="0"/>
              </a:spcBef>
              <a:spcAft>
                <a:spcPts val="0"/>
              </a:spcAft>
            </a:pPr>
            <a:r>
              <a:rPr sz="900" b="1">
                <a:solidFill>
                  <a:srgbClr val="263746"/>
                </a:solidFill>
                <a:latin typeface="Arial"/>
              </a:rPr>
              <a:t>Q: prior off</a:t>
            </a:r>
          </a:p>
        </p:txBody>
      </p:sp>
      <p:sp>
        <p:nvSpPr>
          <p:cNvPr id="13" name="Rectangle 12"/>
          <p:cNvSpPr/>
          <p:nvPr/>
        </p:nvSpPr>
        <p:spPr>
          <a:xfrm>
            <a:off x="144000" y="2214000"/>
            <a:ext cx="1296000" cy="1296000"/>
          </a:xfrm>
          <a:prstGeom prst="rect">
            <a:avLst/>
          </a:prstGeom>
          <a:solidFill>
            <a:srgbClr val="FFFFFF"/>
          </a:solidFill>
          <a:ln w="7620">
            <a:solidFill>
              <a:srgbClr val="ADB7B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1656000" y="2016000"/>
            <a:ext cx="1296000" cy="180000"/>
          </a:xfrm>
          <a:prstGeom prst="rect">
            <a:avLst/>
          </a:prstGeom>
          <a:noFill/>
        </p:spPr>
        <p:txBody>
          <a:bodyPr wrap="square" lIns="10800" rIns="10800" tIns="3600" bIns="3600" anchor="ctr">
            <a:spAutoFit/>
          </a:bodyPr>
          <a:lstStyle/>
          <a:p>
            <a:pPr algn="ctr">
              <a:spcBef>
                <a:spcPts val="0"/>
              </a:spcBef>
              <a:spcAft>
                <a:spcPts val="0"/>
              </a:spcAft>
            </a:pPr>
            <a:r>
              <a:rPr sz="900" b="1">
                <a:solidFill>
                  <a:srgbClr val="263746"/>
                </a:solidFill>
                <a:latin typeface="Arial"/>
              </a:rPr>
              <a:t>Q: prior on</a:t>
            </a:r>
          </a:p>
        </p:txBody>
      </p:sp>
      <p:sp>
        <p:nvSpPr>
          <p:cNvPr id="15" name="Rectangle 14"/>
          <p:cNvSpPr/>
          <p:nvPr/>
        </p:nvSpPr>
        <p:spPr>
          <a:xfrm>
            <a:off x="1656000" y="2214000"/>
            <a:ext cx="1296000" cy="1296000"/>
          </a:xfrm>
          <a:prstGeom prst="rect">
            <a:avLst/>
          </a:prstGeom>
          <a:solidFill>
            <a:srgbClr val="FFFFFF"/>
          </a:solidFill>
          <a:ln w="7620">
            <a:solidFill>
              <a:srgbClr val="ADB7B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3168000" y="2016000"/>
            <a:ext cx="1296000" cy="180000"/>
          </a:xfrm>
          <a:prstGeom prst="rect">
            <a:avLst/>
          </a:prstGeom>
          <a:noFill/>
        </p:spPr>
        <p:txBody>
          <a:bodyPr wrap="square" lIns="10800" rIns="10800" tIns="3600" bIns="3600" anchor="ctr">
            <a:spAutoFit/>
          </a:bodyPr>
          <a:lstStyle/>
          <a:p>
            <a:pPr algn="ctr">
              <a:spcBef>
                <a:spcPts val="0"/>
              </a:spcBef>
              <a:spcAft>
                <a:spcPts val="0"/>
              </a:spcAft>
            </a:pPr>
            <a:r>
              <a:rPr sz="900" b="1">
                <a:solidFill>
                  <a:srgbClr val="263746"/>
                </a:solidFill>
                <a:latin typeface="Arial"/>
              </a:rPr>
              <a:t>b(Q)</a:t>
            </a:r>
          </a:p>
        </p:txBody>
      </p:sp>
      <p:sp>
        <p:nvSpPr>
          <p:cNvPr id="17" name="Rectangle 16"/>
          <p:cNvSpPr/>
          <p:nvPr/>
        </p:nvSpPr>
        <p:spPr>
          <a:xfrm>
            <a:off x="3168000" y="2214000"/>
            <a:ext cx="1296000" cy="1296000"/>
          </a:xfrm>
          <a:prstGeom prst="rect">
            <a:avLst/>
          </a:prstGeom>
          <a:solidFill>
            <a:srgbClr val="FFFFFF"/>
          </a:solidFill>
          <a:ln w="7620">
            <a:solidFill>
              <a:srgbClr val="ADB7B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4680000" y="2016000"/>
            <a:ext cx="1296000" cy="180000"/>
          </a:xfrm>
          <a:prstGeom prst="rect">
            <a:avLst/>
          </a:prstGeom>
          <a:noFill/>
        </p:spPr>
        <p:txBody>
          <a:bodyPr wrap="square" lIns="10800" rIns="10800" tIns="3600" bIns="3600" anchor="ctr">
            <a:spAutoFit/>
          </a:bodyPr>
          <a:lstStyle/>
          <a:p>
            <a:pPr algn="ctr">
              <a:spcBef>
                <a:spcPts val="0"/>
              </a:spcBef>
              <a:spcAft>
                <a:spcPts val="0"/>
              </a:spcAft>
            </a:pPr>
            <a:r>
              <a:rPr sz="900" b="1">
                <a:solidFill>
                  <a:srgbClr val="263746"/>
                </a:solidFill>
                <a:latin typeface="Arial"/>
              </a:rPr>
              <a:t>H(Q)</a:t>
            </a:r>
          </a:p>
        </p:txBody>
      </p:sp>
      <p:sp>
        <p:nvSpPr>
          <p:cNvPr id="19" name="Rectangle 18"/>
          <p:cNvSpPr/>
          <p:nvPr/>
        </p:nvSpPr>
        <p:spPr>
          <a:xfrm>
            <a:off x="4680000" y="2214000"/>
            <a:ext cx="1296000" cy="1296000"/>
          </a:xfrm>
          <a:prstGeom prst="rect">
            <a:avLst/>
          </a:prstGeom>
          <a:solidFill>
            <a:srgbClr val="FFFFFF"/>
          </a:solidFill>
          <a:ln w="7620">
            <a:solidFill>
              <a:srgbClr val="ADB7B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000" y="36000"/>
            <a:ext cx="5976000" cy="216000"/>
          </a:xfrm>
          <a:prstGeom prst="rect">
            <a:avLst/>
          </a:prstGeom>
          <a:noFill/>
        </p:spPr>
        <p:txBody>
          <a:bodyPr wrap="square" lIns="10800" rIns="10800" tIns="3600" bIns="3600" anchor="ctr">
            <a:spAutoFit/>
          </a:bodyPr>
          <a:lstStyle/>
          <a:p>
            <a:pPr algn="ctr">
              <a:spcBef>
                <a:spcPts val="0"/>
              </a:spcBef>
              <a:spcAft>
                <a:spcPts val="0"/>
              </a:spcAft>
            </a:pPr>
            <a:r>
              <a:rPr sz="1000" b="1">
                <a:solidFill>
                  <a:srgbClr val="263746"/>
                </a:solidFill>
                <a:latin typeface="Arial"/>
              </a:rPr>
              <a:t>Retrieval and correction diagnostics</a:t>
            </a:r>
          </a:p>
        </p:txBody>
      </p:sp>
      <p:sp>
        <p:nvSpPr>
          <p:cNvPr id="3" name="TextBox 2"/>
          <p:cNvSpPr txBox="1"/>
          <p:nvPr/>
        </p:nvSpPr>
        <p:spPr>
          <a:xfrm>
            <a:off x="90000" y="288000"/>
            <a:ext cx="5903999" cy="180000"/>
          </a:xfrm>
          <a:prstGeom prst="rect">
            <a:avLst/>
          </a:prstGeom>
          <a:noFill/>
        </p:spPr>
        <p:txBody>
          <a:bodyPr wrap="square" lIns="10800" rIns="10800" tIns="3600" bIns="3600" anchor="ctr">
            <a:spAutoFit/>
          </a:bodyPr>
          <a:lstStyle/>
          <a:p>
            <a:pPr algn="l">
              <a:spcBef>
                <a:spcPts val="0"/>
              </a:spcBef>
              <a:spcAft>
                <a:spcPts val="0"/>
              </a:spcAft>
            </a:pPr>
            <a:r>
              <a:rPr sz="900" b="0">
                <a:solidFill>
                  <a:srgbClr val="263746"/>
                </a:solidFill>
                <a:latin typeface="Arial"/>
              </a:rPr>
              <a:t>Query: turkey-earthquake_00001065</a:t>
            </a:r>
          </a:p>
        </p:txBody>
      </p:sp>
      <p:sp>
        <p:nvSpPr>
          <p:cNvPr id="4" name="TextBox 3"/>
          <p:cNvSpPr txBox="1"/>
          <p:nvPr/>
        </p:nvSpPr>
        <p:spPr>
          <a:xfrm>
            <a:off x="144000" y="468000"/>
            <a:ext cx="756000" cy="144000"/>
          </a:xfrm>
          <a:prstGeom prst="rect">
            <a:avLst/>
          </a:prstGeom>
          <a:noFill/>
        </p:spPr>
        <p:txBody>
          <a:bodyPr wrap="square" lIns="10800" rIns="10800" tIns="3600" bIns="3600" anchor="ctr">
            <a:spAutoFit/>
          </a:bodyPr>
          <a:lstStyle/>
          <a:p>
            <a:pPr algn="ctr">
              <a:spcBef>
                <a:spcPts val="0"/>
              </a:spcBef>
              <a:spcAft>
                <a:spcPts val="0"/>
              </a:spcAft>
            </a:pPr>
            <a:r>
              <a:rPr sz="900" b="1">
                <a:solidFill>
                  <a:srgbClr val="263746"/>
                </a:solidFill>
                <a:latin typeface="Arial"/>
              </a:rPr>
              <a:t>RGB</a:t>
            </a:r>
          </a:p>
        </p:txBody>
      </p:sp>
      <p:pic>
        <p:nvPicPr>
          <p:cNvPr id="5" name="Picture 4" descr="turkey-earthquake_00001065_0_RGB.png"/>
          <p:cNvPicPr>
            <a:picLocks noChangeAspect="1"/>
          </p:cNvPicPr>
          <p:nvPr/>
        </p:nvPicPr>
        <p:blipFill>
          <a:blip r:embed="rId3"/>
          <a:stretch>
            <a:fillRect/>
          </a:stretch>
        </p:blipFill>
        <p:spPr>
          <a:xfrm>
            <a:off x="144000" y="648000"/>
            <a:ext cx="756000" cy="756000"/>
          </a:xfrm>
          <a:prstGeom prst="rect">
            <a:avLst/>
          </a:prstGeom>
          <a:ln w="5080">
            <a:solidFill>
              <a:srgbClr val="A7ADB3"/>
            </a:solidFill>
          </a:ln>
        </p:spPr>
      </p:pic>
      <p:sp>
        <p:nvSpPr>
          <p:cNvPr id="6" name="TextBox 5"/>
          <p:cNvSpPr txBox="1"/>
          <p:nvPr/>
        </p:nvSpPr>
        <p:spPr>
          <a:xfrm>
            <a:off x="990000" y="468000"/>
            <a:ext cx="756000" cy="144000"/>
          </a:xfrm>
          <a:prstGeom prst="rect">
            <a:avLst/>
          </a:prstGeom>
          <a:noFill/>
        </p:spPr>
        <p:txBody>
          <a:bodyPr wrap="square" lIns="10800" rIns="10800" tIns="3600" bIns="3600" anchor="ctr">
            <a:spAutoFit/>
          </a:bodyPr>
          <a:lstStyle/>
          <a:p>
            <a:pPr algn="ctr">
              <a:spcBef>
                <a:spcPts val="0"/>
              </a:spcBef>
              <a:spcAft>
                <a:spcPts val="0"/>
              </a:spcAft>
            </a:pPr>
            <a:r>
              <a:rPr sz="900" b="1">
                <a:solidFill>
                  <a:srgbClr val="263746"/>
                </a:solidFill>
                <a:latin typeface="Arial"/>
              </a:rPr>
              <a:t>SAR</a:t>
            </a:r>
          </a:p>
        </p:txBody>
      </p:sp>
      <p:pic>
        <p:nvPicPr>
          <p:cNvPr id="7" name="Picture 6" descr="turkey-earthquake_00001065_1_SAR.png"/>
          <p:cNvPicPr>
            <a:picLocks noChangeAspect="1"/>
          </p:cNvPicPr>
          <p:nvPr/>
        </p:nvPicPr>
        <p:blipFill>
          <a:blip r:embed="rId4"/>
          <a:stretch>
            <a:fillRect/>
          </a:stretch>
        </p:blipFill>
        <p:spPr>
          <a:xfrm>
            <a:off x="990000" y="648000"/>
            <a:ext cx="756000" cy="756000"/>
          </a:xfrm>
          <a:prstGeom prst="rect">
            <a:avLst/>
          </a:prstGeom>
          <a:ln w="5080">
            <a:solidFill>
              <a:srgbClr val="A7ADB3"/>
            </a:solidFill>
          </a:ln>
        </p:spPr>
      </p:pic>
      <p:sp>
        <p:nvSpPr>
          <p:cNvPr id="8" name="TextBox 7"/>
          <p:cNvSpPr txBox="1"/>
          <p:nvPr/>
        </p:nvSpPr>
        <p:spPr>
          <a:xfrm>
            <a:off x="1836000" y="468000"/>
            <a:ext cx="756000" cy="144000"/>
          </a:xfrm>
          <a:prstGeom prst="rect">
            <a:avLst/>
          </a:prstGeom>
          <a:noFill/>
        </p:spPr>
        <p:txBody>
          <a:bodyPr wrap="square" lIns="10800" rIns="10800" tIns="3600" bIns="3600" anchor="ctr">
            <a:spAutoFit/>
          </a:bodyPr>
          <a:lstStyle/>
          <a:p>
            <a:pPr algn="ctr">
              <a:spcBef>
                <a:spcPts val="0"/>
              </a:spcBef>
              <a:spcAft>
                <a:spcPts val="0"/>
              </a:spcAft>
            </a:pPr>
            <a:r>
              <a:rPr sz="900" b="1">
                <a:solidFill>
                  <a:srgbClr val="263746"/>
                </a:solidFill>
                <a:latin typeface="Arial"/>
              </a:rPr>
              <a:t>GT</a:t>
            </a:r>
          </a:p>
        </p:txBody>
      </p:sp>
      <p:pic>
        <p:nvPicPr>
          <p:cNvPr id="9" name="Picture 8" descr="turkey-earthquake_00001065_2_GT.png"/>
          <p:cNvPicPr>
            <a:picLocks noChangeAspect="1"/>
          </p:cNvPicPr>
          <p:nvPr/>
        </p:nvPicPr>
        <p:blipFill>
          <a:blip r:embed="rId5"/>
          <a:stretch>
            <a:fillRect/>
          </a:stretch>
        </p:blipFill>
        <p:spPr>
          <a:xfrm>
            <a:off x="1836000" y="648000"/>
            <a:ext cx="756000" cy="756000"/>
          </a:xfrm>
          <a:prstGeom prst="rect">
            <a:avLst/>
          </a:prstGeom>
          <a:ln w="5080">
            <a:solidFill>
              <a:srgbClr val="A7ADB3"/>
            </a:solidFill>
          </a:ln>
        </p:spPr>
      </p:pic>
      <p:sp>
        <p:nvSpPr>
          <p:cNvPr id="10" name="TextBox 9"/>
          <p:cNvSpPr txBox="1"/>
          <p:nvPr/>
        </p:nvSpPr>
        <p:spPr>
          <a:xfrm>
            <a:off x="2736000" y="360000"/>
            <a:ext cx="756000" cy="288000"/>
          </a:xfrm>
          <a:prstGeom prst="rect">
            <a:avLst/>
          </a:prstGeom>
          <a:noFill/>
        </p:spPr>
        <p:txBody>
          <a:bodyPr wrap="square" lIns="10800" rIns="10800" tIns="3600" bIns="3600" anchor="ctr">
            <a:spAutoFit/>
          </a:bodyPr>
          <a:lstStyle/>
          <a:p>
            <a:pPr algn="ctr">
              <a:spcBef>
                <a:spcPts val="0"/>
              </a:spcBef>
              <a:spcAft>
                <a:spcPts val="0"/>
              </a:spcAft>
            </a:pPr>
            <a:r>
              <a:rPr sz="860" b="1">
                <a:solidFill>
                  <a:srgbClr val="263746"/>
                </a:solidFill>
                <a:latin typeface="Arial"/>
              </a:rPr>
              <a:t>MPF</a:t>
            </a:r>
          </a:p>
        </p:txBody>
      </p:sp>
      <p:pic>
        <p:nvPicPr>
          <p:cNvPr id="11" name="Picture 10" descr="turkey-earthquake_00001065_8_MPF.png"/>
          <p:cNvPicPr>
            <a:picLocks noChangeAspect="1"/>
          </p:cNvPicPr>
          <p:nvPr/>
        </p:nvPicPr>
        <p:blipFill>
          <a:blip r:embed="rId6"/>
          <a:stretch>
            <a:fillRect/>
          </a:stretch>
        </p:blipFill>
        <p:spPr>
          <a:xfrm>
            <a:off x="2736000" y="648000"/>
            <a:ext cx="756000" cy="756000"/>
          </a:xfrm>
          <a:prstGeom prst="rect">
            <a:avLst/>
          </a:prstGeom>
          <a:ln w="5080">
            <a:solidFill>
              <a:srgbClr val="A7ADB3"/>
            </a:solidFill>
          </a:ln>
        </p:spPr>
      </p:pic>
      <p:sp>
        <p:nvSpPr>
          <p:cNvPr id="12" name="TextBox 11"/>
          <p:cNvSpPr txBox="1"/>
          <p:nvPr/>
        </p:nvSpPr>
        <p:spPr>
          <a:xfrm>
            <a:off x="3563999" y="360000"/>
            <a:ext cx="756000" cy="288000"/>
          </a:xfrm>
          <a:prstGeom prst="rect">
            <a:avLst/>
          </a:prstGeom>
          <a:noFill/>
        </p:spPr>
        <p:txBody>
          <a:bodyPr wrap="square" lIns="10800" rIns="10800" tIns="3600" bIns="3600" anchor="ctr">
            <a:spAutoFit/>
          </a:bodyPr>
          <a:lstStyle/>
          <a:p>
            <a:pPr algn="ctr">
              <a:spcBef>
                <a:spcPts val="0"/>
              </a:spcBef>
              <a:spcAft>
                <a:spcPts val="0"/>
              </a:spcAft>
            </a:pPr>
            <a:r>
              <a:rPr sz="860" b="1">
                <a:solidFill>
                  <a:srgbClr val="263746"/>
                </a:solidFill>
                <a:latin typeface="Arial"/>
              </a:rPr>
              <a:t>Cosine Reader</a:t>
            </a:r>
          </a:p>
        </p:txBody>
      </p:sp>
      <p:sp>
        <p:nvSpPr>
          <p:cNvPr id="13" name="Rectangle 12"/>
          <p:cNvSpPr/>
          <p:nvPr/>
        </p:nvSpPr>
        <p:spPr>
          <a:xfrm>
            <a:off x="3563999" y="648000"/>
            <a:ext cx="756000" cy="756000"/>
          </a:xfrm>
          <a:prstGeom prst="rect">
            <a:avLst/>
          </a:prstGeom>
          <a:solidFill>
            <a:srgbClr val="FFFFFF"/>
          </a:solidFill>
          <a:ln w="7620">
            <a:solidFill>
              <a:srgbClr val="ADB7B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392000" y="360000"/>
            <a:ext cx="756000" cy="288000"/>
          </a:xfrm>
          <a:prstGeom prst="rect">
            <a:avLst/>
          </a:prstGeom>
          <a:noFill/>
        </p:spPr>
        <p:txBody>
          <a:bodyPr wrap="square" lIns="10800" rIns="10800" tIns="3600" bIns="3600" anchor="ctr">
            <a:spAutoFit/>
          </a:bodyPr>
          <a:lstStyle/>
          <a:p>
            <a:pPr algn="ctr">
              <a:spcBef>
                <a:spcPts val="0"/>
              </a:spcBef>
              <a:spcAft>
                <a:spcPts val="0"/>
              </a:spcAft>
            </a:pPr>
            <a:r>
              <a:rPr sz="860" b="1">
                <a:solidFill>
                  <a:srgbClr val="263746"/>
                </a:solidFill>
                <a:latin typeface="Arial"/>
              </a:rPr>
              <a:t>Supervised Reader</a:t>
            </a:r>
          </a:p>
        </p:txBody>
      </p:sp>
      <p:sp>
        <p:nvSpPr>
          <p:cNvPr id="15" name="Rectangle 14"/>
          <p:cNvSpPr/>
          <p:nvPr/>
        </p:nvSpPr>
        <p:spPr>
          <a:xfrm>
            <a:off x="4392000" y="648000"/>
            <a:ext cx="756000" cy="756000"/>
          </a:xfrm>
          <a:prstGeom prst="rect">
            <a:avLst/>
          </a:prstGeom>
          <a:solidFill>
            <a:srgbClr val="FFFFFF"/>
          </a:solidFill>
          <a:ln w="7620">
            <a:solidFill>
              <a:srgbClr val="ADB7B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5220000" y="360000"/>
            <a:ext cx="756000" cy="288000"/>
          </a:xfrm>
          <a:prstGeom prst="rect">
            <a:avLst/>
          </a:prstGeom>
          <a:noFill/>
        </p:spPr>
        <p:txBody>
          <a:bodyPr wrap="square" lIns="10800" rIns="10800" tIns="3600" bIns="3600" anchor="ctr">
            <a:spAutoFit/>
          </a:bodyPr>
          <a:lstStyle/>
          <a:p>
            <a:pPr algn="ctr">
              <a:spcBef>
                <a:spcPts val="0"/>
              </a:spcBef>
              <a:spcAft>
                <a:spcPts val="0"/>
              </a:spcAft>
            </a:pPr>
            <a:r>
              <a:rPr sz="860" b="1">
                <a:solidFill>
                  <a:srgbClr val="263746"/>
                </a:solidFill>
                <a:latin typeface="Arial"/>
              </a:rPr>
              <a:t>Rescued / harmed</a:t>
            </a:r>
          </a:p>
        </p:txBody>
      </p:sp>
      <p:sp>
        <p:nvSpPr>
          <p:cNvPr id="17" name="Rectangle 16"/>
          <p:cNvSpPr/>
          <p:nvPr/>
        </p:nvSpPr>
        <p:spPr>
          <a:xfrm>
            <a:off x="5220000" y="648000"/>
            <a:ext cx="756000" cy="756000"/>
          </a:xfrm>
          <a:prstGeom prst="rect">
            <a:avLst/>
          </a:prstGeom>
          <a:solidFill>
            <a:srgbClr val="FFFFFF"/>
          </a:solidFill>
          <a:ln w="7620">
            <a:solidFill>
              <a:srgbClr val="ADB7B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125999" y="1548000"/>
            <a:ext cx="5868000" cy="144000"/>
          </a:xfrm>
          <a:prstGeom prst="rect">
            <a:avLst/>
          </a:prstGeom>
          <a:noFill/>
        </p:spPr>
        <p:txBody>
          <a:bodyPr wrap="square" lIns="10800" rIns="10800" tIns="3600" bIns="3600" anchor="ctr">
            <a:spAutoFit/>
          </a:bodyPr>
          <a:lstStyle/>
          <a:p>
            <a:pPr algn="l">
              <a:spcBef>
                <a:spcPts val="0"/>
              </a:spcBef>
              <a:spcAft>
                <a:spcPts val="0"/>
              </a:spcAft>
            </a:pPr>
            <a:r>
              <a:rPr sz="900" b="1">
                <a:solidFill>
                  <a:srgbClr val="263746"/>
                </a:solidFill>
                <a:latin typeface="Arial"/>
              </a:rPr>
              <a:t>Cosine-selected Train support</a:t>
            </a:r>
          </a:p>
        </p:txBody>
      </p:sp>
      <p:sp>
        <p:nvSpPr>
          <p:cNvPr id="19" name="Rectangle 18"/>
          <p:cNvSpPr/>
          <p:nvPr/>
        </p:nvSpPr>
        <p:spPr>
          <a:xfrm>
            <a:off x="144000" y="1710000"/>
            <a:ext cx="756000" cy="756000"/>
          </a:xfrm>
          <a:prstGeom prst="rect">
            <a:avLst/>
          </a:prstGeom>
          <a:solidFill>
            <a:srgbClr val="FFFFFF"/>
          </a:solidFill>
          <a:ln w="7620">
            <a:solidFill>
              <a:srgbClr val="ADB7B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144000" y="2466000"/>
            <a:ext cx="756000" cy="162000"/>
          </a:xfrm>
          <a:prstGeom prst="rect">
            <a:avLst/>
          </a:prstGeom>
          <a:noFill/>
        </p:spPr>
        <p:txBody>
          <a:bodyPr wrap="square" lIns="10800" rIns="10800" tIns="3600" bIns="3600" anchor="ctr">
            <a:spAutoFit/>
          </a:bodyPr>
          <a:lstStyle/>
          <a:p>
            <a:pPr algn="ctr">
              <a:spcBef>
                <a:spcPts val="0"/>
              </a:spcBef>
              <a:spcAft>
                <a:spcPts val="0"/>
              </a:spcAft>
            </a:pPr>
            <a:r>
              <a:rPr sz="830" b="0">
                <a:solidFill>
                  <a:srgbClr val="263746"/>
                </a:solidFill>
                <a:latin typeface="Arial"/>
              </a:rPr>
              <a:t>Support RGB</a:t>
            </a:r>
          </a:p>
        </p:txBody>
      </p:sp>
      <p:sp>
        <p:nvSpPr>
          <p:cNvPr id="21" name="Rectangle 20"/>
          <p:cNvSpPr/>
          <p:nvPr/>
        </p:nvSpPr>
        <p:spPr>
          <a:xfrm>
            <a:off x="990000" y="1710000"/>
            <a:ext cx="756000" cy="756000"/>
          </a:xfrm>
          <a:prstGeom prst="rect">
            <a:avLst/>
          </a:prstGeom>
          <a:solidFill>
            <a:srgbClr val="FFFFFF"/>
          </a:solidFill>
          <a:ln w="7620">
            <a:solidFill>
              <a:srgbClr val="ADB7B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990000" y="2466000"/>
            <a:ext cx="756000" cy="162000"/>
          </a:xfrm>
          <a:prstGeom prst="rect">
            <a:avLst/>
          </a:prstGeom>
          <a:noFill/>
        </p:spPr>
        <p:txBody>
          <a:bodyPr wrap="square" lIns="10800" rIns="10800" tIns="3600" bIns="3600" anchor="ctr">
            <a:spAutoFit/>
          </a:bodyPr>
          <a:lstStyle/>
          <a:p>
            <a:pPr algn="ctr">
              <a:spcBef>
                <a:spcPts val="0"/>
              </a:spcBef>
              <a:spcAft>
                <a:spcPts val="0"/>
              </a:spcAft>
            </a:pPr>
            <a:r>
              <a:rPr sz="830" b="0">
                <a:solidFill>
                  <a:srgbClr val="263746"/>
                </a:solidFill>
                <a:latin typeface="Arial"/>
              </a:rPr>
              <a:t>Support SAR</a:t>
            </a:r>
          </a:p>
        </p:txBody>
      </p:sp>
      <p:sp>
        <p:nvSpPr>
          <p:cNvPr id="23" name="Rectangle 22"/>
          <p:cNvSpPr/>
          <p:nvPr/>
        </p:nvSpPr>
        <p:spPr>
          <a:xfrm>
            <a:off x="1836000" y="1710000"/>
            <a:ext cx="756000" cy="756000"/>
          </a:xfrm>
          <a:prstGeom prst="rect">
            <a:avLst/>
          </a:prstGeom>
          <a:solidFill>
            <a:srgbClr val="FFFFFF"/>
          </a:solidFill>
          <a:ln w="7620">
            <a:solidFill>
              <a:srgbClr val="ADB7B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1836000" y="2466000"/>
            <a:ext cx="756000" cy="162000"/>
          </a:xfrm>
          <a:prstGeom prst="rect">
            <a:avLst/>
          </a:prstGeom>
          <a:noFill/>
        </p:spPr>
        <p:txBody>
          <a:bodyPr wrap="square" lIns="10800" rIns="10800" tIns="3600" bIns="3600" anchor="ctr">
            <a:spAutoFit/>
          </a:bodyPr>
          <a:lstStyle/>
          <a:p>
            <a:pPr algn="ctr">
              <a:spcBef>
                <a:spcPts val="0"/>
              </a:spcBef>
              <a:spcAft>
                <a:spcPts val="0"/>
              </a:spcAft>
            </a:pPr>
            <a:r>
              <a:rPr sz="830" b="0">
                <a:solidFill>
                  <a:srgbClr val="263746"/>
                </a:solidFill>
                <a:latin typeface="Arial"/>
              </a:rPr>
              <a:t>Train GT</a:t>
            </a:r>
          </a:p>
        </p:txBody>
      </p:sp>
      <p:sp>
        <p:nvSpPr>
          <p:cNvPr id="25" name="TextBox 24"/>
          <p:cNvSpPr txBox="1"/>
          <p:nvPr/>
        </p:nvSpPr>
        <p:spPr>
          <a:xfrm>
            <a:off x="2772000" y="1710000"/>
            <a:ext cx="1458000" cy="144000"/>
          </a:xfrm>
          <a:prstGeom prst="rect">
            <a:avLst/>
          </a:prstGeom>
          <a:noFill/>
        </p:spPr>
        <p:txBody>
          <a:bodyPr wrap="square" lIns="10800" rIns="10800" tIns="3600" bIns="3600" anchor="ctr">
            <a:spAutoFit/>
          </a:bodyPr>
          <a:lstStyle/>
          <a:p>
            <a:pPr algn="l">
              <a:spcBef>
                <a:spcPts val="0"/>
              </a:spcBef>
              <a:spcAft>
                <a:spcPts val="0"/>
              </a:spcAft>
            </a:pPr>
            <a:r>
              <a:rPr sz="900" b="0">
                <a:solidFill>
                  <a:srgbClr val="263746"/>
                </a:solidFill>
                <a:latin typeface="Arial"/>
              </a:rPr>
              <a:t>ID:</a:t>
            </a:r>
          </a:p>
        </p:txBody>
      </p:sp>
      <p:sp>
        <p:nvSpPr>
          <p:cNvPr id="26" name="Rectangle 25"/>
          <p:cNvSpPr/>
          <p:nvPr/>
        </p:nvSpPr>
        <p:spPr>
          <a:xfrm>
            <a:off x="2772000" y="1864800"/>
            <a:ext cx="1440000" cy="162000"/>
          </a:xfrm>
          <a:prstGeom prst="rect">
            <a:avLst/>
          </a:prstGeom>
          <a:solidFill>
            <a:srgbClr val="FFFFFF"/>
          </a:solidFill>
          <a:ln w="7620">
            <a:solidFill>
              <a:srgbClr val="ADB7B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4320000" y="1710000"/>
            <a:ext cx="1458000" cy="144000"/>
          </a:xfrm>
          <a:prstGeom prst="rect">
            <a:avLst/>
          </a:prstGeom>
          <a:noFill/>
        </p:spPr>
        <p:txBody>
          <a:bodyPr wrap="square" lIns="10800" rIns="10800" tIns="3600" bIns="3600" anchor="ctr">
            <a:spAutoFit/>
          </a:bodyPr>
          <a:lstStyle/>
          <a:p>
            <a:pPr algn="l">
              <a:spcBef>
                <a:spcPts val="0"/>
              </a:spcBef>
              <a:spcAft>
                <a:spcPts val="0"/>
              </a:spcAft>
            </a:pPr>
            <a:r>
              <a:rPr sz="900" b="0">
                <a:solidFill>
                  <a:srgbClr val="263746"/>
                </a:solidFill>
                <a:latin typeface="Arial"/>
              </a:rPr>
              <a:t>Event:</a:t>
            </a:r>
          </a:p>
        </p:txBody>
      </p:sp>
      <p:sp>
        <p:nvSpPr>
          <p:cNvPr id="28" name="Rectangle 27"/>
          <p:cNvSpPr/>
          <p:nvPr/>
        </p:nvSpPr>
        <p:spPr>
          <a:xfrm>
            <a:off x="4320000" y="1864800"/>
            <a:ext cx="1440000" cy="162000"/>
          </a:xfrm>
          <a:prstGeom prst="rect">
            <a:avLst/>
          </a:prstGeom>
          <a:solidFill>
            <a:srgbClr val="FFFFFF"/>
          </a:solidFill>
          <a:ln w="7620">
            <a:solidFill>
              <a:srgbClr val="ADB7B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2772000" y="2106000"/>
            <a:ext cx="1458000" cy="144000"/>
          </a:xfrm>
          <a:prstGeom prst="rect">
            <a:avLst/>
          </a:prstGeom>
          <a:noFill/>
        </p:spPr>
        <p:txBody>
          <a:bodyPr wrap="square" lIns="10800" rIns="10800" tIns="3600" bIns="3600" anchor="ctr">
            <a:spAutoFit/>
          </a:bodyPr>
          <a:lstStyle/>
          <a:p>
            <a:pPr algn="l">
              <a:spcBef>
                <a:spcPts val="0"/>
              </a:spcBef>
              <a:spcAft>
                <a:spcPts val="0"/>
              </a:spcAft>
            </a:pPr>
            <a:r>
              <a:rPr sz="900" b="0">
                <a:solidFill>
                  <a:srgbClr val="263746"/>
                </a:solidFill>
                <a:latin typeface="Arial"/>
              </a:rPr>
              <a:t>Similarity:</a:t>
            </a:r>
          </a:p>
        </p:txBody>
      </p:sp>
      <p:sp>
        <p:nvSpPr>
          <p:cNvPr id="30" name="Rectangle 29"/>
          <p:cNvSpPr/>
          <p:nvPr/>
        </p:nvSpPr>
        <p:spPr>
          <a:xfrm>
            <a:off x="2772000" y="2260800"/>
            <a:ext cx="1440000" cy="162000"/>
          </a:xfrm>
          <a:prstGeom prst="rect">
            <a:avLst/>
          </a:prstGeom>
          <a:solidFill>
            <a:srgbClr val="FFFFFF"/>
          </a:solidFill>
          <a:ln w="7620">
            <a:solidFill>
              <a:srgbClr val="ADB7B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4320000" y="2106000"/>
            <a:ext cx="1458000" cy="144000"/>
          </a:xfrm>
          <a:prstGeom prst="rect">
            <a:avLst/>
          </a:prstGeom>
          <a:noFill/>
        </p:spPr>
        <p:txBody>
          <a:bodyPr wrap="square" lIns="10800" rIns="10800" tIns="3600" bIns="3600" anchor="ctr">
            <a:spAutoFit/>
          </a:bodyPr>
          <a:lstStyle/>
          <a:p>
            <a:pPr algn="l">
              <a:spcBef>
                <a:spcPts val="0"/>
              </a:spcBef>
              <a:spcAft>
                <a:spcPts val="0"/>
              </a:spcAft>
            </a:pPr>
            <a:r>
              <a:rPr sz="900" b="0">
                <a:solidFill>
                  <a:srgbClr val="263746"/>
                </a:solidFill>
                <a:latin typeface="Arial"/>
              </a:rPr>
              <a:t>Class / purity:</a:t>
            </a:r>
          </a:p>
        </p:txBody>
      </p:sp>
      <p:sp>
        <p:nvSpPr>
          <p:cNvPr id="32" name="Rectangle 31"/>
          <p:cNvSpPr/>
          <p:nvPr/>
        </p:nvSpPr>
        <p:spPr>
          <a:xfrm>
            <a:off x="4320000" y="2260800"/>
            <a:ext cx="1440000" cy="162000"/>
          </a:xfrm>
          <a:prstGeom prst="rect">
            <a:avLst/>
          </a:prstGeom>
          <a:solidFill>
            <a:srgbClr val="FFFFFF"/>
          </a:solidFill>
          <a:ln w="7620">
            <a:solidFill>
              <a:srgbClr val="ADB7B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125999" y="2664000"/>
            <a:ext cx="5868000" cy="144000"/>
          </a:xfrm>
          <a:prstGeom prst="rect">
            <a:avLst/>
          </a:prstGeom>
          <a:noFill/>
        </p:spPr>
        <p:txBody>
          <a:bodyPr wrap="square" lIns="10800" rIns="10800" tIns="3600" bIns="3600" anchor="ctr">
            <a:spAutoFit/>
          </a:bodyPr>
          <a:lstStyle/>
          <a:p>
            <a:pPr algn="l">
              <a:spcBef>
                <a:spcPts val="0"/>
              </a:spcBef>
              <a:spcAft>
                <a:spcPts val="0"/>
              </a:spcAft>
            </a:pPr>
            <a:r>
              <a:rPr sz="900" b="1">
                <a:solidFill>
                  <a:srgbClr val="263746"/>
                </a:solidFill>
                <a:latin typeface="Arial"/>
              </a:rPr>
              <a:t>Supervised-selected Train support</a:t>
            </a:r>
          </a:p>
        </p:txBody>
      </p:sp>
      <p:sp>
        <p:nvSpPr>
          <p:cNvPr id="34" name="Rectangle 33"/>
          <p:cNvSpPr/>
          <p:nvPr/>
        </p:nvSpPr>
        <p:spPr>
          <a:xfrm>
            <a:off x="144000" y="2826000"/>
            <a:ext cx="756000" cy="756000"/>
          </a:xfrm>
          <a:prstGeom prst="rect">
            <a:avLst/>
          </a:prstGeom>
          <a:solidFill>
            <a:srgbClr val="FFFFFF"/>
          </a:solidFill>
          <a:ln w="7620">
            <a:solidFill>
              <a:srgbClr val="ADB7B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144000" y="3581999"/>
            <a:ext cx="756000" cy="162000"/>
          </a:xfrm>
          <a:prstGeom prst="rect">
            <a:avLst/>
          </a:prstGeom>
          <a:noFill/>
        </p:spPr>
        <p:txBody>
          <a:bodyPr wrap="square" lIns="10800" rIns="10800" tIns="3600" bIns="3600" anchor="ctr">
            <a:spAutoFit/>
          </a:bodyPr>
          <a:lstStyle/>
          <a:p>
            <a:pPr algn="ctr">
              <a:spcBef>
                <a:spcPts val="0"/>
              </a:spcBef>
              <a:spcAft>
                <a:spcPts val="0"/>
              </a:spcAft>
            </a:pPr>
            <a:r>
              <a:rPr sz="830" b="0">
                <a:solidFill>
                  <a:srgbClr val="263746"/>
                </a:solidFill>
                <a:latin typeface="Arial"/>
              </a:rPr>
              <a:t>Support RGB</a:t>
            </a:r>
          </a:p>
        </p:txBody>
      </p:sp>
      <p:sp>
        <p:nvSpPr>
          <p:cNvPr id="36" name="Rectangle 35"/>
          <p:cNvSpPr/>
          <p:nvPr/>
        </p:nvSpPr>
        <p:spPr>
          <a:xfrm>
            <a:off x="990000" y="2826000"/>
            <a:ext cx="756000" cy="756000"/>
          </a:xfrm>
          <a:prstGeom prst="rect">
            <a:avLst/>
          </a:prstGeom>
          <a:solidFill>
            <a:srgbClr val="FFFFFF"/>
          </a:solidFill>
          <a:ln w="7620">
            <a:solidFill>
              <a:srgbClr val="ADB7B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990000" y="3581999"/>
            <a:ext cx="756000" cy="162000"/>
          </a:xfrm>
          <a:prstGeom prst="rect">
            <a:avLst/>
          </a:prstGeom>
          <a:noFill/>
        </p:spPr>
        <p:txBody>
          <a:bodyPr wrap="square" lIns="10800" rIns="10800" tIns="3600" bIns="3600" anchor="ctr">
            <a:spAutoFit/>
          </a:bodyPr>
          <a:lstStyle/>
          <a:p>
            <a:pPr algn="ctr">
              <a:spcBef>
                <a:spcPts val="0"/>
              </a:spcBef>
              <a:spcAft>
                <a:spcPts val="0"/>
              </a:spcAft>
            </a:pPr>
            <a:r>
              <a:rPr sz="830" b="0">
                <a:solidFill>
                  <a:srgbClr val="263746"/>
                </a:solidFill>
                <a:latin typeface="Arial"/>
              </a:rPr>
              <a:t>Support SAR</a:t>
            </a:r>
          </a:p>
        </p:txBody>
      </p:sp>
      <p:sp>
        <p:nvSpPr>
          <p:cNvPr id="38" name="Rectangle 37"/>
          <p:cNvSpPr/>
          <p:nvPr/>
        </p:nvSpPr>
        <p:spPr>
          <a:xfrm>
            <a:off x="1836000" y="2826000"/>
            <a:ext cx="756000" cy="756000"/>
          </a:xfrm>
          <a:prstGeom prst="rect">
            <a:avLst/>
          </a:prstGeom>
          <a:solidFill>
            <a:srgbClr val="FFFFFF"/>
          </a:solidFill>
          <a:ln w="7620">
            <a:solidFill>
              <a:srgbClr val="ADB7B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TextBox 38"/>
          <p:cNvSpPr txBox="1"/>
          <p:nvPr/>
        </p:nvSpPr>
        <p:spPr>
          <a:xfrm>
            <a:off x="1836000" y="3581999"/>
            <a:ext cx="756000" cy="162000"/>
          </a:xfrm>
          <a:prstGeom prst="rect">
            <a:avLst/>
          </a:prstGeom>
          <a:noFill/>
        </p:spPr>
        <p:txBody>
          <a:bodyPr wrap="square" lIns="10800" rIns="10800" tIns="3600" bIns="3600" anchor="ctr">
            <a:spAutoFit/>
          </a:bodyPr>
          <a:lstStyle/>
          <a:p>
            <a:pPr algn="ctr">
              <a:spcBef>
                <a:spcPts val="0"/>
              </a:spcBef>
              <a:spcAft>
                <a:spcPts val="0"/>
              </a:spcAft>
            </a:pPr>
            <a:r>
              <a:rPr sz="830" b="0">
                <a:solidFill>
                  <a:srgbClr val="263746"/>
                </a:solidFill>
                <a:latin typeface="Arial"/>
              </a:rPr>
              <a:t>Train GT</a:t>
            </a:r>
          </a:p>
        </p:txBody>
      </p:sp>
      <p:sp>
        <p:nvSpPr>
          <p:cNvPr id="40" name="TextBox 39"/>
          <p:cNvSpPr txBox="1"/>
          <p:nvPr/>
        </p:nvSpPr>
        <p:spPr>
          <a:xfrm>
            <a:off x="2772000" y="2826000"/>
            <a:ext cx="1458000" cy="144000"/>
          </a:xfrm>
          <a:prstGeom prst="rect">
            <a:avLst/>
          </a:prstGeom>
          <a:noFill/>
        </p:spPr>
        <p:txBody>
          <a:bodyPr wrap="square" lIns="10800" rIns="10800" tIns="3600" bIns="3600" anchor="ctr">
            <a:spAutoFit/>
          </a:bodyPr>
          <a:lstStyle/>
          <a:p>
            <a:pPr algn="l">
              <a:spcBef>
                <a:spcPts val="0"/>
              </a:spcBef>
              <a:spcAft>
                <a:spcPts val="0"/>
              </a:spcAft>
            </a:pPr>
            <a:r>
              <a:rPr sz="900" b="0">
                <a:solidFill>
                  <a:srgbClr val="263746"/>
                </a:solidFill>
                <a:latin typeface="Arial"/>
              </a:rPr>
              <a:t>ID:</a:t>
            </a:r>
          </a:p>
        </p:txBody>
      </p:sp>
      <p:sp>
        <p:nvSpPr>
          <p:cNvPr id="41" name="Rectangle 40"/>
          <p:cNvSpPr/>
          <p:nvPr/>
        </p:nvSpPr>
        <p:spPr>
          <a:xfrm>
            <a:off x="2772000" y="2980800"/>
            <a:ext cx="1440000" cy="162000"/>
          </a:xfrm>
          <a:prstGeom prst="rect">
            <a:avLst/>
          </a:prstGeom>
          <a:solidFill>
            <a:srgbClr val="FFFFFF"/>
          </a:solidFill>
          <a:ln w="7620">
            <a:solidFill>
              <a:srgbClr val="ADB7B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4320000" y="2826000"/>
            <a:ext cx="1458000" cy="144000"/>
          </a:xfrm>
          <a:prstGeom prst="rect">
            <a:avLst/>
          </a:prstGeom>
          <a:noFill/>
        </p:spPr>
        <p:txBody>
          <a:bodyPr wrap="square" lIns="10800" rIns="10800" tIns="3600" bIns="3600" anchor="ctr">
            <a:spAutoFit/>
          </a:bodyPr>
          <a:lstStyle/>
          <a:p>
            <a:pPr algn="l">
              <a:spcBef>
                <a:spcPts val="0"/>
              </a:spcBef>
              <a:spcAft>
                <a:spcPts val="0"/>
              </a:spcAft>
            </a:pPr>
            <a:r>
              <a:rPr sz="900" b="0">
                <a:solidFill>
                  <a:srgbClr val="263746"/>
                </a:solidFill>
                <a:latin typeface="Arial"/>
              </a:rPr>
              <a:t>Event:</a:t>
            </a:r>
          </a:p>
        </p:txBody>
      </p:sp>
      <p:sp>
        <p:nvSpPr>
          <p:cNvPr id="43" name="Rectangle 42"/>
          <p:cNvSpPr/>
          <p:nvPr/>
        </p:nvSpPr>
        <p:spPr>
          <a:xfrm>
            <a:off x="4320000" y="2980800"/>
            <a:ext cx="1440000" cy="162000"/>
          </a:xfrm>
          <a:prstGeom prst="rect">
            <a:avLst/>
          </a:prstGeom>
          <a:solidFill>
            <a:srgbClr val="FFFFFF"/>
          </a:solidFill>
          <a:ln w="7620">
            <a:solidFill>
              <a:srgbClr val="ADB7B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2772000" y="3221999"/>
            <a:ext cx="1458000" cy="144000"/>
          </a:xfrm>
          <a:prstGeom prst="rect">
            <a:avLst/>
          </a:prstGeom>
          <a:noFill/>
        </p:spPr>
        <p:txBody>
          <a:bodyPr wrap="square" lIns="10800" rIns="10800" tIns="3600" bIns="3600" anchor="ctr">
            <a:spAutoFit/>
          </a:bodyPr>
          <a:lstStyle/>
          <a:p>
            <a:pPr algn="l">
              <a:spcBef>
                <a:spcPts val="0"/>
              </a:spcBef>
              <a:spcAft>
                <a:spcPts val="0"/>
              </a:spcAft>
            </a:pPr>
            <a:r>
              <a:rPr sz="900" b="0">
                <a:solidFill>
                  <a:srgbClr val="263746"/>
                </a:solidFill>
                <a:latin typeface="Arial"/>
              </a:rPr>
              <a:t>Similarity:</a:t>
            </a:r>
          </a:p>
        </p:txBody>
      </p:sp>
      <p:sp>
        <p:nvSpPr>
          <p:cNvPr id="45" name="Rectangle 44"/>
          <p:cNvSpPr/>
          <p:nvPr/>
        </p:nvSpPr>
        <p:spPr>
          <a:xfrm>
            <a:off x="2772000" y="3376799"/>
            <a:ext cx="1440000" cy="162000"/>
          </a:xfrm>
          <a:prstGeom prst="rect">
            <a:avLst/>
          </a:prstGeom>
          <a:solidFill>
            <a:srgbClr val="FFFFFF"/>
          </a:solidFill>
          <a:ln w="7620">
            <a:solidFill>
              <a:srgbClr val="ADB7B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TextBox 45"/>
          <p:cNvSpPr txBox="1"/>
          <p:nvPr/>
        </p:nvSpPr>
        <p:spPr>
          <a:xfrm>
            <a:off x="4320000" y="3221999"/>
            <a:ext cx="1458000" cy="144000"/>
          </a:xfrm>
          <a:prstGeom prst="rect">
            <a:avLst/>
          </a:prstGeom>
          <a:noFill/>
        </p:spPr>
        <p:txBody>
          <a:bodyPr wrap="square" lIns="10800" rIns="10800" tIns="3600" bIns="3600" anchor="ctr">
            <a:spAutoFit/>
          </a:bodyPr>
          <a:lstStyle/>
          <a:p>
            <a:pPr algn="l">
              <a:spcBef>
                <a:spcPts val="0"/>
              </a:spcBef>
              <a:spcAft>
                <a:spcPts val="0"/>
              </a:spcAft>
            </a:pPr>
            <a:r>
              <a:rPr sz="900" b="0">
                <a:solidFill>
                  <a:srgbClr val="263746"/>
                </a:solidFill>
                <a:latin typeface="Arial"/>
              </a:rPr>
              <a:t>Class / purity:</a:t>
            </a:r>
          </a:p>
        </p:txBody>
      </p:sp>
      <p:sp>
        <p:nvSpPr>
          <p:cNvPr id="47" name="Rectangle 46"/>
          <p:cNvSpPr/>
          <p:nvPr/>
        </p:nvSpPr>
        <p:spPr>
          <a:xfrm>
            <a:off x="4320000" y="3376799"/>
            <a:ext cx="1440000" cy="162000"/>
          </a:xfrm>
          <a:prstGeom prst="rect">
            <a:avLst/>
          </a:prstGeom>
          <a:solidFill>
            <a:srgbClr val="FFFFFF"/>
          </a:solidFill>
          <a:ln w="7620">
            <a:solidFill>
              <a:srgbClr val="ADB7B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000" y="18000"/>
            <a:ext cx="5976000" cy="198000"/>
          </a:xfrm>
          <a:prstGeom prst="rect">
            <a:avLst/>
          </a:prstGeom>
          <a:noFill/>
        </p:spPr>
        <p:txBody>
          <a:bodyPr wrap="square" lIns="10800" rIns="10800" tIns="3600" bIns="3600" anchor="ctr">
            <a:spAutoFit/>
          </a:bodyPr>
          <a:lstStyle/>
          <a:p>
            <a:pPr algn="ctr">
              <a:spcBef>
                <a:spcPts val="0"/>
              </a:spcBef>
              <a:spcAft>
                <a:spcPts val="0"/>
              </a:spcAft>
            </a:pPr>
            <a:r>
              <a:rPr sz="1000" b="1">
                <a:solidFill>
                  <a:srgbClr val="263746"/>
                </a:solidFill>
                <a:latin typeface="Arial"/>
              </a:rPr>
              <a:t>Typical error cases</a:t>
            </a:r>
          </a:p>
        </p:txBody>
      </p:sp>
      <p:sp>
        <p:nvSpPr>
          <p:cNvPr id="3" name="TextBox 2"/>
          <p:cNvSpPr txBox="1"/>
          <p:nvPr/>
        </p:nvSpPr>
        <p:spPr>
          <a:xfrm>
            <a:off x="720000" y="216000"/>
            <a:ext cx="867600" cy="180000"/>
          </a:xfrm>
          <a:prstGeom prst="rect">
            <a:avLst/>
          </a:prstGeom>
          <a:noFill/>
        </p:spPr>
        <p:txBody>
          <a:bodyPr wrap="square" lIns="10800" rIns="10800" tIns="3600" bIns="3600" anchor="ctr">
            <a:spAutoFit/>
          </a:bodyPr>
          <a:lstStyle/>
          <a:p>
            <a:pPr algn="ctr">
              <a:spcBef>
                <a:spcPts val="0"/>
              </a:spcBef>
              <a:spcAft>
                <a:spcPts val="0"/>
              </a:spcAft>
            </a:pPr>
            <a:r>
              <a:rPr sz="900" b="1">
                <a:solidFill>
                  <a:srgbClr val="263746"/>
                </a:solidFill>
                <a:latin typeface="Arial"/>
              </a:rPr>
              <a:t>RGB</a:t>
            </a:r>
          </a:p>
        </p:txBody>
      </p:sp>
      <p:sp>
        <p:nvSpPr>
          <p:cNvPr id="4" name="TextBox 3"/>
          <p:cNvSpPr txBox="1"/>
          <p:nvPr/>
        </p:nvSpPr>
        <p:spPr>
          <a:xfrm>
            <a:off x="1605600" y="216000"/>
            <a:ext cx="867600" cy="180000"/>
          </a:xfrm>
          <a:prstGeom prst="rect">
            <a:avLst/>
          </a:prstGeom>
          <a:noFill/>
        </p:spPr>
        <p:txBody>
          <a:bodyPr wrap="square" lIns="10800" rIns="10800" tIns="3600" bIns="3600" anchor="ctr">
            <a:spAutoFit/>
          </a:bodyPr>
          <a:lstStyle/>
          <a:p>
            <a:pPr algn="ctr">
              <a:spcBef>
                <a:spcPts val="0"/>
              </a:spcBef>
              <a:spcAft>
                <a:spcPts val="0"/>
              </a:spcAft>
            </a:pPr>
            <a:r>
              <a:rPr sz="900" b="1">
                <a:solidFill>
                  <a:srgbClr val="263746"/>
                </a:solidFill>
                <a:latin typeface="Arial"/>
              </a:rPr>
              <a:t>SAR</a:t>
            </a:r>
          </a:p>
        </p:txBody>
      </p:sp>
      <p:sp>
        <p:nvSpPr>
          <p:cNvPr id="5" name="TextBox 4"/>
          <p:cNvSpPr txBox="1"/>
          <p:nvPr/>
        </p:nvSpPr>
        <p:spPr>
          <a:xfrm>
            <a:off x="2491200" y="216000"/>
            <a:ext cx="867600" cy="180000"/>
          </a:xfrm>
          <a:prstGeom prst="rect">
            <a:avLst/>
          </a:prstGeom>
          <a:noFill/>
        </p:spPr>
        <p:txBody>
          <a:bodyPr wrap="square" lIns="10800" rIns="10800" tIns="3600" bIns="3600" anchor="ctr">
            <a:spAutoFit/>
          </a:bodyPr>
          <a:lstStyle/>
          <a:p>
            <a:pPr algn="ctr">
              <a:spcBef>
                <a:spcPts val="0"/>
              </a:spcBef>
              <a:spcAft>
                <a:spcPts val="0"/>
              </a:spcAft>
            </a:pPr>
            <a:r>
              <a:rPr sz="900" b="1">
                <a:solidFill>
                  <a:srgbClr val="263746"/>
                </a:solidFill>
                <a:latin typeface="Arial"/>
              </a:rPr>
              <a:t>GT</a:t>
            </a:r>
          </a:p>
        </p:txBody>
      </p:sp>
      <p:sp>
        <p:nvSpPr>
          <p:cNvPr id="6" name="TextBox 5"/>
          <p:cNvSpPr txBox="1"/>
          <p:nvPr/>
        </p:nvSpPr>
        <p:spPr>
          <a:xfrm>
            <a:off x="3376799" y="216000"/>
            <a:ext cx="867600" cy="180000"/>
          </a:xfrm>
          <a:prstGeom prst="rect">
            <a:avLst/>
          </a:prstGeom>
          <a:noFill/>
        </p:spPr>
        <p:txBody>
          <a:bodyPr wrap="square" lIns="10800" rIns="10800" tIns="3600" bIns="3600" anchor="ctr">
            <a:spAutoFit/>
          </a:bodyPr>
          <a:lstStyle/>
          <a:p>
            <a:pPr algn="ctr">
              <a:spcBef>
                <a:spcPts val="0"/>
              </a:spcBef>
              <a:spcAft>
                <a:spcPts val="0"/>
              </a:spcAft>
            </a:pPr>
            <a:r>
              <a:rPr sz="900" b="1">
                <a:solidFill>
                  <a:srgbClr val="263746"/>
                </a:solidFill>
                <a:latin typeface="Arial"/>
              </a:rPr>
              <a:t>DamageFormer</a:t>
            </a:r>
          </a:p>
        </p:txBody>
      </p:sp>
      <p:sp>
        <p:nvSpPr>
          <p:cNvPr id="7" name="TextBox 6"/>
          <p:cNvSpPr txBox="1"/>
          <p:nvPr/>
        </p:nvSpPr>
        <p:spPr>
          <a:xfrm>
            <a:off x="4262400" y="216000"/>
            <a:ext cx="867600" cy="180000"/>
          </a:xfrm>
          <a:prstGeom prst="rect">
            <a:avLst/>
          </a:prstGeom>
          <a:noFill/>
        </p:spPr>
        <p:txBody>
          <a:bodyPr wrap="square" lIns="10800" rIns="10800" tIns="3600" bIns="3600" anchor="ctr">
            <a:spAutoFit/>
          </a:bodyPr>
          <a:lstStyle/>
          <a:p>
            <a:pPr algn="ctr">
              <a:spcBef>
                <a:spcPts val="0"/>
              </a:spcBef>
              <a:spcAft>
                <a:spcPts val="0"/>
              </a:spcAft>
            </a:pPr>
            <a:r>
              <a:rPr sz="900" b="1">
                <a:solidFill>
                  <a:srgbClr val="263746"/>
                </a:solidFill>
                <a:latin typeface="Arial"/>
              </a:rPr>
              <a:t>MPF</a:t>
            </a:r>
          </a:p>
        </p:txBody>
      </p:sp>
      <p:sp>
        <p:nvSpPr>
          <p:cNvPr id="8" name="TextBox 7"/>
          <p:cNvSpPr txBox="1"/>
          <p:nvPr/>
        </p:nvSpPr>
        <p:spPr>
          <a:xfrm>
            <a:off x="5148000" y="216000"/>
            <a:ext cx="867600" cy="180000"/>
          </a:xfrm>
          <a:prstGeom prst="rect">
            <a:avLst/>
          </a:prstGeom>
          <a:noFill/>
        </p:spPr>
        <p:txBody>
          <a:bodyPr wrap="square" lIns="10800" rIns="10800" tIns="3600" bIns="3600" anchor="ctr">
            <a:spAutoFit/>
          </a:bodyPr>
          <a:lstStyle/>
          <a:p>
            <a:pPr algn="ctr">
              <a:spcBef>
                <a:spcPts val="0"/>
              </a:spcBef>
              <a:spcAft>
                <a:spcPts val="0"/>
              </a:spcAft>
            </a:pPr>
            <a:r>
              <a:rPr sz="900" b="1">
                <a:solidFill>
                  <a:srgbClr val="263746"/>
                </a:solidFill>
                <a:latin typeface="Arial"/>
              </a:rPr>
              <a:t>Ours</a:t>
            </a:r>
          </a:p>
        </p:txBody>
      </p:sp>
      <p:sp>
        <p:nvSpPr>
          <p:cNvPr id="9" name="TextBox 8"/>
          <p:cNvSpPr txBox="1"/>
          <p:nvPr/>
        </p:nvSpPr>
        <p:spPr>
          <a:xfrm>
            <a:off x="36000" y="486000"/>
            <a:ext cx="648000" cy="827999"/>
          </a:xfrm>
          <a:prstGeom prst="rect">
            <a:avLst/>
          </a:prstGeom>
          <a:noFill/>
        </p:spPr>
        <p:txBody>
          <a:bodyPr wrap="square" lIns="10800" rIns="10800" tIns="3600" bIns="3600" anchor="ctr">
            <a:spAutoFit/>
          </a:bodyPr>
          <a:lstStyle/>
          <a:p>
            <a:pPr algn="ctr">
              <a:spcBef>
                <a:spcPts val="0"/>
              </a:spcBef>
              <a:spcAft>
                <a:spcPts val="0"/>
              </a:spcAft>
            </a:pPr>
            <a:r>
              <a:rPr sz="850" b="0">
                <a:solidFill>
                  <a:srgbClr val="263746"/>
                </a:solidFill>
                <a:latin typeface="Arial"/>
              </a:rPr>
              <a:t>hawaii</a:t>
            </a:r>
          </a:p>
          <a:p>
            <a:pPr algn="ctr">
              <a:spcBef>
                <a:spcPts val="0"/>
              </a:spcBef>
              <a:spcAft>
                <a:spcPts val="0"/>
              </a:spcAft>
            </a:pPr>
            <a:r>
              <a:rPr sz="850" b="0">
                <a:solidFill>
                  <a:srgbClr val="263746"/>
                </a:solidFill>
                <a:latin typeface="Arial"/>
              </a:rPr>
              <a:t>wildfire</a:t>
            </a:r>
          </a:p>
          <a:p>
            <a:pPr algn="ctr">
              <a:spcBef>
                <a:spcPts val="0"/>
              </a:spcBef>
              <a:spcAft>
                <a:spcPts val="0"/>
              </a:spcAft>
            </a:pPr>
            <a:r>
              <a:rPr sz="850" b="0">
                <a:solidFill>
                  <a:srgbClr val="263746"/>
                </a:solidFill>
                <a:latin typeface="Arial"/>
              </a:rPr>
              <a:t>00000003</a:t>
            </a:r>
          </a:p>
          <a:p>
            <a:pPr algn="ctr">
              <a:spcBef>
                <a:spcPts val="0"/>
              </a:spcBef>
              <a:spcAft>
                <a:spcPts val="0"/>
              </a:spcAft>
            </a:pPr>
            <a:r>
              <a:rPr sz="850" b="0">
                <a:solidFill>
                  <a:srgbClr val="263746"/>
                </a:solidFill>
                <a:latin typeface="Arial"/>
              </a:rPr>
              <a:t>512 × 512 px</a:t>
            </a:r>
          </a:p>
        </p:txBody>
      </p:sp>
      <p:pic>
        <p:nvPicPr>
          <p:cNvPr id="10" name="Picture 9" descr="hawaii-wildfire_00000003_0_RGB.png"/>
          <p:cNvPicPr>
            <a:picLocks noChangeAspect="1"/>
          </p:cNvPicPr>
          <p:nvPr/>
        </p:nvPicPr>
        <p:blipFill>
          <a:blip r:embed="rId3"/>
          <a:stretch>
            <a:fillRect/>
          </a:stretch>
        </p:blipFill>
        <p:spPr>
          <a:xfrm>
            <a:off x="720000" y="486000"/>
            <a:ext cx="827999" cy="827999"/>
          </a:xfrm>
          <a:prstGeom prst="rect">
            <a:avLst/>
          </a:prstGeom>
          <a:ln w="5080">
            <a:solidFill>
              <a:srgbClr val="A7ADB3"/>
            </a:solidFill>
          </a:ln>
        </p:spPr>
      </p:pic>
      <p:pic>
        <p:nvPicPr>
          <p:cNvPr id="11" name="Picture 10" descr="hawaii-wildfire_00000003_1_SAR.png"/>
          <p:cNvPicPr>
            <a:picLocks noChangeAspect="1"/>
          </p:cNvPicPr>
          <p:nvPr/>
        </p:nvPicPr>
        <p:blipFill>
          <a:blip r:embed="rId4"/>
          <a:stretch>
            <a:fillRect/>
          </a:stretch>
        </p:blipFill>
        <p:spPr>
          <a:xfrm>
            <a:off x="1605600" y="486000"/>
            <a:ext cx="827999" cy="827999"/>
          </a:xfrm>
          <a:prstGeom prst="rect">
            <a:avLst/>
          </a:prstGeom>
          <a:ln w="5080">
            <a:solidFill>
              <a:srgbClr val="A7ADB3"/>
            </a:solidFill>
          </a:ln>
        </p:spPr>
      </p:pic>
      <p:pic>
        <p:nvPicPr>
          <p:cNvPr id="12" name="Picture 11" descr="hawaii-wildfire_00000003_2_GT.png"/>
          <p:cNvPicPr>
            <a:picLocks noChangeAspect="1"/>
          </p:cNvPicPr>
          <p:nvPr/>
        </p:nvPicPr>
        <p:blipFill>
          <a:blip r:embed="rId5"/>
          <a:stretch>
            <a:fillRect/>
          </a:stretch>
        </p:blipFill>
        <p:spPr>
          <a:xfrm>
            <a:off x="2491200" y="486000"/>
            <a:ext cx="827999" cy="827999"/>
          </a:xfrm>
          <a:prstGeom prst="rect">
            <a:avLst/>
          </a:prstGeom>
          <a:ln w="5080">
            <a:solidFill>
              <a:srgbClr val="A7ADB3"/>
            </a:solidFill>
          </a:ln>
        </p:spPr>
      </p:pic>
      <p:pic>
        <p:nvPicPr>
          <p:cNvPr id="13" name="Picture 12" descr="hawaii-wildfire_00000003_7_DamageFormer.png"/>
          <p:cNvPicPr>
            <a:picLocks noChangeAspect="1"/>
          </p:cNvPicPr>
          <p:nvPr/>
        </p:nvPicPr>
        <p:blipFill>
          <a:blip r:embed="rId6"/>
          <a:stretch>
            <a:fillRect/>
          </a:stretch>
        </p:blipFill>
        <p:spPr>
          <a:xfrm>
            <a:off x="3376799" y="486000"/>
            <a:ext cx="827999" cy="827999"/>
          </a:xfrm>
          <a:prstGeom prst="rect">
            <a:avLst/>
          </a:prstGeom>
          <a:ln w="5080">
            <a:solidFill>
              <a:srgbClr val="A7ADB3"/>
            </a:solidFill>
          </a:ln>
        </p:spPr>
      </p:pic>
      <p:pic>
        <p:nvPicPr>
          <p:cNvPr id="14" name="Picture 13" descr="hawaii-wildfire_00000003_8_MPF.png"/>
          <p:cNvPicPr>
            <a:picLocks noChangeAspect="1"/>
          </p:cNvPicPr>
          <p:nvPr/>
        </p:nvPicPr>
        <p:blipFill>
          <a:blip r:embed="rId7"/>
          <a:stretch>
            <a:fillRect/>
          </a:stretch>
        </p:blipFill>
        <p:spPr>
          <a:xfrm>
            <a:off x="4262400" y="486000"/>
            <a:ext cx="827999" cy="827999"/>
          </a:xfrm>
          <a:prstGeom prst="rect">
            <a:avLst/>
          </a:prstGeom>
          <a:ln w="5080">
            <a:solidFill>
              <a:srgbClr val="A7ADB3"/>
            </a:solidFill>
          </a:ln>
        </p:spPr>
      </p:pic>
      <p:sp>
        <p:nvSpPr>
          <p:cNvPr id="15" name="Rectangle 14"/>
          <p:cNvSpPr/>
          <p:nvPr/>
        </p:nvSpPr>
        <p:spPr>
          <a:xfrm>
            <a:off x="5148000" y="486000"/>
            <a:ext cx="827999" cy="827999"/>
          </a:xfrm>
          <a:prstGeom prst="rect">
            <a:avLst/>
          </a:prstGeom>
          <a:solidFill>
            <a:srgbClr val="FFFFFF"/>
          </a:solidFill>
          <a:ln w="7620">
            <a:solidFill>
              <a:srgbClr val="ADB7B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36000" y="1530000"/>
            <a:ext cx="648000" cy="827999"/>
          </a:xfrm>
          <a:prstGeom prst="rect">
            <a:avLst/>
          </a:prstGeom>
          <a:noFill/>
        </p:spPr>
        <p:txBody>
          <a:bodyPr wrap="square" lIns="10800" rIns="10800" tIns="3600" bIns="3600" anchor="ctr">
            <a:spAutoFit/>
          </a:bodyPr>
          <a:lstStyle/>
          <a:p>
            <a:pPr algn="ctr">
              <a:spcBef>
                <a:spcPts val="0"/>
              </a:spcBef>
              <a:spcAft>
                <a:spcPts val="0"/>
              </a:spcAft>
            </a:pPr>
            <a:r>
              <a:rPr sz="850" b="0">
                <a:solidFill>
                  <a:srgbClr val="263746"/>
                </a:solidFill>
                <a:latin typeface="Arial"/>
              </a:rPr>
              <a:t>congo</a:t>
            </a:r>
          </a:p>
          <a:p>
            <a:pPr algn="ctr">
              <a:spcBef>
                <a:spcPts val="0"/>
              </a:spcBef>
              <a:spcAft>
                <a:spcPts val="0"/>
              </a:spcAft>
            </a:pPr>
            <a:r>
              <a:rPr sz="850" b="0">
                <a:solidFill>
                  <a:srgbClr val="263746"/>
                </a:solidFill>
                <a:latin typeface="Arial"/>
              </a:rPr>
              <a:t>volcano</a:t>
            </a:r>
          </a:p>
          <a:p>
            <a:pPr algn="ctr">
              <a:spcBef>
                <a:spcPts val="0"/>
              </a:spcBef>
              <a:spcAft>
                <a:spcPts val="0"/>
              </a:spcAft>
            </a:pPr>
            <a:r>
              <a:rPr sz="850" b="0">
                <a:solidFill>
                  <a:srgbClr val="263746"/>
                </a:solidFill>
                <a:latin typeface="Arial"/>
              </a:rPr>
              <a:t>00000092</a:t>
            </a:r>
          </a:p>
          <a:p>
            <a:pPr algn="ctr">
              <a:spcBef>
                <a:spcPts val="0"/>
              </a:spcBef>
              <a:spcAft>
                <a:spcPts val="0"/>
              </a:spcAft>
            </a:pPr>
            <a:r>
              <a:rPr sz="850" b="0">
                <a:solidFill>
                  <a:srgbClr val="263746"/>
                </a:solidFill>
                <a:latin typeface="Arial"/>
              </a:rPr>
              <a:t>512 × 512 px</a:t>
            </a:r>
          </a:p>
        </p:txBody>
      </p:sp>
      <p:pic>
        <p:nvPicPr>
          <p:cNvPr id="17" name="Picture 16" descr="congo-volcano_00000092_0_RGB.png"/>
          <p:cNvPicPr>
            <a:picLocks noChangeAspect="1"/>
          </p:cNvPicPr>
          <p:nvPr/>
        </p:nvPicPr>
        <p:blipFill>
          <a:blip r:embed="rId8"/>
          <a:stretch>
            <a:fillRect/>
          </a:stretch>
        </p:blipFill>
        <p:spPr>
          <a:xfrm>
            <a:off x="720000" y="1530000"/>
            <a:ext cx="827999" cy="827999"/>
          </a:xfrm>
          <a:prstGeom prst="rect">
            <a:avLst/>
          </a:prstGeom>
          <a:ln w="5080">
            <a:solidFill>
              <a:srgbClr val="A7ADB3"/>
            </a:solidFill>
          </a:ln>
        </p:spPr>
      </p:pic>
      <p:pic>
        <p:nvPicPr>
          <p:cNvPr id="18" name="Picture 17" descr="congo-volcano_00000092_1_SAR.png"/>
          <p:cNvPicPr>
            <a:picLocks noChangeAspect="1"/>
          </p:cNvPicPr>
          <p:nvPr/>
        </p:nvPicPr>
        <p:blipFill>
          <a:blip r:embed="rId9"/>
          <a:stretch>
            <a:fillRect/>
          </a:stretch>
        </p:blipFill>
        <p:spPr>
          <a:xfrm>
            <a:off x="1605600" y="1530000"/>
            <a:ext cx="827999" cy="827999"/>
          </a:xfrm>
          <a:prstGeom prst="rect">
            <a:avLst/>
          </a:prstGeom>
          <a:ln w="5080">
            <a:solidFill>
              <a:srgbClr val="A7ADB3"/>
            </a:solidFill>
          </a:ln>
        </p:spPr>
      </p:pic>
      <p:pic>
        <p:nvPicPr>
          <p:cNvPr id="19" name="Picture 18" descr="congo-volcano_00000092_2_GT.png"/>
          <p:cNvPicPr>
            <a:picLocks noChangeAspect="1"/>
          </p:cNvPicPr>
          <p:nvPr/>
        </p:nvPicPr>
        <p:blipFill>
          <a:blip r:embed="rId10"/>
          <a:stretch>
            <a:fillRect/>
          </a:stretch>
        </p:blipFill>
        <p:spPr>
          <a:xfrm>
            <a:off x="2491200" y="1530000"/>
            <a:ext cx="827999" cy="827999"/>
          </a:xfrm>
          <a:prstGeom prst="rect">
            <a:avLst/>
          </a:prstGeom>
          <a:ln w="5080">
            <a:solidFill>
              <a:srgbClr val="A7ADB3"/>
            </a:solidFill>
          </a:ln>
        </p:spPr>
      </p:pic>
      <p:pic>
        <p:nvPicPr>
          <p:cNvPr id="20" name="Picture 19" descr="congo-volcano_00000092_7_DamageFormer.png"/>
          <p:cNvPicPr>
            <a:picLocks noChangeAspect="1"/>
          </p:cNvPicPr>
          <p:nvPr/>
        </p:nvPicPr>
        <p:blipFill>
          <a:blip r:embed="rId11"/>
          <a:stretch>
            <a:fillRect/>
          </a:stretch>
        </p:blipFill>
        <p:spPr>
          <a:xfrm>
            <a:off x="3376799" y="1530000"/>
            <a:ext cx="827999" cy="827999"/>
          </a:xfrm>
          <a:prstGeom prst="rect">
            <a:avLst/>
          </a:prstGeom>
          <a:ln w="5080">
            <a:solidFill>
              <a:srgbClr val="A7ADB3"/>
            </a:solidFill>
          </a:ln>
        </p:spPr>
      </p:pic>
      <p:pic>
        <p:nvPicPr>
          <p:cNvPr id="21" name="Picture 20" descr="congo-volcano_00000092_8_MPF.png"/>
          <p:cNvPicPr>
            <a:picLocks noChangeAspect="1"/>
          </p:cNvPicPr>
          <p:nvPr/>
        </p:nvPicPr>
        <p:blipFill>
          <a:blip r:embed="rId12"/>
          <a:stretch>
            <a:fillRect/>
          </a:stretch>
        </p:blipFill>
        <p:spPr>
          <a:xfrm>
            <a:off x="4262400" y="1530000"/>
            <a:ext cx="827999" cy="827999"/>
          </a:xfrm>
          <a:prstGeom prst="rect">
            <a:avLst/>
          </a:prstGeom>
          <a:ln w="5080">
            <a:solidFill>
              <a:srgbClr val="A7ADB3"/>
            </a:solidFill>
          </a:ln>
        </p:spPr>
      </p:pic>
      <p:sp>
        <p:nvSpPr>
          <p:cNvPr id="22" name="Rectangle 21"/>
          <p:cNvSpPr/>
          <p:nvPr/>
        </p:nvSpPr>
        <p:spPr>
          <a:xfrm>
            <a:off x="5148000" y="1530000"/>
            <a:ext cx="827999" cy="827999"/>
          </a:xfrm>
          <a:prstGeom prst="rect">
            <a:avLst/>
          </a:prstGeom>
          <a:solidFill>
            <a:srgbClr val="FFFFFF"/>
          </a:solidFill>
          <a:ln w="7620">
            <a:solidFill>
              <a:srgbClr val="ADB7B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846000" y="3751200"/>
            <a:ext cx="100800" cy="100800"/>
          </a:xfrm>
          <a:prstGeom prst="rect">
            <a:avLst/>
          </a:prstGeom>
          <a:solidFill>
            <a:srgbClr val="FFFFFF"/>
          </a:solidFill>
          <a:ln>
            <a:solidFill>
              <a:srgbClr val="8F99A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982800" y="3708000"/>
            <a:ext cx="936000" cy="180000"/>
          </a:xfrm>
          <a:prstGeom prst="rect">
            <a:avLst/>
          </a:prstGeom>
          <a:noFill/>
        </p:spPr>
        <p:txBody>
          <a:bodyPr wrap="square" lIns="10800" rIns="10800" tIns="3600" bIns="3600" anchor="ctr">
            <a:spAutoFit/>
          </a:bodyPr>
          <a:lstStyle/>
          <a:p>
            <a:pPr algn="l">
              <a:spcBef>
                <a:spcPts val="0"/>
              </a:spcBef>
              <a:spcAft>
                <a:spcPts val="0"/>
              </a:spcAft>
            </a:pPr>
            <a:r>
              <a:rPr sz="850" b="0">
                <a:solidFill>
                  <a:srgbClr val="263746"/>
                </a:solidFill>
                <a:latin typeface="Arial"/>
              </a:rPr>
              <a:t>Background</a:t>
            </a:r>
          </a:p>
        </p:txBody>
      </p:sp>
      <p:sp>
        <p:nvSpPr>
          <p:cNvPr id="25" name="Rectangle 24"/>
          <p:cNvSpPr/>
          <p:nvPr/>
        </p:nvSpPr>
        <p:spPr>
          <a:xfrm>
            <a:off x="1962000" y="3751200"/>
            <a:ext cx="100800" cy="100800"/>
          </a:xfrm>
          <a:prstGeom prst="rect">
            <a:avLst/>
          </a:prstGeom>
          <a:solidFill>
            <a:srgbClr val="46B579"/>
          </a:solidFill>
          <a:ln>
            <a:solidFill>
              <a:srgbClr val="8F99A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2098800" y="3708000"/>
            <a:ext cx="936000" cy="180000"/>
          </a:xfrm>
          <a:prstGeom prst="rect">
            <a:avLst/>
          </a:prstGeom>
          <a:noFill/>
        </p:spPr>
        <p:txBody>
          <a:bodyPr wrap="square" lIns="10800" rIns="10800" tIns="3600" bIns="3600" anchor="ctr">
            <a:spAutoFit/>
          </a:bodyPr>
          <a:lstStyle/>
          <a:p>
            <a:pPr algn="l">
              <a:spcBef>
                <a:spcPts val="0"/>
              </a:spcBef>
              <a:spcAft>
                <a:spcPts val="0"/>
              </a:spcAft>
            </a:pPr>
            <a:r>
              <a:rPr sz="850" b="0">
                <a:solidFill>
                  <a:srgbClr val="263746"/>
                </a:solidFill>
                <a:latin typeface="Arial"/>
              </a:rPr>
              <a:t>Intact</a:t>
            </a:r>
          </a:p>
        </p:txBody>
      </p:sp>
      <p:sp>
        <p:nvSpPr>
          <p:cNvPr id="27" name="Rectangle 26"/>
          <p:cNvSpPr/>
          <p:nvPr/>
        </p:nvSpPr>
        <p:spPr>
          <a:xfrm>
            <a:off x="3078000" y="3751200"/>
            <a:ext cx="100800" cy="100800"/>
          </a:xfrm>
          <a:prstGeom prst="rect">
            <a:avLst/>
          </a:prstGeom>
          <a:solidFill>
            <a:srgbClr val="E4BD8B"/>
          </a:solidFill>
          <a:ln>
            <a:solidFill>
              <a:srgbClr val="8F99A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3214800" y="3708000"/>
            <a:ext cx="936000" cy="180000"/>
          </a:xfrm>
          <a:prstGeom prst="rect">
            <a:avLst/>
          </a:prstGeom>
          <a:noFill/>
        </p:spPr>
        <p:txBody>
          <a:bodyPr wrap="square" lIns="10800" rIns="10800" tIns="3600" bIns="3600" anchor="ctr">
            <a:spAutoFit/>
          </a:bodyPr>
          <a:lstStyle/>
          <a:p>
            <a:pPr algn="l">
              <a:spcBef>
                <a:spcPts val="0"/>
              </a:spcBef>
              <a:spcAft>
                <a:spcPts val="0"/>
              </a:spcAft>
            </a:pPr>
            <a:r>
              <a:rPr sz="850" b="0">
                <a:solidFill>
                  <a:srgbClr val="263746"/>
                </a:solidFill>
                <a:latin typeface="Arial"/>
              </a:rPr>
              <a:t>Damaged</a:t>
            </a:r>
          </a:p>
        </p:txBody>
      </p:sp>
      <p:sp>
        <p:nvSpPr>
          <p:cNvPr id="29" name="Rectangle 28"/>
          <p:cNvSpPr/>
          <p:nvPr/>
        </p:nvSpPr>
        <p:spPr>
          <a:xfrm>
            <a:off x="4194000" y="3751200"/>
            <a:ext cx="100800" cy="100800"/>
          </a:xfrm>
          <a:prstGeom prst="rect">
            <a:avLst/>
          </a:prstGeom>
          <a:solidFill>
            <a:srgbClr val="B64645"/>
          </a:solidFill>
          <a:ln>
            <a:solidFill>
              <a:srgbClr val="8F99A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4330800" y="3708000"/>
            <a:ext cx="936000" cy="180000"/>
          </a:xfrm>
          <a:prstGeom prst="rect">
            <a:avLst/>
          </a:prstGeom>
          <a:noFill/>
        </p:spPr>
        <p:txBody>
          <a:bodyPr wrap="square" lIns="10800" rIns="10800" tIns="3600" bIns="3600" anchor="ctr">
            <a:spAutoFit/>
          </a:bodyPr>
          <a:lstStyle/>
          <a:p>
            <a:pPr algn="l">
              <a:spcBef>
                <a:spcPts val="0"/>
              </a:spcBef>
              <a:spcAft>
                <a:spcPts val="0"/>
              </a:spcAft>
            </a:pPr>
            <a:r>
              <a:rPr sz="850" b="0">
                <a:solidFill>
                  <a:srgbClr val="263746"/>
                </a:solidFill>
                <a:latin typeface="Arial"/>
              </a:rPr>
              <a:t>Destroyed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000" y="18000"/>
            <a:ext cx="5976000" cy="198000"/>
          </a:xfrm>
          <a:prstGeom prst="rect">
            <a:avLst/>
          </a:prstGeom>
          <a:noFill/>
        </p:spPr>
        <p:txBody>
          <a:bodyPr wrap="square" lIns="10800" rIns="10800" tIns="3600" bIns="3600" anchor="ctr">
            <a:spAutoFit/>
          </a:bodyPr>
          <a:lstStyle/>
          <a:p>
            <a:pPr algn="ctr">
              <a:spcBef>
                <a:spcPts val="0"/>
              </a:spcBef>
              <a:spcAft>
                <a:spcPts val="0"/>
              </a:spcAft>
            </a:pPr>
            <a:r>
              <a:rPr sz="1000" b="1">
                <a:solidFill>
                  <a:srgbClr val="263746"/>
                </a:solidFill>
                <a:latin typeface="Arial"/>
              </a:rPr>
              <a:t>Earthquake and conflict: six selected crops</a:t>
            </a:r>
          </a:p>
        </p:txBody>
      </p:sp>
      <p:sp>
        <p:nvSpPr>
          <p:cNvPr id="3" name="TextBox 2"/>
          <p:cNvSpPr txBox="1"/>
          <p:nvPr/>
        </p:nvSpPr>
        <p:spPr>
          <a:xfrm>
            <a:off x="810000" y="216000"/>
            <a:ext cx="558000" cy="270000"/>
          </a:xfrm>
          <a:prstGeom prst="rect">
            <a:avLst/>
          </a:prstGeom>
          <a:noFill/>
        </p:spPr>
        <p:txBody>
          <a:bodyPr wrap="square" lIns="10800" rIns="10800" tIns="3600" bIns="3600" anchor="ctr">
            <a:spAutoFit/>
          </a:bodyPr>
          <a:lstStyle/>
          <a:p>
            <a:pPr algn="ctr">
              <a:spcBef>
                <a:spcPts val="0"/>
              </a:spcBef>
              <a:spcAft>
                <a:spcPts val="0"/>
              </a:spcAft>
            </a:pPr>
            <a:r>
              <a:rPr sz="740" b="1">
                <a:solidFill>
                  <a:srgbClr val="263746"/>
                </a:solidFill>
                <a:latin typeface="Arial"/>
              </a:rPr>
              <a:t>RGB</a:t>
            </a:r>
          </a:p>
        </p:txBody>
      </p:sp>
      <p:sp>
        <p:nvSpPr>
          <p:cNvPr id="4" name="TextBox 3"/>
          <p:cNvSpPr txBox="1"/>
          <p:nvPr/>
        </p:nvSpPr>
        <p:spPr>
          <a:xfrm>
            <a:off x="1386000" y="216000"/>
            <a:ext cx="558000" cy="270000"/>
          </a:xfrm>
          <a:prstGeom prst="rect">
            <a:avLst/>
          </a:prstGeom>
          <a:noFill/>
        </p:spPr>
        <p:txBody>
          <a:bodyPr wrap="square" lIns="10800" rIns="10800" tIns="3600" bIns="3600" anchor="ctr">
            <a:spAutoFit/>
          </a:bodyPr>
          <a:lstStyle/>
          <a:p>
            <a:pPr algn="ctr">
              <a:spcBef>
                <a:spcPts val="0"/>
              </a:spcBef>
              <a:spcAft>
                <a:spcPts val="0"/>
              </a:spcAft>
            </a:pPr>
            <a:r>
              <a:rPr sz="740" b="1">
                <a:solidFill>
                  <a:srgbClr val="263746"/>
                </a:solidFill>
                <a:latin typeface="Arial"/>
              </a:rPr>
              <a:t>SAR</a:t>
            </a:r>
          </a:p>
        </p:txBody>
      </p:sp>
      <p:sp>
        <p:nvSpPr>
          <p:cNvPr id="5" name="TextBox 4"/>
          <p:cNvSpPr txBox="1"/>
          <p:nvPr/>
        </p:nvSpPr>
        <p:spPr>
          <a:xfrm>
            <a:off x="1962000" y="216000"/>
            <a:ext cx="558000" cy="270000"/>
          </a:xfrm>
          <a:prstGeom prst="rect">
            <a:avLst/>
          </a:prstGeom>
          <a:noFill/>
        </p:spPr>
        <p:txBody>
          <a:bodyPr wrap="square" lIns="10800" rIns="10800" tIns="3600" bIns="3600" anchor="ctr">
            <a:spAutoFit/>
          </a:bodyPr>
          <a:lstStyle/>
          <a:p>
            <a:pPr algn="ctr">
              <a:spcBef>
                <a:spcPts val="0"/>
              </a:spcBef>
              <a:spcAft>
                <a:spcPts val="0"/>
              </a:spcAft>
            </a:pPr>
            <a:r>
              <a:rPr sz="740" b="1">
                <a:solidFill>
                  <a:srgbClr val="263746"/>
                </a:solidFill>
                <a:latin typeface="Arial"/>
              </a:rPr>
              <a:t>GT</a:t>
            </a:r>
          </a:p>
        </p:txBody>
      </p:sp>
      <p:sp>
        <p:nvSpPr>
          <p:cNvPr id="6" name="TextBox 5"/>
          <p:cNvSpPr txBox="1"/>
          <p:nvPr/>
        </p:nvSpPr>
        <p:spPr>
          <a:xfrm>
            <a:off x="2538000" y="216000"/>
            <a:ext cx="558000" cy="270000"/>
          </a:xfrm>
          <a:prstGeom prst="rect">
            <a:avLst/>
          </a:prstGeom>
          <a:noFill/>
        </p:spPr>
        <p:txBody>
          <a:bodyPr wrap="square" lIns="10800" rIns="10800" tIns="3600" bIns="3600" anchor="ctr">
            <a:spAutoFit/>
          </a:bodyPr>
          <a:lstStyle/>
          <a:p>
            <a:pPr algn="ctr">
              <a:spcBef>
                <a:spcPts val="0"/>
              </a:spcBef>
              <a:spcAft>
                <a:spcPts val="0"/>
              </a:spcAft>
            </a:pPr>
            <a:r>
              <a:rPr sz="740" b="1">
                <a:solidFill>
                  <a:srgbClr val="263746"/>
                </a:solidFill>
                <a:latin typeface="Arial"/>
              </a:rPr>
              <a:t>U-Net</a:t>
            </a:r>
          </a:p>
        </p:txBody>
      </p:sp>
      <p:sp>
        <p:nvSpPr>
          <p:cNvPr id="7" name="TextBox 6"/>
          <p:cNvSpPr txBox="1"/>
          <p:nvPr/>
        </p:nvSpPr>
        <p:spPr>
          <a:xfrm>
            <a:off x="3114000" y="216000"/>
            <a:ext cx="558000" cy="270000"/>
          </a:xfrm>
          <a:prstGeom prst="rect">
            <a:avLst/>
          </a:prstGeom>
          <a:noFill/>
        </p:spPr>
        <p:txBody>
          <a:bodyPr wrap="square" lIns="10800" rIns="10800" tIns="3600" bIns="3600" anchor="ctr">
            <a:spAutoFit/>
          </a:bodyPr>
          <a:lstStyle/>
          <a:p>
            <a:pPr algn="ctr">
              <a:spcBef>
                <a:spcPts val="0"/>
              </a:spcBef>
              <a:spcAft>
                <a:spcPts val="0"/>
              </a:spcAft>
            </a:pPr>
            <a:r>
              <a:rPr sz="740" b="1">
                <a:solidFill>
                  <a:srgbClr val="263746"/>
                </a:solidFill>
                <a:latin typeface="Arial"/>
              </a:rPr>
              <a:t>DeepLab</a:t>
            </a:r>
          </a:p>
          <a:p>
            <a:pPr algn="ctr">
              <a:spcBef>
                <a:spcPts val="0"/>
              </a:spcBef>
              <a:spcAft>
                <a:spcPts val="0"/>
              </a:spcAft>
            </a:pPr>
            <a:r>
              <a:rPr sz="740" b="1">
                <a:solidFill>
                  <a:srgbClr val="263746"/>
                </a:solidFill>
                <a:latin typeface="Arial"/>
              </a:rPr>
              <a:t>v3+</a:t>
            </a:r>
          </a:p>
        </p:txBody>
      </p:sp>
      <p:sp>
        <p:nvSpPr>
          <p:cNvPr id="8" name="TextBox 7"/>
          <p:cNvSpPr txBox="1"/>
          <p:nvPr/>
        </p:nvSpPr>
        <p:spPr>
          <a:xfrm>
            <a:off x="3690000" y="216000"/>
            <a:ext cx="558000" cy="270000"/>
          </a:xfrm>
          <a:prstGeom prst="rect">
            <a:avLst/>
          </a:prstGeom>
          <a:noFill/>
        </p:spPr>
        <p:txBody>
          <a:bodyPr wrap="square" lIns="10800" rIns="10800" tIns="3600" bIns="3600" anchor="ctr">
            <a:spAutoFit/>
          </a:bodyPr>
          <a:lstStyle/>
          <a:p>
            <a:pPr algn="ctr">
              <a:spcBef>
                <a:spcPts val="0"/>
              </a:spcBef>
              <a:spcAft>
                <a:spcPts val="0"/>
              </a:spcAft>
            </a:pPr>
            <a:r>
              <a:rPr sz="740" b="1">
                <a:solidFill>
                  <a:srgbClr val="263746"/>
                </a:solidFill>
                <a:latin typeface="Arial"/>
              </a:rPr>
              <a:t>SiamAttn</a:t>
            </a:r>
          </a:p>
          <a:p>
            <a:pPr algn="ctr">
              <a:spcBef>
                <a:spcPts val="0"/>
              </a:spcBef>
              <a:spcAft>
                <a:spcPts val="0"/>
              </a:spcAft>
            </a:pPr>
            <a:r>
              <a:rPr sz="740" b="1">
                <a:solidFill>
                  <a:srgbClr val="263746"/>
                </a:solidFill>
                <a:latin typeface="Arial"/>
              </a:rPr>
              <a:t>UNet</a:t>
            </a:r>
          </a:p>
        </p:txBody>
      </p:sp>
      <p:sp>
        <p:nvSpPr>
          <p:cNvPr id="9" name="TextBox 8"/>
          <p:cNvSpPr txBox="1"/>
          <p:nvPr/>
        </p:nvSpPr>
        <p:spPr>
          <a:xfrm>
            <a:off x="4266000" y="216000"/>
            <a:ext cx="558000" cy="270000"/>
          </a:xfrm>
          <a:prstGeom prst="rect">
            <a:avLst/>
          </a:prstGeom>
          <a:noFill/>
        </p:spPr>
        <p:txBody>
          <a:bodyPr wrap="square" lIns="10800" rIns="10800" tIns="3600" bIns="3600" anchor="ctr">
            <a:spAutoFit/>
          </a:bodyPr>
          <a:lstStyle/>
          <a:p>
            <a:pPr algn="ctr">
              <a:spcBef>
                <a:spcPts val="0"/>
              </a:spcBef>
              <a:spcAft>
                <a:spcPts val="0"/>
              </a:spcAft>
            </a:pPr>
            <a:r>
              <a:rPr sz="740" b="1">
                <a:solidFill>
                  <a:srgbClr val="263746"/>
                </a:solidFill>
                <a:latin typeface="Arial"/>
              </a:rPr>
              <a:t>SiamCRNN</a:t>
            </a:r>
          </a:p>
        </p:txBody>
      </p:sp>
      <p:sp>
        <p:nvSpPr>
          <p:cNvPr id="10" name="TextBox 9"/>
          <p:cNvSpPr txBox="1"/>
          <p:nvPr/>
        </p:nvSpPr>
        <p:spPr>
          <a:xfrm>
            <a:off x="4842000" y="216000"/>
            <a:ext cx="558000" cy="270000"/>
          </a:xfrm>
          <a:prstGeom prst="rect">
            <a:avLst/>
          </a:prstGeom>
          <a:noFill/>
        </p:spPr>
        <p:txBody>
          <a:bodyPr wrap="square" lIns="10800" rIns="10800" tIns="3600" bIns="3600" anchor="ctr">
            <a:spAutoFit/>
          </a:bodyPr>
          <a:lstStyle/>
          <a:p>
            <a:pPr algn="ctr">
              <a:spcBef>
                <a:spcPts val="0"/>
              </a:spcBef>
              <a:spcAft>
                <a:spcPts val="0"/>
              </a:spcAft>
            </a:pPr>
            <a:r>
              <a:rPr sz="740" b="1">
                <a:solidFill>
                  <a:srgbClr val="263746"/>
                </a:solidFill>
                <a:latin typeface="Arial"/>
              </a:rPr>
              <a:t>Damage</a:t>
            </a:r>
          </a:p>
          <a:p>
            <a:pPr algn="ctr">
              <a:spcBef>
                <a:spcPts val="0"/>
              </a:spcBef>
              <a:spcAft>
                <a:spcPts val="0"/>
              </a:spcAft>
            </a:pPr>
            <a:r>
              <a:rPr sz="740" b="1">
                <a:solidFill>
                  <a:srgbClr val="263746"/>
                </a:solidFill>
                <a:latin typeface="Arial"/>
              </a:rPr>
              <a:t>Former</a:t>
            </a:r>
          </a:p>
        </p:txBody>
      </p:sp>
      <p:sp>
        <p:nvSpPr>
          <p:cNvPr id="11" name="TextBox 10"/>
          <p:cNvSpPr txBox="1"/>
          <p:nvPr/>
        </p:nvSpPr>
        <p:spPr>
          <a:xfrm>
            <a:off x="5418000" y="216000"/>
            <a:ext cx="558000" cy="270000"/>
          </a:xfrm>
          <a:prstGeom prst="rect">
            <a:avLst/>
          </a:prstGeom>
          <a:noFill/>
        </p:spPr>
        <p:txBody>
          <a:bodyPr wrap="square" lIns="10800" rIns="10800" tIns="3600" bIns="3600" anchor="ctr">
            <a:spAutoFit/>
          </a:bodyPr>
          <a:lstStyle/>
          <a:p>
            <a:pPr algn="ctr">
              <a:spcBef>
                <a:spcPts val="0"/>
              </a:spcBef>
              <a:spcAft>
                <a:spcPts val="0"/>
              </a:spcAft>
            </a:pPr>
            <a:r>
              <a:rPr sz="740" b="1">
                <a:solidFill>
                  <a:srgbClr val="263746"/>
                </a:solidFill>
                <a:latin typeface="Arial"/>
              </a:rPr>
              <a:t>MPF</a:t>
            </a:r>
          </a:p>
        </p:txBody>
      </p:sp>
      <p:sp>
        <p:nvSpPr>
          <p:cNvPr id="12" name="TextBox 11"/>
          <p:cNvSpPr txBox="1"/>
          <p:nvPr/>
        </p:nvSpPr>
        <p:spPr>
          <a:xfrm>
            <a:off x="36000" y="503999"/>
            <a:ext cx="648000" cy="525600"/>
          </a:xfrm>
          <a:prstGeom prst="rect">
            <a:avLst/>
          </a:prstGeom>
          <a:noFill/>
        </p:spPr>
        <p:txBody>
          <a:bodyPr wrap="square" lIns="10800" rIns="10800" tIns="3600" bIns="3600" anchor="ctr">
            <a:spAutoFit/>
          </a:bodyPr>
          <a:lstStyle/>
          <a:p>
            <a:pPr algn="ctr">
              <a:spcBef>
                <a:spcPts val="0"/>
              </a:spcBef>
              <a:spcAft>
                <a:spcPts val="0"/>
              </a:spcAft>
            </a:pPr>
            <a:r>
              <a:rPr sz="800" b="0">
                <a:solidFill>
                  <a:srgbClr val="263746"/>
                </a:solidFill>
                <a:latin typeface="Arial"/>
              </a:rPr>
              <a:t>Türkiye</a:t>
            </a:r>
          </a:p>
          <a:p>
            <a:pPr algn="ctr">
              <a:spcBef>
                <a:spcPts val="0"/>
              </a:spcBef>
              <a:spcAft>
                <a:spcPts val="0"/>
              </a:spcAft>
            </a:pPr>
            <a:r>
              <a:rPr sz="800" b="0">
                <a:solidFill>
                  <a:srgbClr val="263746"/>
                </a:solidFill>
                <a:latin typeface="Arial"/>
              </a:rPr>
              <a:t>earthquake</a:t>
            </a:r>
          </a:p>
          <a:p>
            <a:pPr algn="ctr">
              <a:spcBef>
                <a:spcPts val="0"/>
              </a:spcBef>
              <a:spcAft>
                <a:spcPts val="0"/>
              </a:spcAft>
            </a:pPr>
            <a:r>
              <a:rPr sz="800" b="0">
                <a:solidFill>
                  <a:srgbClr val="263746"/>
                </a:solidFill>
                <a:latin typeface="Arial"/>
              </a:rPr>
              <a:t>00001065</a:t>
            </a:r>
          </a:p>
          <a:p>
            <a:pPr algn="ctr">
              <a:spcBef>
                <a:spcPts val="0"/>
              </a:spcBef>
              <a:spcAft>
                <a:spcPts val="0"/>
              </a:spcAft>
            </a:pPr>
            <a:r>
              <a:rPr sz="800" b="0">
                <a:solidFill>
                  <a:srgbClr val="263746"/>
                </a:solidFill>
                <a:latin typeface="Arial"/>
              </a:rPr>
              <a:t>512 × 512 px</a:t>
            </a:r>
          </a:p>
        </p:txBody>
      </p:sp>
      <p:pic>
        <p:nvPicPr>
          <p:cNvPr id="13" name="Picture 12" descr="turkey-earthquake_00001065_0_RGB.png"/>
          <p:cNvPicPr>
            <a:picLocks noChangeAspect="1"/>
          </p:cNvPicPr>
          <p:nvPr/>
        </p:nvPicPr>
        <p:blipFill>
          <a:blip r:embed="rId3"/>
          <a:stretch>
            <a:fillRect/>
          </a:stretch>
        </p:blipFill>
        <p:spPr>
          <a:xfrm>
            <a:off x="810000" y="503999"/>
            <a:ext cx="525600" cy="525600"/>
          </a:xfrm>
          <a:prstGeom prst="rect">
            <a:avLst/>
          </a:prstGeom>
          <a:ln w="5080">
            <a:solidFill>
              <a:srgbClr val="A7ADB3"/>
            </a:solidFill>
          </a:ln>
        </p:spPr>
      </p:pic>
      <p:pic>
        <p:nvPicPr>
          <p:cNvPr id="14" name="Picture 13" descr="turkey-earthquake_00001065_1_SAR.png"/>
          <p:cNvPicPr>
            <a:picLocks noChangeAspect="1"/>
          </p:cNvPicPr>
          <p:nvPr/>
        </p:nvPicPr>
        <p:blipFill>
          <a:blip r:embed="rId4"/>
          <a:stretch>
            <a:fillRect/>
          </a:stretch>
        </p:blipFill>
        <p:spPr>
          <a:xfrm>
            <a:off x="1386000" y="503999"/>
            <a:ext cx="525600" cy="525600"/>
          </a:xfrm>
          <a:prstGeom prst="rect">
            <a:avLst/>
          </a:prstGeom>
          <a:ln w="5080">
            <a:solidFill>
              <a:srgbClr val="A7ADB3"/>
            </a:solidFill>
          </a:ln>
        </p:spPr>
      </p:pic>
      <p:pic>
        <p:nvPicPr>
          <p:cNvPr id="15" name="Picture 14" descr="turkey-earthquake_00001065_2_GT.png"/>
          <p:cNvPicPr>
            <a:picLocks noChangeAspect="1"/>
          </p:cNvPicPr>
          <p:nvPr/>
        </p:nvPicPr>
        <p:blipFill>
          <a:blip r:embed="rId5"/>
          <a:stretch>
            <a:fillRect/>
          </a:stretch>
        </p:blipFill>
        <p:spPr>
          <a:xfrm>
            <a:off x="1962000" y="503999"/>
            <a:ext cx="525600" cy="525600"/>
          </a:xfrm>
          <a:prstGeom prst="rect">
            <a:avLst/>
          </a:prstGeom>
          <a:ln w="5080">
            <a:solidFill>
              <a:srgbClr val="A7ADB3"/>
            </a:solidFill>
          </a:ln>
        </p:spPr>
      </p:pic>
      <p:pic>
        <p:nvPicPr>
          <p:cNvPr id="16" name="Picture 15" descr="turkey-earthquake_00001065_3_U-Net.png"/>
          <p:cNvPicPr>
            <a:picLocks noChangeAspect="1"/>
          </p:cNvPicPr>
          <p:nvPr/>
        </p:nvPicPr>
        <p:blipFill>
          <a:blip r:embed="rId6"/>
          <a:stretch>
            <a:fillRect/>
          </a:stretch>
        </p:blipFill>
        <p:spPr>
          <a:xfrm>
            <a:off x="2538000" y="503999"/>
            <a:ext cx="525600" cy="525600"/>
          </a:xfrm>
          <a:prstGeom prst="rect">
            <a:avLst/>
          </a:prstGeom>
          <a:ln w="5080">
            <a:solidFill>
              <a:srgbClr val="A7ADB3"/>
            </a:solidFill>
          </a:ln>
        </p:spPr>
      </p:pic>
      <p:pic>
        <p:nvPicPr>
          <p:cNvPr id="17" name="Picture 16" descr="turkey-earthquake_00001065_4_DeepLabv3+.png"/>
          <p:cNvPicPr>
            <a:picLocks noChangeAspect="1"/>
          </p:cNvPicPr>
          <p:nvPr/>
        </p:nvPicPr>
        <p:blipFill>
          <a:blip r:embed="rId7"/>
          <a:stretch>
            <a:fillRect/>
          </a:stretch>
        </p:blipFill>
        <p:spPr>
          <a:xfrm>
            <a:off x="3114000" y="503999"/>
            <a:ext cx="525600" cy="525600"/>
          </a:xfrm>
          <a:prstGeom prst="rect">
            <a:avLst/>
          </a:prstGeom>
          <a:ln w="5080">
            <a:solidFill>
              <a:srgbClr val="A7ADB3"/>
            </a:solidFill>
          </a:ln>
        </p:spPr>
      </p:pic>
      <p:pic>
        <p:nvPicPr>
          <p:cNvPr id="18" name="Picture 17" descr="turkey-earthquake_00001065_5_SiamAttnUNet.png"/>
          <p:cNvPicPr>
            <a:picLocks noChangeAspect="1"/>
          </p:cNvPicPr>
          <p:nvPr/>
        </p:nvPicPr>
        <p:blipFill>
          <a:blip r:embed="rId8"/>
          <a:stretch>
            <a:fillRect/>
          </a:stretch>
        </p:blipFill>
        <p:spPr>
          <a:xfrm>
            <a:off x="3690000" y="503999"/>
            <a:ext cx="525600" cy="525600"/>
          </a:xfrm>
          <a:prstGeom prst="rect">
            <a:avLst/>
          </a:prstGeom>
          <a:ln w="5080">
            <a:solidFill>
              <a:srgbClr val="A7ADB3"/>
            </a:solidFill>
          </a:ln>
        </p:spPr>
      </p:pic>
      <p:pic>
        <p:nvPicPr>
          <p:cNvPr id="19" name="Picture 18" descr="turkey-earthquake_00001065_6_SiamCRNN.png"/>
          <p:cNvPicPr>
            <a:picLocks noChangeAspect="1"/>
          </p:cNvPicPr>
          <p:nvPr/>
        </p:nvPicPr>
        <p:blipFill>
          <a:blip r:embed="rId9"/>
          <a:stretch>
            <a:fillRect/>
          </a:stretch>
        </p:blipFill>
        <p:spPr>
          <a:xfrm>
            <a:off x="4266000" y="503999"/>
            <a:ext cx="525600" cy="525600"/>
          </a:xfrm>
          <a:prstGeom prst="rect">
            <a:avLst/>
          </a:prstGeom>
          <a:ln w="5080">
            <a:solidFill>
              <a:srgbClr val="A7ADB3"/>
            </a:solidFill>
          </a:ln>
        </p:spPr>
      </p:pic>
      <p:pic>
        <p:nvPicPr>
          <p:cNvPr id="20" name="Picture 19" descr="turkey-earthquake_00001065_7_DamageFormer.png"/>
          <p:cNvPicPr>
            <a:picLocks noChangeAspect="1"/>
          </p:cNvPicPr>
          <p:nvPr/>
        </p:nvPicPr>
        <p:blipFill>
          <a:blip r:embed="rId10"/>
          <a:stretch>
            <a:fillRect/>
          </a:stretch>
        </p:blipFill>
        <p:spPr>
          <a:xfrm>
            <a:off x="4842000" y="503999"/>
            <a:ext cx="525600" cy="525600"/>
          </a:xfrm>
          <a:prstGeom prst="rect">
            <a:avLst/>
          </a:prstGeom>
          <a:ln w="5080">
            <a:solidFill>
              <a:srgbClr val="A7ADB3"/>
            </a:solidFill>
          </a:ln>
        </p:spPr>
      </p:pic>
      <p:pic>
        <p:nvPicPr>
          <p:cNvPr id="21" name="Picture 20" descr="turkey-earthquake_00001065_8_MPF.png"/>
          <p:cNvPicPr>
            <a:picLocks noChangeAspect="1"/>
          </p:cNvPicPr>
          <p:nvPr/>
        </p:nvPicPr>
        <p:blipFill>
          <a:blip r:embed="rId11"/>
          <a:stretch>
            <a:fillRect/>
          </a:stretch>
        </p:blipFill>
        <p:spPr>
          <a:xfrm>
            <a:off x="5418000" y="503999"/>
            <a:ext cx="525600" cy="525600"/>
          </a:xfrm>
          <a:prstGeom prst="rect">
            <a:avLst/>
          </a:prstGeom>
          <a:ln w="5080">
            <a:solidFill>
              <a:srgbClr val="A7ADB3"/>
            </a:solidFill>
          </a:ln>
        </p:spPr>
      </p:pic>
      <p:sp>
        <p:nvSpPr>
          <p:cNvPr id="22" name="TextBox 21"/>
          <p:cNvSpPr txBox="1"/>
          <p:nvPr/>
        </p:nvSpPr>
        <p:spPr>
          <a:xfrm>
            <a:off x="36000" y="1044000"/>
            <a:ext cx="648000" cy="525600"/>
          </a:xfrm>
          <a:prstGeom prst="rect">
            <a:avLst/>
          </a:prstGeom>
          <a:noFill/>
        </p:spPr>
        <p:txBody>
          <a:bodyPr wrap="square" lIns="10800" rIns="10800" tIns="3600" bIns="3600" anchor="ctr">
            <a:spAutoFit/>
          </a:bodyPr>
          <a:lstStyle/>
          <a:p>
            <a:pPr algn="ctr">
              <a:spcBef>
                <a:spcPts val="0"/>
              </a:spcBef>
              <a:spcAft>
                <a:spcPts val="0"/>
              </a:spcAft>
            </a:pPr>
            <a:r>
              <a:rPr sz="800" b="0">
                <a:solidFill>
                  <a:srgbClr val="263746"/>
                </a:solidFill>
                <a:latin typeface="Arial"/>
              </a:rPr>
              <a:t>Türkiye</a:t>
            </a:r>
          </a:p>
          <a:p>
            <a:pPr algn="ctr">
              <a:spcBef>
                <a:spcPts val="0"/>
              </a:spcBef>
              <a:spcAft>
                <a:spcPts val="0"/>
              </a:spcAft>
            </a:pPr>
            <a:r>
              <a:rPr sz="800" b="0">
                <a:solidFill>
                  <a:srgbClr val="263746"/>
                </a:solidFill>
                <a:latin typeface="Arial"/>
              </a:rPr>
              <a:t>earthquake</a:t>
            </a:r>
          </a:p>
          <a:p>
            <a:pPr algn="ctr">
              <a:spcBef>
                <a:spcPts val="0"/>
              </a:spcBef>
              <a:spcAft>
                <a:spcPts val="0"/>
              </a:spcAft>
            </a:pPr>
            <a:r>
              <a:rPr sz="800" b="0">
                <a:solidFill>
                  <a:srgbClr val="263746"/>
                </a:solidFill>
                <a:latin typeface="Arial"/>
              </a:rPr>
              <a:t>00001074</a:t>
            </a:r>
          </a:p>
          <a:p>
            <a:pPr algn="ctr">
              <a:spcBef>
                <a:spcPts val="0"/>
              </a:spcBef>
              <a:spcAft>
                <a:spcPts val="0"/>
              </a:spcAft>
            </a:pPr>
            <a:r>
              <a:rPr sz="800" b="0">
                <a:solidFill>
                  <a:srgbClr val="263746"/>
                </a:solidFill>
                <a:latin typeface="Arial"/>
              </a:rPr>
              <a:t>512 × 512 px</a:t>
            </a:r>
          </a:p>
        </p:txBody>
      </p:sp>
      <p:pic>
        <p:nvPicPr>
          <p:cNvPr id="23" name="Picture 22" descr="turkey-earthquake_00001074_0_RGB.png"/>
          <p:cNvPicPr>
            <a:picLocks noChangeAspect="1"/>
          </p:cNvPicPr>
          <p:nvPr/>
        </p:nvPicPr>
        <p:blipFill>
          <a:blip r:embed="rId12"/>
          <a:stretch>
            <a:fillRect/>
          </a:stretch>
        </p:blipFill>
        <p:spPr>
          <a:xfrm>
            <a:off x="810000" y="1044000"/>
            <a:ext cx="525600" cy="525600"/>
          </a:xfrm>
          <a:prstGeom prst="rect">
            <a:avLst/>
          </a:prstGeom>
          <a:ln w="5080">
            <a:solidFill>
              <a:srgbClr val="A7ADB3"/>
            </a:solidFill>
          </a:ln>
        </p:spPr>
      </p:pic>
      <p:pic>
        <p:nvPicPr>
          <p:cNvPr id="24" name="Picture 23" descr="turkey-earthquake_00001074_1_SAR.png"/>
          <p:cNvPicPr>
            <a:picLocks noChangeAspect="1"/>
          </p:cNvPicPr>
          <p:nvPr/>
        </p:nvPicPr>
        <p:blipFill>
          <a:blip r:embed="rId13"/>
          <a:stretch>
            <a:fillRect/>
          </a:stretch>
        </p:blipFill>
        <p:spPr>
          <a:xfrm>
            <a:off x="1386000" y="1044000"/>
            <a:ext cx="525600" cy="525600"/>
          </a:xfrm>
          <a:prstGeom prst="rect">
            <a:avLst/>
          </a:prstGeom>
          <a:ln w="5080">
            <a:solidFill>
              <a:srgbClr val="A7ADB3"/>
            </a:solidFill>
          </a:ln>
        </p:spPr>
      </p:pic>
      <p:pic>
        <p:nvPicPr>
          <p:cNvPr id="25" name="Picture 24" descr="turkey-earthquake_00001074_2_GT.png"/>
          <p:cNvPicPr>
            <a:picLocks noChangeAspect="1"/>
          </p:cNvPicPr>
          <p:nvPr/>
        </p:nvPicPr>
        <p:blipFill>
          <a:blip r:embed="rId14"/>
          <a:stretch>
            <a:fillRect/>
          </a:stretch>
        </p:blipFill>
        <p:spPr>
          <a:xfrm>
            <a:off x="1962000" y="1044000"/>
            <a:ext cx="525600" cy="525600"/>
          </a:xfrm>
          <a:prstGeom prst="rect">
            <a:avLst/>
          </a:prstGeom>
          <a:ln w="5080">
            <a:solidFill>
              <a:srgbClr val="A7ADB3"/>
            </a:solidFill>
          </a:ln>
        </p:spPr>
      </p:pic>
      <p:pic>
        <p:nvPicPr>
          <p:cNvPr id="26" name="Picture 25" descr="turkey-earthquake_00001074_3_U-Net.png"/>
          <p:cNvPicPr>
            <a:picLocks noChangeAspect="1"/>
          </p:cNvPicPr>
          <p:nvPr/>
        </p:nvPicPr>
        <p:blipFill>
          <a:blip r:embed="rId15"/>
          <a:stretch>
            <a:fillRect/>
          </a:stretch>
        </p:blipFill>
        <p:spPr>
          <a:xfrm>
            <a:off x="2538000" y="1044000"/>
            <a:ext cx="525600" cy="525600"/>
          </a:xfrm>
          <a:prstGeom prst="rect">
            <a:avLst/>
          </a:prstGeom>
          <a:ln w="5080">
            <a:solidFill>
              <a:srgbClr val="A7ADB3"/>
            </a:solidFill>
          </a:ln>
        </p:spPr>
      </p:pic>
      <p:pic>
        <p:nvPicPr>
          <p:cNvPr id="27" name="Picture 26" descr="turkey-earthquake_00001074_4_DeepLabv3+.png"/>
          <p:cNvPicPr>
            <a:picLocks noChangeAspect="1"/>
          </p:cNvPicPr>
          <p:nvPr/>
        </p:nvPicPr>
        <p:blipFill>
          <a:blip r:embed="rId16"/>
          <a:stretch>
            <a:fillRect/>
          </a:stretch>
        </p:blipFill>
        <p:spPr>
          <a:xfrm>
            <a:off x="3114000" y="1044000"/>
            <a:ext cx="525600" cy="525600"/>
          </a:xfrm>
          <a:prstGeom prst="rect">
            <a:avLst/>
          </a:prstGeom>
          <a:ln w="5080">
            <a:solidFill>
              <a:srgbClr val="A7ADB3"/>
            </a:solidFill>
          </a:ln>
        </p:spPr>
      </p:pic>
      <p:pic>
        <p:nvPicPr>
          <p:cNvPr id="28" name="Picture 27" descr="turkey-earthquake_00001074_5_SiamAttnUNet.png"/>
          <p:cNvPicPr>
            <a:picLocks noChangeAspect="1"/>
          </p:cNvPicPr>
          <p:nvPr/>
        </p:nvPicPr>
        <p:blipFill>
          <a:blip r:embed="rId17"/>
          <a:stretch>
            <a:fillRect/>
          </a:stretch>
        </p:blipFill>
        <p:spPr>
          <a:xfrm>
            <a:off x="3690000" y="1044000"/>
            <a:ext cx="525600" cy="525600"/>
          </a:xfrm>
          <a:prstGeom prst="rect">
            <a:avLst/>
          </a:prstGeom>
          <a:ln w="5080">
            <a:solidFill>
              <a:srgbClr val="A7ADB3"/>
            </a:solidFill>
          </a:ln>
        </p:spPr>
      </p:pic>
      <p:pic>
        <p:nvPicPr>
          <p:cNvPr id="29" name="Picture 28" descr="turkey-earthquake_00001074_6_SiamCRNN.png"/>
          <p:cNvPicPr>
            <a:picLocks noChangeAspect="1"/>
          </p:cNvPicPr>
          <p:nvPr/>
        </p:nvPicPr>
        <p:blipFill>
          <a:blip r:embed="rId18"/>
          <a:stretch>
            <a:fillRect/>
          </a:stretch>
        </p:blipFill>
        <p:spPr>
          <a:xfrm>
            <a:off x="4266000" y="1044000"/>
            <a:ext cx="525600" cy="525600"/>
          </a:xfrm>
          <a:prstGeom prst="rect">
            <a:avLst/>
          </a:prstGeom>
          <a:ln w="5080">
            <a:solidFill>
              <a:srgbClr val="A7ADB3"/>
            </a:solidFill>
          </a:ln>
        </p:spPr>
      </p:pic>
      <p:pic>
        <p:nvPicPr>
          <p:cNvPr id="30" name="Picture 29" descr="turkey-earthquake_00001074_7_DamageFormer.png"/>
          <p:cNvPicPr>
            <a:picLocks noChangeAspect="1"/>
          </p:cNvPicPr>
          <p:nvPr/>
        </p:nvPicPr>
        <p:blipFill>
          <a:blip r:embed="rId19"/>
          <a:stretch>
            <a:fillRect/>
          </a:stretch>
        </p:blipFill>
        <p:spPr>
          <a:xfrm>
            <a:off x="4842000" y="1044000"/>
            <a:ext cx="525600" cy="525600"/>
          </a:xfrm>
          <a:prstGeom prst="rect">
            <a:avLst/>
          </a:prstGeom>
          <a:ln w="5080">
            <a:solidFill>
              <a:srgbClr val="A7ADB3"/>
            </a:solidFill>
          </a:ln>
        </p:spPr>
      </p:pic>
      <p:pic>
        <p:nvPicPr>
          <p:cNvPr id="31" name="Picture 30" descr="turkey-earthquake_00001074_8_MPF.png"/>
          <p:cNvPicPr>
            <a:picLocks noChangeAspect="1"/>
          </p:cNvPicPr>
          <p:nvPr/>
        </p:nvPicPr>
        <p:blipFill>
          <a:blip r:embed="rId20"/>
          <a:stretch>
            <a:fillRect/>
          </a:stretch>
        </p:blipFill>
        <p:spPr>
          <a:xfrm>
            <a:off x="5418000" y="1044000"/>
            <a:ext cx="525600" cy="525600"/>
          </a:xfrm>
          <a:prstGeom prst="rect">
            <a:avLst/>
          </a:prstGeom>
          <a:ln w="5080">
            <a:solidFill>
              <a:srgbClr val="A7ADB3"/>
            </a:solidFill>
          </a:ln>
        </p:spPr>
      </p:pic>
      <p:sp>
        <p:nvSpPr>
          <p:cNvPr id="32" name="TextBox 31"/>
          <p:cNvSpPr txBox="1"/>
          <p:nvPr/>
        </p:nvSpPr>
        <p:spPr>
          <a:xfrm>
            <a:off x="36000" y="1584000"/>
            <a:ext cx="648000" cy="525600"/>
          </a:xfrm>
          <a:prstGeom prst="rect">
            <a:avLst/>
          </a:prstGeom>
          <a:noFill/>
        </p:spPr>
        <p:txBody>
          <a:bodyPr wrap="square" lIns="10800" rIns="10800" tIns="3600" bIns="3600" anchor="ctr">
            <a:spAutoFit/>
          </a:bodyPr>
          <a:lstStyle/>
          <a:p>
            <a:pPr algn="ctr">
              <a:spcBef>
                <a:spcPts val="0"/>
              </a:spcBef>
              <a:spcAft>
                <a:spcPts val="0"/>
              </a:spcAft>
            </a:pPr>
            <a:r>
              <a:rPr sz="800" b="0">
                <a:solidFill>
                  <a:srgbClr val="263746"/>
                </a:solidFill>
                <a:latin typeface="Arial"/>
              </a:rPr>
              <a:t>noto</a:t>
            </a:r>
          </a:p>
          <a:p>
            <a:pPr algn="ctr">
              <a:spcBef>
                <a:spcPts val="0"/>
              </a:spcBef>
              <a:spcAft>
                <a:spcPts val="0"/>
              </a:spcAft>
            </a:pPr>
            <a:r>
              <a:rPr sz="800" b="0">
                <a:solidFill>
                  <a:srgbClr val="263746"/>
                </a:solidFill>
                <a:latin typeface="Arial"/>
              </a:rPr>
              <a:t>earthquake</a:t>
            </a:r>
          </a:p>
          <a:p>
            <a:pPr algn="ctr">
              <a:spcBef>
                <a:spcPts val="0"/>
              </a:spcBef>
              <a:spcAft>
                <a:spcPts val="0"/>
              </a:spcAft>
            </a:pPr>
            <a:r>
              <a:rPr sz="800" b="0">
                <a:solidFill>
                  <a:srgbClr val="263746"/>
                </a:solidFill>
                <a:latin typeface="Arial"/>
              </a:rPr>
              <a:t>00000038</a:t>
            </a:r>
          </a:p>
          <a:p>
            <a:pPr algn="ctr">
              <a:spcBef>
                <a:spcPts val="0"/>
              </a:spcBef>
              <a:spcAft>
                <a:spcPts val="0"/>
              </a:spcAft>
            </a:pPr>
            <a:r>
              <a:rPr sz="800" b="0">
                <a:solidFill>
                  <a:srgbClr val="263746"/>
                </a:solidFill>
                <a:latin typeface="Arial"/>
              </a:rPr>
              <a:t>768 × 768 px</a:t>
            </a:r>
          </a:p>
        </p:txBody>
      </p:sp>
      <p:pic>
        <p:nvPicPr>
          <p:cNvPr id="33" name="Picture 32" descr="noto-earthquake_00000038_0_RGB.png"/>
          <p:cNvPicPr>
            <a:picLocks noChangeAspect="1"/>
          </p:cNvPicPr>
          <p:nvPr/>
        </p:nvPicPr>
        <p:blipFill>
          <a:blip r:embed="rId21"/>
          <a:stretch>
            <a:fillRect/>
          </a:stretch>
        </p:blipFill>
        <p:spPr>
          <a:xfrm>
            <a:off x="810000" y="1584000"/>
            <a:ext cx="525600" cy="525600"/>
          </a:xfrm>
          <a:prstGeom prst="rect">
            <a:avLst/>
          </a:prstGeom>
          <a:ln w="5080">
            <a:solidFill>
              <a:srgbClr val="A7ADB3"/>
            </a:solidFill>
          </a:ln>
        </p:spPr>
      </p:pic>
      <p:pic>
        <p:nvPicPr>
          <p:cNvPr id="34" name="Picture 33" descr="noto-earthquake_00000038_1_SAR.png"/>
          <p:cNvPicPr>
            <a:picLocks noChangeAspect="1"/>
          </p:cNvPicPr>
          <p:nvPr/>
        </p:nvPicPr>
        <p:blipFill>
          <a:blip r:embed="rId22"/>
          <a:stretch>
            <a:fillRect/>
          </a:stretch>
        </p:blipFill>
        <p:spPr>
          <a:xfrm>
            <a:off x="1386000" y="1584000"/>
            <a:ext cx="525600" cy="525600"/>
          </a:xfrm>
          <a:prstGeom prst="rect">
            <a:avLst/>
          </a:prstGeom>
          <a:ln w="5080">
            <a:solidFill>
              <a:srgbClr val="A7ADB3"/>
            </a:solidFill>
          </a:ln>
        </p:spPr>
      </p:pic>
      <p:pic>
        <p:nvPicPr>
          <p:cNvPr id="35" name="Picture 34" descr="noto-earthquake_00000038_2_GT.png"/>
          <p:cNvPicPr>
            <a:picLocks noChangeAspect="1"/>
          </p:cNvPicPr>
          <p:nvPr/>
        </p:nvPicPr>
        <p:blipFill>
          <a:blip r:embed="rId23"/>
          <a:stretch>
            <a:fillRect/>
          </a:stretch>
        </p:blipFill>
        <p:spPr>
          <a:xfrm>
            <a:off x="1962000" y="1584000"/>
            <a:ext cx="525600" cy="525600"/>
          </a:xfrm>
          <a:prstGeom prst="rect">
            <a:avLst/>
          </a:prstGeom>
          <a:ln w="5080">
            <a:solidFill>
              <a:srgbClr val="A7ADB3"/>
            </a:solidFill>
          </a:ln>
        </p:spPr>
      </p:pic>
      <p:pic>
        <p:nvPicPr>
          <p:cNvPr id="36" name="Picture 35" descr="noto-earthquake_00000038_3_U-Net.png"/>
          <p:cNvPicPr>
            <a:picLocks noChangeAspect="1"/>
          </p:cNvPicPr>
          <p:nvPr/>
        </p:nvPicPr>
        <p:blipFill>
          <a:blip r:embed="rId24"/>
          <a:stretch>
            <a:fillRect/>
          </a:stretch>
        </p:blipFill>
        <p:spPr>
          <a:xfrm>
            <a:off x="2538000" y="1584000"/>
            <a:ext cx="525600" cy="525600"/>
          </a:xfrm>
          <a:prstGeom prst="rect">
            <a:avLst/>
          </a:prstGeom>
          <a:ln w="5080">
            <a:solidFill>
              <a:srgbClr val="A7ADB3"/>
            </a:solidFill>
          </a:ln>
        </p:spPr>
      </p:pic>
      <p:pic>
        <p:nvPicPr>
          <p:cNvPr id="37" name="Picture 36" descr="noto-earthquake_00000038_4_DeepLabv3+.png"/>
          <p:cNvPicPr>
            <a:picLocks noChangeAspect="1"/>
          </p:cNvPicPr>
          <p:nvPr/>
        </p:nvPicPr>
        <p:blipFill>
          <a:blip r:embed="rId25"/>
          <a:stretch>
            <a:fillRect/>
          </a:stretch>
        </p:blipFill>
        <p:spPr>
          <a:xfrm>
            <a:off x="3114000" y="1584000"/>
            <a:ext cx="525600" cy="525600"/>
          </a:xfrm>
          <a:prstGeom prst="rect">
            <a:avLst/>
          </a:prstGeom>
          <a:ln w="5080">
            <a:solidFill>
              <a:srgbClr val="A7ADB3"/>
            </a:solidFill>
          </a:ln>
        </p:spPr>
      </p:pic>
      <p:pic>
        <p:nvPicPr>
          <p:cNvPr id="38" name="Picture 37" descr="noto-earthquake_00000038_5_SiamAttnUNet.png"/>
          <p:cNvPicPr>
            <a:picLocks noChangeAspect="1"/>
          </p:cNvPicPr>
          <p:nvPr/>
        </p:nvPicPr>
        <p:blipFill>
          <a:blip r:embed="rId26"/>
          <a:stretch>
            <a:fillRect/>
          </a:stretch>
        </p:blipFill>
        <p:spPr>
          <a:xfrm>
            <a:off x="3690000" y="1584000"/>
            <a:ext cx="525600" cy="525600"/>
          </a:xfrm>
          <a:prstGeom prst="rect">
            <a:avLst/>
          </a:prstGeom>
          <a:ln w="5080">
            <a:solidFill>
              <a:srgbClr val="A7ADB3"/>
            </a:solidFill>
          </a:ln>
        </p:spPr>
      </p:pic>
      <p:pic>
        <p:nvPicPr>
          <p:cNvPr id="39" name="Picture 38" descr="noto-earthquake_00000038_6_SiamCRNN.png"/>
          <p:cNvPicPr>
            <a:picLocks noChangeAspect="1"/>
          </p:cNvPicPr>
          <p:nvPr/>
        </p:nvPicPr>
        <p:blipFill>
          <a:blip r:embed="rId27"/>
          <a:stretch>
            <a:fillRect/>
          </a:stretch>
        </p:blipFill>
        <p:spPr>
          <a:xfrm>
            <a:off x="4266000" y="1584000"/>
            <a:ext cx="525600" cy="525600"/>
          </a:xfrm>
          <a:prstGeom prst="rect">
            <a:avLst/>
          </a:prstGeom>
          <a:ln w="5080">
            <a:solidFill>
              <a:srgbClr val="A7ADB3"/>
            </a:solidFill>
          </a:ln>
        </p:spPr>
      </p:pic>
      <p:pic>
        <p:nvPicPr>
          <p:cNvPr id="40" name="Picture 39" descr="noto-earthquake_00000038_7_DamageFormer.png"/>
          <p:cNvPicPr>
            <a:picLocks noChangeAspect="1"/>
          </p:cNvPicPr>
          <p:nvPr/>
        </p:nvPicPr>
        <p:blipFill>
          <a:blip r:embed="rId28"/>
          <a:stretch>
            <a:fillRect/>
          </a:stretch>
        </p:blipFill>
        <p:spPr>
          <a:xfrm>
            <a:off x="4842000" y="1584000"/>
            <a:ext cx="525600" cy="525600"/>
          </a:xfrm>
          <a:prstGeom prst="rect">
            <a:avLst/>
          </a:prstGeom>
          <a:ln w="5080">
            <a:solidFill>
              <a:srgbClr val="A7ADB3"/>
            </a:solidFill>
          </a:ln>
        </p:spPr>
      </p:pic>
      <p:pic>
        <p:nvPicPr>
          <p:cNvPr id="41" name="Picture 40" descr="noto-earthquake_00000038_8_MPF.png"/>
          <p:cNvPicPr>
            <a:picLocks noChangeAspect="1"/>
          </p:cNvPicPr>
          <p:nvPr/>
        </p:nvPicPr>
        <p:blipFill>
          <a:blip r:embed="rId29"/>
          <a:stretch>
            <a:fillRect/>
          </a:stretch>
        </p:blipFill>
        <p:spPr>
          <a:xfrm>
            <a:off x="5418000" y="1584000"/>
            <a:ext cx="525600" cy="525600"/>
          </a:xfrm>
          <a:prstGeom prst="rect">
            <a:avLst/>
          </a:prstGeom>
          <a:ln w="5080">
            <a:solidFill>
              <a:srgbClr val="A7ADB3"/>
            </a:solidFill>
          </a:ln>
        </p:spPr>
      </p:pic>
      <p:sp>
        <p:nvSpPr>
          <p:cNvPr id="42" name="TextBox 41"/>
          <p:cNvSpPr txBox="1"/>
          <p:nvPr/>
        </p:nvSpPr>
        <p:spPr>
          <a:xfrm>
            <a:off x="36000" y="2124000"/>
            <a:ext cx="648000" cy="525600"/>
          </a:xfrm>
          <a:prstGeom prst="rect">
            <a:avLst/>
          </a:prstGeom>
          <a:noFill/>
        </p:spPr>
        <p:txBody>
          <a:bodyPr wrap="square" lIns="10800" rIns="10800" tIns="3600" bIns="3600" anchor="ctr">
            <a:spAutoFit/>
          </a:bodyPr>
          <a:lstStyle/>
          <a:p>
            <a:pPr algn="ctr">
              <a:spcBef>
                <a:spcPts val="0"/>
              </a:spcBef>
              <a:spcAft>
                <a:spcPts val="0"/>
              </a:spcAft>
            </a:pPr>
            <a:r>
              <a:rPr sz="800" b="0">
                <a:solidFill>
                  <a:srgbClr val="263746"/>
                </a:solidFill>
                <a:latin typeface="Arial"/>
              </a:rPr>
              <a:t>noto</a:t>
            </a:r>
          </a:p>
          <a:p>
            <a:pPr algn="ctr">
              <a:spcBef>
                <a:spcPts val="0"/>
              </a:spcBef>
              <a:spcAft>
                <a:spcPts val="0"/>
              </a:spcAft>
            </a:pPr>
            <a:r>
              <a:rPr sz="800" b="0">
                <a:solidFill>
                  <a:srgbClr val="263746"/>
                </a:solidFill>
                <a:latin typeface="Arial"/>
              </a:rPr>
              <a:t>earthquake</a:t>
            </a:r>
          </a:p>
          <a:p>
            <a:pPr algn="ctr">
              <a:spcBef>
                <a:spcPts val="0"/>
              </a:spcBef>
              <a:spcAft>
                <a:spcPts val="0"/>
              </a:spcAft>
            </a:pPr>
            <a:r>
              <a:rPr sz="800" b="0">
                <a:solidFill>
                  <a:srgbClr val="263746"/>
                </a:solidFill>
                <a:latin typeface="Arial"/>
              </a:rPr>
              <a:t>00000049</a:t>
            </a:r>
          </a:p>
          <a:p>
            <a:pPr algn="ctr">
              <a:spcBef>
                <a:spcPts val="0"/>
              </a:spcBef>
              <a:spcAft>
                <a:spcPts val="0"/>
              </a:spcAft>
            </a:pPr>
            <a:r>
              <a:rPr sz="800" b="0">
                <a:solidFill>
                  <a:srgbClr val="263746"/>
                </a:solidFill>
                <a:latin typeface="Arial"/>
              </a:rPr>
              <a:t>512 × 512 px</a:t>
            </a:r>
          </a:p>
        </p:txBody>
      </p:sp>
      <p:pic>
        <p:nvPicPr>
          <p:cNvPr id="43" name="Picture 42" descr="noto-earthquake_00000049_0_RGB.png"/>
          <p:cNvPicPr>
            <a:picLocks noChangeAspect="1"/>
          </p:cNvPicPr>
          <p:nvPr/>
        </p:nvPicPr>
        <p:blipFill>
          <a:blip r:embed="rId30"/>
          <a:stretch>
            <a:fillRect/>
          </a:stretch>
        </p:blipFill>
        <p:spPr>
          <a:xfrm>
            <a:off x="810000" y="2124000"/>
            <a:ext cx="525600" cy="525600"/>
          </a:xfrm>
          <a:prstGeom prst="rect">
            <a:avLst/>
          </a:prstGeom>
          <a:ln w="5080">
            <a:solidFill>
              <a:srgbClr val="A7ADB3"/>
            </a:solidFill>
          </a:ln>
        </p:spPr>
      </p:pic>
      <p:pic>
        <p:nvPicPr>
          <p:cNvPr id="44" name="Picture 43" descr="noto-earthquake_00000049_1_SAR.png"/>
          <p:cNvPicPr>
            <a:picLocks noChangeAspect="1"/>
          </p:cNvPicPr>
          <p:nvPr/>
        </p:nvPicPr>
        <p:blipFill>
          <a:blip r:embed="rId31"/>
          <a:stretch>
            <a:fillRect/>
          </a:stretch>
        </p:blipFill>
        <p:spPr>
          <a:xfrm>
            <a:off x="1386000" y="2124000"/>
            <a:ext cx="525600" cy="525600"/>
          </a:xfrm>
          <a:prstGeom prst="rect">
            <a:avLst/>
          </a:prstGeom>
          <a:ln w="5080">
            <a:solidFill>
              <a:srgbClr val="A7ADB3"/>
            </a:solidFill>
          </a:ln>
        </p:spPr>
      </p:pic>
      <p:pic>
        <p:nvPicPr>
          <p:cNvPr id="45" name="Picture 44" descr="noto-earthquake_00000049_2_GT.png"/>
          <p:cNvPicPr>
            <a:picLocks noChangeAspect="1"/>
          </p:cNvPicPr>
          <p:nvPr/>
        </p:nvPicPr>
        <p:blipFill>
          <a:blip r:embed="rId32"/>
          <a:stretch>
            <a:fillRect/>
          </a:stretch>
        </p:blipFill>
        <p:spPr>
          <a:xfrm>
            <a:off x="1962000" y="2124000"/>
            <a:ext cx="525600" cy="525600"/>
          </a:xfrm>
          <a:prstGeom prst="rect">
            <a:avLst/>
          </a:prstGeom>
          <a:ln w="5080">
            <a:solidFill>
              <a:srgbClr val="A7ADB3"/>
            </a:solidFill>
          </a:ln>
        </p:spPr>
      </p:pic>
      <p:pic>
        <p:nvPicPr>
          <p:cNvPr id="46" name="Picture 45" descr="noto-earthquake_00000049_3_U-Net.png"/>
          <p:cNvPicPr>
            <a:picLocks noChangeAspect="1"/>
          </p:cNvPicPr>
          <p:nvPr/>
        </p:nvPicPr>
        <p:blipFill>
          <a:blip r:embed="rId33"/>
          <a:stretch>
            <a:fillRect/>
          </a:stretch>
        </p:blipFill>
        <p:spPr>
          <a:xfrm>
            <a:off x="2538000" y="2124000"/>
            <a:ext cx="525600" cy="525600"/>
          </a:xfrm>
          <a:prstGeom prst="rect">
            <a:avLst/>
          </a:prstGeom>
          <a:ln w="5080">
            <a:solidFill>
              <a:srgbClr val="A7ADB3"/>
            </a:solidFill>
          </a:ln>
        </p:spPr>
      </p:pic>
      <p:pic>
        <p:nvPicPr>
          <p:cNvPr id="47" name="Picture 46" descr="noto-earthquake_00000049_4_DeepLabv3+.png"/>
          <p:cNvPicPr>
            <a:picLocks noChangeAspect="1"/>
          </p:cNvPicPr>
          <p:nvPr/>
        </p:nvPicPr>
        <p:blipFill>
          <a:blip r:embed="rId34"/>
          <a:stretch>
            <a:fillRect/>
          </a:stretch>
        </p:blipFill>
        <p:spPr>
          <a:xfrm>
            <a:off x="3114000" y="2124000"/>
            <a:ext cx="525600" cy="525600"/>
          </a:xfrm>
          <a:prstGeom prst="rect">
            <a:avLst/>
          </a:prstGeom>
          <a:ln w="5080">
            <a:solidFill>
              <a:srgbClr val="A7ADB3"/>
            </a:solidFill>
          </a:ln>
        </p:spPr>
      </p:pic>
      <p:pic>
        <p:nvPicPr>
          <p:cNvPr id="48" name="Picture 47" descr="noto-earthquake_00000049_5_SiamAttnUNet.png"/>
          <p:cNvPicPr>
            <a:picLocks noChangeAspect="1"/>
          </p:cNvPicPr>
          <p:nvPr/>
        </p:nvPicPr>
        <p:blipFill>
          <a:blip r:embed="rId35"/>
          <a:stretch>
            <a:fillRect/>
          </a:stretch>
        </p:blipFill>
        <p:spPr>
          <a:xfrm>
            <a:off x="3690000" y="2124000"/>
            <a:ext cx="525600" cy="525600"/>
          </a:xfrm>
          <a:prstGeom prst="rect">
            <a:avLst/>
          </a:prstGeom>
          <a:ln w="5080">
            <a:solidFill>
              <a:srgbClr val="A7ADB3"/>
            </a:solidFill>
          </a:ln>
        </p:spPr>
      </p:pic>
      <p:pic>
        <p:nvPicPr>
          <p:cNvPr id="49" name="Picture 48" descr="noto-earthquake_00000049_6_SiamCRNN.png"/>
          <p:cNvPicPr>
            <a:picLocks noChangeAspect="1"/>
          </p:cNvPicPr>
          <p:nvPr/>
        </p:nvPicPr>
        <p:blipFill>
          <a:blip r:embed="rId36"/>
          <a:stretch>
            <a:fillRect/>
          </a:stretch>
        </p:blipFill>
        <p:spPr>
          <a:xfrm>
            <a:off x="4266000" y="2124000"/>
            <a:ext cx="525600" cy="525600"/>
          </a:xfrm>
          <a:prstGeom prst="rect">
            <a:avLst/>
          </a:prstGeom>
          <a:ln w="5080">
            <a:solidFill>
              <a:srgbClr val="A7ADB3"/>
            </a:solidFill>
          </a:ln>
        </p:spPr>
      </p:pic>
      <p:pic>
        <p:nvPicPr>
          <p:cNvPr id="50" name="Picture 49" descr="noto-earthquake_00000049_7_DamageFormer.png"/>
          <p:cNvPicPr>
            <a:picLocks noChangeAspect="1"/>
          </p:cNvPicPr>
          <p:nvPr/>
        </p:nvPicPr>
        <p:blipFill>
          <a:blip r:embed="rId37"/>
          <a:stretch>
            <a:fillRect/>
          </a:stretch>
        </p:blipFill>
        <p:spPr>
          <a:xfrm>
            <a:off x="4842000" y="2124000"/>
            <a:ext cx="525600" cy="525600"/>
          </a:xfrm>
          <a:prstGeom prst="rect">
            <a:avLst/>
          </a:prstGeom>
          <a:ln w="5080">
            <a:solidFill>
              <a:srgbClr val="A7ADB3"/>
            </a:solidFill>
          </a:ln>
        </p:spPr>
      </p:pic>
      <p:pic>
        <p:nvPicPr>
          <p:cNvPr id="51" name="Picture 50" descr="noto-earthquake_00000049_8_MPF.png"/>
          <p:cNvPicPr>
            <a:picLocks noChangeAspect="1"/>
          </p:cNvPicPr>
          <p:nvPr/>
        </p:nvPicPr>
        <p:blipFill>
          <a:blip r:embed="rId38"/>
          <a:stretch>
            <a:fillRect/>
          </a:stretch>
        </p:blipFill>
        <p:spPr>
          <a:xfrm>
            <a:off x="5418000" y="2124000"/>
            <a:ext cx="525600" cy="525600"/>
          </a:xfrm>
          <a:prstGeom prst="rect">
            <a:avLst/>
          </a:prstGeom>
          <a:ln w="5080">
            <a:solidFill>
              <a:srgbClr val="A7ADB3"/>
            </a:solidFill>
          </a:ln>
        </p:spPr>
      </p:pic>
      <p:sp>
        <p:nvSpPr>
          <p:cNvPr id="52" name="TextBox 51"/>
          <p:cNvSpPr txBox="1"/>
          <p:nvPr/>
        </p:nvSpPr>
        <p:spPr>
          <a:xfrm>
            <a:off x="36000" y="2664000"/>
            <a:ext cx="648000" cy="525600"/>
          </a:xfrm>
          <a:prstGeom prst="rect">
            <a:avLst/>
          </a:prstGeom>
          <a:noFill/>
        </p:spPr>
        <p:txBody>
          <a:bodyPr wrap="square" lIns="10800" rIns="10800" tIns="3600" bIns="3600" anchor="ctr">
            <a:spAutoFit/>
          </a:bodyPr>
          <a:lstStyle/>
          <a:p>
            <a:pPr algn="ctr">
              <a:spcBef>
                <a:spcPts val="0"/>
              </a:spcBef>
              <a:spcAft>
                <a:spcPts val="0"/>
              </a:spcAft>
            </a:pPr>
            <a:r>
              <a:rPr sz="800" b="0">
                <a:solidFill>
                  <a:srgbClr val="263746"/>
                </a:solidFill>
                <a:latin typeface="Arial"/>
              </a:rPr>
              <a:t>ukraine</a:t>
            </a:r>
          </a:p>
          <a:p>
            <a:pPr algn="ctr">
              <a:spcBef>
                <a:spcPts val="0"/>
              </a:spcBef>
              <a:spcAft>
                <a:spcPts val="0"/>
              </a:spcAft>
            </a:pPr>
            <a:r>
              <a:rPr sz="800" b="0">
                <a:solidFill>
                  <a:srgbClr val="263746"/>
                </a:solidFill>
                <a:latin typeface="Arial"/>
              </a:rPr>
              <a:t>conflict</a:t>
            </a:r>
          </a:p>
          <a:p>
            <a:pPr algn="ctr">
              <a:spcBef>
                <a:spcPts val="0"/>
              </a:spcBef>
              <a:spcAft>
                <a:spcPts val="0"/>
              </a:spcAft>
            </a:pPr>
            <a:r>
              <a:rPr sz="800" b="0">
                <a:solidFill>
                  <a:srgbClr val="263746"/>
                </a:solidFill>
                <a:latin typeface="Arial"/>
              </a:rPr>
              <a:t>00000354</a:t>
            </a:r>
          </a:p>
          <a:p>
            <a:pPr algn="ctr">
              <a:spcBef>
                <a:spcPts val="0"/>
              </a:spcBef>
              <a:spcAft>
                <a:spcPts val="0"/>
              </a:spcAft>
            </a:pPr>
            <a:r>
              <a:rPr sz="800" b="0">
                <a:solidFill>
                  <a:srgbClr val="263746"/>
                </a:solidFill>
                <a:latin typeface="Arial"/>
              </a:rPr>
              <a:t>512 × 512 px</a:t>
            </a:r>
          </a:p>
        </p:txBody>
      </p:sp>
      <p:pic>
        <p:nvPicPr>
          <p:cNvPr id="53" name="Picture 52" descr="ukraine-conflict_00000354_0_RGB.png"/>
          <p:cNvPicPr>
            <a:picLocks noChangeAspect="1"/>
          </p:cNvPicPr>
          <p:nvPr/>
        </p:nvPicPr>
        <p:blipFill>
          <a:blip r:embed="rId39"/>
          <a:stretch>
            <a:fillRect/>
          </a:stretch>
        </p:blipFill>
        <p:spPr>
          <a:xfrm>
            <a:off x="810000" y="2664000"/>
            <a:ext cx="525600" cy="525600"/>
          </a:xfrm>
          <a:prstGeom prst="rect">
            <a:avLst/>
          </a:prstGeom>
          <a:ln w="5080">
            <a:solidFill>
              <a:srgbClr val="A7ADB3"/>
            </a:solidFill>
          </a:ln>
        </p:spPr>
      </p:pic>
      <p:pic>
        <p:nvPicPr>
          <p:cNvPr id="54" name="Picture 53" descr="ukraine-conflict_00000354_1_SAR.png"/>
          <p:cNvPicPr>
            <a:picLocks noChangeAspect="1"/>
          </p:cNvPicPr>
          <p:nvPr/>
        </p:nvPicPr>
        <p:blipFill>
          <a:blip r:embed="rId40"/>
          <a:stretch>
            <a:fillRect/>
          </a:stretch>
        </p:blipFill>
        <p:spPr>
          <a:xfrm>
            <a:off x="1386000" y="2664000"/>
            <a:ext cx="525600" cy="525600"/>
          </a:xfrm>
          <a:prstGeom prst="rect">
            <a:avLst/>
          </a:prstGeom>
          <a:ln w="5080">
            <a:solidFill>
              <a:srgbClr val="A7ADB3"/>
            </a:solidFill>
          </a:ln>
        </p:spPr>
      </p:pic>
      <p:pic>
        <p:nvPicPr>
          <p:cNvPr id="55" name="Picture 54" descr="ukraine-conflict_00000354_2_GT.png"/>
          <p:cNvPicPr>
            <a:picLocks noChangeAspect="1"/>
          </p:cNvPicPr>
          <p:nvPr/>
        </p:nvPicPr>
        <p:blipFill>
          <a:blip r:embed="rId41"/>
          <a:stretch>
            <a:fillRect/>
          </a:stretch>
        </p:blipFill>
        <p:spPr>
          <a:xfrm>
            <a:off x="1962000" y="2664000"/>
            <a:ext cx="525600" cy="525600"/>
          </a:xfrm>
          <a:prstGeom prst="rect">
            <a:avLst/>
          </a:prstGeom>
          <a:ln w="5080">
            <a:solidFill>
              <a:srgbClr val="A7ADB3"/>
            </a:solidFill>
          </a:ln>
        </p:spPr>
      </p:pic>
      <p:pic>
        <p:nvPicPr>
          <p:cNvPr id="56" name="Picture 55" descr="ukraine-conflict_00000354_3_U-Net.png"/>
          <p:cNvPicPr>
            <a:picLocks noChangeAspect="1"/>
          </p:cNvPicPr>
          <p:nvPr/>
        </p:nvPicPr>
        <p:blipFill>
          <a:blip r:embed="rId42"/>
          <a:stretch>
            <a:fillRect/>
          </a:stretch>
        </p:blipFill>
        <p:spPr>
          <a:xfrm>
            <a:off x="2538000" y="2664000"/>
            <a:ext cx="525600" cy="525600"/>
          </a:xfrm>
          <a:prstGeom prst="rect">
            <a:avLst/>
          </a:prstGeom>
          <a:ln w="5080">
            <a:solidFill>
              <a:srgbClr val="A7ADB3"/>
            </a:solidFill>
          </a:ln>
        </p:spPr>
      </p:pic>
      <p:pic>
        <p:nvPicPr>
          <p:cNvPr id="57" name="Picture 56" descr="ukraine-conflict_00000354_4_DeepLabv3+.png"/>
          <p:cNvPicPr>
            <a:picLocks noChangeAspect="1"/>
          </p:cNvPicPr>
          <p:nvPr/>
        </p:nvPicPr>
        <p:blipFill>
          <a:blip r:embed="rId43"/>
          <a:stretch>
            <a:fillRect/>
          </a:stretch>
        </p:blipFill>
        <p:spPr>
          <a:xfrm>
            <a:off x="3114000" y="2664000"/>
            <a:ext cx="525600" cy="525600"/>
          </a:xfrm>
          <a:prstGeom prst="rect">
            <a:avLst/>
          </a:prstGeom>
          <a:ln w="5080">
            <a:solidFill>
              <a:srgbClr val="A7ADB3"/>
            </a:solidFill>
          </a:ln>
        </p:spPr>
      </p:pic>
      <p:pic>
        <p:nvPicPr>
          <p:cNvPr id="58" name="Picture 57" descr="ukraine-conflict_00000354_5_SiamAttnUNet.png"/>
          <p:cNvPicPr>
            <a:picLocks noChangeAspect="1"/>
          </p:cNvPicPr>
          <p:nvPr/>
        </p:nvPicPr>
        <p:blipFill>
          <a:blip r:embed="rId44"/>
          <a:stretch>
            <a:fillRect/>
          </a:stretch>
        </p:blipFill>
        <p:spPr>
          <a:xfrm>
            <a:off x="3690000" y="2664000"/>
            <a:ext cx="525600" cy="525600"/>
          </a:xfrm>
          <a:prstGeom prst="rect">
            <a:avLst/>
          </a:prstGeom>
          <a:ln w="5080">
            <a:solidFill>
              <a:srgbClr val="A7ADB3"/>
            </a:solidFill>
          </a:ln>
        </p:spPr>
      </p:pic>
      <p:pic>
        <p:nvPicPr>
          <p:cNvPr id="59" name="Picture 58" descr="ukraine-conflict_00000354_6_SiamCRNN.png"/>
          <p:cNvPicPr>
            <a:picLocks noChangeAspect="1"/>
          </p:cNvPicPr>
          <p:nvPr/>
        </p:nvPicPr>
        <p:blipFill>
          <a:blip r:embed="rId45"/>
          <a:stretch>
            <a:fillRect/>
          </a:stretch>
        </p:blipFill>
        <p:spPr>
          <a:xfrm>
            <a:off x="4266000" y="2664000"/>
            <a:ext cx="525600" cy="525600"/>
          </a:xfrm>
          <a:prstGeom prst="rect">
            <a:avLst/>
          </a:prstGeom>
          <a:ln w="5080">
            <a:solidFill>
              <a:srgbClr val="A7ADB3"/>
            </a:solidFill>
          </a:ln>
        </p:spPr>
      </p:pic>
      <p:pic>
        <p:nvPicPr>
          <p:cNvPr id="60" name="Picture 59" descr="ukraine-conflict_00000354_7_DamageFormer.png"/>
          <p:cNvPicPr>
            <a:picLocks noChangeAspect="1"/>
          </p:cNvPicPr>
          <p:nvPr/>
        </p:nvPicPr>
        <p:blipFill>
          <a:blip r:embed="rId46"/>
          <a:stretch>
            <a:fillRect/>
          </a:stretch>
        </p:blipFill>
        <p:spPr>
          <a:xfrm>
            <a:off x="4842000" y="2664000"/>
            <a:ext cx="525600" cy="525600"/>
          </a:xfrm>
          <a:prstGeom prst="rect">
            <a:avLst/>
          </a:prstGeom>
          <a:ln w="5080">
            <a:solidFill>
              <a:srgbClr val="A7ADB3"/>
            </a:solidFill>
          </a:ln>
        </p:spPr>
      </p:pic>
      <p:pic>
        <p:nvPicPr>
          <p:cNvPr id="61" name="Picture 60" descr="ukraine-conflict_00000354_8_MPF.png"/>
          <p:cNvPicPr>
            <a:picLocks noChangeAspect="1"/>
          </p:cNvPicPr>
          <p:nvPr/>
        </p:nvPicPr>
        <p:blipFill>
          <a:blip r:embed="rId47"/>
          <a:stretch>
            <a:fillRect/>
          </a:stretch>
        </p:blipFill>
        <p:spPr>
          <a:xfrm>
            <a:off x="5418000" y="2664000"/>
            <a:ext cx="525600" cy="525600"/>
          </a:xfrm>
          <a:prstGeom prst="rect">
            <a:avLst/>
          </a:prstGeom>
          <a:ln w="5080">
            <a:solidFill>
              <a:srgbClr val="A7ADB3"/>
            </a:solidFill>
          </a:ln>
        </p:spPr>
      </p:pic>
      <p:sp>
        <p:nvSpPr>
          <p:cNvPr id="62" name="TextBox 61"/>
          <p:cNvSpPr txBox="1"/>
          <p:nvPr/>
        </p:nvSpPr>
        <p:spPr>
          <a:xfrm>
            <a:off x="36000" y="3204000"/>
            <a:ext cx="648000" cy="525600"/>
          </a:xfrm>
          <a:prstGeom prst="rect">
            <a:avLst/>
          </a:prstGeom>
          <a:noFill/>
        </p:spPr>
        <p:txBody>
          <a:bodyPr wrap="square" lIns="10800" rIns="10800" tIns="3600" bIns="3600" anchor="ctr">
            <a:spAutoFit/>
          </a:bodyPr>
          <a:lstStyle/>
          <a:p>
            <a:pPr algn="ctr">
              <a:spcBef>
                <a:spcPts val="0"/>
              </a:spcBef>
              <a:spcAft>
                <a:spcPts val="0"/>
              </a:spcAft>
            </a:pPr>
            <a:r>
              <a:rPr sz="800" b="0">
                <a:solidFill>
                  <a:srgbClr val="263746"/>
                </a:solidFill>
                <a:latin typeface="Arial"/>
              </a:rPr>
              <a:t>ukraine</a:t>
            </a:r>
          </a:p>
          <a:p>
            <a:pPr algn="ctr">
              <a:spcBef>
                <a:spcPts val="0"/>
              </a:spcBef>
              <a:spcAft>
                <a:spcPts val="0"/>
              </a:spcAft>
            </a:pPr>
            <a:r>
              <a:rPr sz="800" b="0">
                <a:solidFill>
                  <a:srgbClr val="263746"/>
                </a:solidFill>
                <a:latin typeface="Arial"/>
              </a:rPr>
              <a:t>conflict</a:t>
            </a:r>
          </a:p>
          <a:p>
            <a:pPr algn="ctr">
              <a:spcBef>
                <a:spcPts val="0"/>
              </a:spcBef>
              <a:spcAft>
                <a:spcPts val="0"/>
              </a:spcAft>
            </a:pPr>
            <a:r>
              <a:rPr sz="800" b="0">
                <a:solidFill>
                  <a:srgbClr val="263746"/>
                </a:solidFill>
                <a:latin typeface="Arial"/>
              </a:rPr>
              <a:t>00000315</a:t>
            </a:r>
          </a:p>
          <a:p>
            <a:pPr algn="ctr">
              <a:spcBef>
                <a:spcPts val="0"/>
              </a:spcBef>
              <a:spcAft>
                <a:spcPts val="0"/>
              </a:spcAft>
            </a:pPr>
            <a:r>
              <a:rPr sz="800" b="0">
                <a:solidFill>
                  <a:srgbClr val="263746"/>
                </a:solidFill>
                <a:latin typeface="Arial"/>
              </a:rPr>
              <a:t>768 × 768 px</a:t>
            </a:r>
          </a:p>
        </p:txBody>
      </p:sp>
      <p:pic>
        <p:nvPicPr>
          <p:cNvPr id="63" name="Picture 62" descr="ukraine-conflict_00000315_0_RGB.png"/>
          <p:cNvPicPr>
            <a:picLocks noChangeAspect="1"/>
          </p:cNvPicPr>
          <p:nvPr/>
        </p:nvPicPr>
        <p:blipFill>
          <a:blip r:embed="rId48"/>
          <a:stretch>
            <a:fillRect/>
          </a:stretch>
        </p:blipFill>
        <p:spPr>
          <a:xfrm>
            <a:off x="810000" y="3204000"/>
            <a:ext cx="525600" cy="525600"/>
          </a:xfrm>
          <a:prstGeom prst="rect">
            <a:avLst/>
          </a:prstGeom>
          <a:ln w="5080">
            <a:solidFill>
              <a:srgbClr val="A7ADB3"/>
            </a:solidFill>
          </a:ln>
        </p:spPr>
      </p:pic>
      <p:pic>
        <p:nvPicPr>
          <p:cNvPr id="64" name="Picture 63" descr="ukraine-conflict_00000315_1_SAR.png"/>
          <p:cNvPicPr>
            <a:picLocks noChangeAspect="1"/>
          </p:cNvPicPr>
          <p:nvPr/>
        </p:nvPicPr>
        <p:blipFill>
          <a:blip r:embed="rId49"/>
          <a:stretch>
            <a:fillRect/>
          </a:stretch>
        </p:blipFill>
        <p:spPr>
          <a:xfrm>
            <a:off x="1386000" y="3204000"/>
            <a:ext cx="525600" cy="525600"/>
          </a:xfrm>
          <a:prstGeom prst="rect">
            <a:avLst/>
          </a:prstGeom>
          <a:ln w="5080">
            <a:solidFill>
              <a:srgbClr val="A7ADB3"/>
            </a:solidFill>
          </a:ln>
        </p:spPr>
      </p:pic>
      <p:pic>
        <p:nvPicPr>
          <p:cNvPr id="65" name="Picture 64" descr="ukraine-conflict_00000315_2_GT.png"/>
          <p:cNvPicPr>
            <a:picLocks noChangeAspect="1"/>
          </p:cNvPicPr>
          <p:nvPr/>
        </p:nvPicPr>
        <p:blipFill>
          <a:blip r:embed="rId50"/>
          <a:stretch>
            <a:fillRect/>
          </a:stretch>
        </p:blipFill>
        <p:spPr>
          <a:xfrm>
            <a:off x="1962000" y="3204000"/>
            <a:ext cx="525600" cy="525600"/>
          </a:xfrm>
          <a:prstGeom prst="rect">
            <a:avLst/>
          </a:prstGeom>
          <a:ln w="5080">
            <a:solidFill>
              <a:srgbClr val="A7ADB3"/>
            </a:solidFill>
          </a:ln>
        </p:spPr>
      </p:pic>
      <p:pic>
        <p:nvPicPr>
          <p:cNvPr id="66" name="Picture 65" descr="ukraine-conflict_00000315_3_U-Net.png"/>
          <p:cNvPicPr>
            <a:picLocks noChangeAspect="1"/>
          </p:cNvPicPr>
          <p:nvPr/>
        </p:nvPicPr>
        <p:blipFill>
          <a:blip r:embed="rId51"/>
          <a:stretch>
            <a:fillRect/>
          </a:stretch>
        </p:blipFill>
        <p:spPr>
          <a:xfrm>
            <a:off x="2538000" y="3204000"/>
            <a:ext cx="525600" cy="525600"/>
          </a:xfrm>
          <a:prstGeom prst="rect">
            <a:avLst/>
          </a:prstGeom>
          <a:ln w="5080">
            <a:solidFill>
              <a:srgbClr val="A7ADB3"/>
            </a:solidFill>
          </a:ln>
        </p:spPr>
      </p:pic>
      <p:pic>
        <p:nvPicPr>
          <p:cNvPr id="67" name="Picture 66" descr="ukraine-conflict_00000315_4_DeepLabv3+.png"/>
          <p:cNvPicPr>
            <a:picLocks noChangeAspect="1"/>
          </p:cNvPicPr>
          <p:nvPr/>
        </p:nvPicPr>
        <p:blipFill>
          <a:blip r:embed="rId52"/>
          <a:stretch>
            <a:fillRect/>
          </a:stretch>
        </p:blipFill>
        <p:spPr>
          <a:xfrm>
            <a:off x="3114000" y="3204000"/>
            <a:ext cx="525600" cy="525600"/>
          </a:xfrm>
          <a:prstGeom prst="rect">
            <a:avLst/>
          </a:prstGeom>
          <a:ln w="5080">
            <a:solidFill>
              <a:srgbClr val="A7ADB3"/>
            </a:solidFill>
          </a:ln>
        </p:spPr>
      </p:pic>
      <p:pic>
        <p:nvPicPr>
          <p:cNvPr id="68" name="Picture 67" descr="ukraine-conflict_00000315_5_SiamAttnUNet.png"/>
          <p:cNvPicPr>
            <a:picLocks noChangeAspect="1"/>
          </p:cNvPicPr>
          <p:nvPr/>
        </p:nvPicPr>
        <p:blipFill>
          <a:blip r:embed="rId53"/>
          <a:stretch>
            <a:fillRect/>
          </a:stretch>
        </p:blipFill>
        <p:spPr>
          <a:xfrm>
            <a:off x="3690000" y="3204000"/>
            <a:ext cx="525600" cy="525600"/>
          </a:xfrm>
          <a:prstGeom prst="rect">
            <a:avLst/>
          </a:prstGeom>
          <a:ln w="5080">
            <a:solidFill>
              <a:srgbClr val="A7ADB3"/>
            </a:solidFill>
          </a:ln>
        </p:spPr>
      </p:pic>
      <p:pic>
        <p:nvPicPr>
          <p:cNvPr id="69" name="Picture 68" descr="ukraine-conflict_00000315_6_SiamCRNN.png"/>
          <p:cNvPicPr>
            <a:picLocks noChangeAspect="1"/>
          </p:cNvPicPr>
          <p:nvPr/>
        </p:nvPicPr>
        <p:blipFill>
          <a:blip r:embed="rId54"/>
          <a:stretch>
            <a:fillRect/>
          </a:stretch>
        </p:blipFill>
        <p:spPr>
          <a:xfrm>
            <a:off x="4266000" y="3204000"/>
            <a:ext cx="525600" cy="525600"/>
          </a:xfrm>
          <a:prstGeom prst="rect">
            <a:avLst/>
          </a:prstGeom>
          <a:ln w="5080">
            <a:solidFill>
              <a:srgbClr val="A7ADB3"/>
            </a:solidFill>
          </a:ln>
        </p:spPr>
      </p:pic>
      <p:pic>
        <p:nvPicPr>
          <p:cNvPr id="70" name="Picture 69" descr="ukraine-conflict_00000315_7_DamageFormer.png"/>
          <p:cNvPicPr>
            <a:picLocks noChangeAspect="1"/>
          </p:cNvPicPr>
          <p:nvPr/>
        </p:nvPicPr>
        <p:blipFill>
          <a:blip r:embed="rId55"/>
          <a:stretch>
            <a:fillRect/>
          </a:stretch>
        </p:blipFill>
        <p:spPr>
          <a:xfrm>
            <a:off x="4842000" y="3204000"/>
            <a:ext cx="525600" cy="525600"/>
          </a:xfrm>
          <a:prstGeom prst="rect">
            <a:avLst/>
          </a:prstGeom>
          <a:ln w="5080">
            <a:solidFill>
              <a:srgbClr val="A7ADB3"/>
            </a:solidFill>
          </a:ln>
        </p:spPr>
      </p:pic>
      <p:pic>
        <p:nvPicPr>
          <p:cNvPr id="71" name="Picture 70" descr="ukraine-conflict_00000315_8_MPF.png"/>
          <p:cNvPicPr>
            <a:picLocks noChangeAspect="1"/>
          </p:cNvPicPr>
          <p:nvPr/>
        </p:nvPicPr>
        <p:blipFill>
          <a:blip r:embed="rId56"/>
          <a:stretch>
            <a:fillRect/>
          </a:stretch>
        </p:blipFill>
        <p:spPr>
          <a:xfrm>
            <a:off x="5418000" y="3204000"/>
            <a:ext cx="525600" cy="525600"/>
          </a:xfrm>
          <a:prstGeom prst="rect">
            <a:avLst/>
          </a:prstGeom>
          <a:ln w="5080">
            <a:solidFill>
              <a:srgbClr val="A7ADB3"/>
            </a:solidFill>
          </a:ln>
        </p:spPr>
      </p:pic>
      <p:sp>
        <p:nvSpPr>
          <p:cNvPr id="72" name="Rectangle 71"/>
          <p:cNvSpPr/>
          <p:nvPr/>
        </p:nvSpPr>
        <p:spPr>
          <a:xfrm>
            <a:off x="846000" y="3751200"/>
            <a:ext cx="100800" cy="100800"/>
          </a:xfrm>
          <a:prstGeom prst="rect">
            <a:avLst/>
          </a:prstGeom>
          <a:solidFill>
            <a:srgbClr val="FFFFFF"/>
          </a:solidFill>
          <a:ln>
            <a:solidFill>
              <a:srgbClr val="8F99A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TextBox 72"/>
          <p:cNvSpPr txBox="1"/>
          <p:nvPr/>
        </p:nvSpPr>
        <p:spPr>
          <a:xfrm>
            <a:off x="982800" y="3708000"/>
            <a:ext cx="936000" cy="180000"/>
          </a:xfrm>
          <a:prstGeom prst="rect">
            <a:avLst/>
          </a:prstGeom>
          <a:noFill/>
        </p:spPr>
        <p:txBody>
          <a:bodyPr wrap="square" lIns="10800" rIns="10800" tIns="3600" bIns="3600" anchor="ctr">
            <a:spAutoFit/>
          </a:bodyPr>
          <a:lstStyle/>
          <a:p>
            <a:pPr algn="l">
              <a:spcBef>
                <a:spcPts val="0"/>
              </a:spcBef>
              <a:spcAft>
                <a:spcPts val="0"/>
              </a:spcAft>
            </a:pPr>
            <a:r>
              <a:rPr sz="850" b="0">
                <a:solidFill>
                  <a:srgbClr val="263746"/>
                </a:solidFill>
                <a:latin typeface="Arial"/>
              </a:rPr>
              <a:t>Background</a:t>
            </a:r>
          </a:p>
        </p:txBody>
      </p:sp>
      <p:sp>
        <p:nvSpPr>
          <p:cNvPr id="74" name="Rectangle 73"/>
          <p:cNvSpPr/>
          <p:nvPr/>
        </p:nvSpPr>
        <p:spPr>
          <a:xfrm>
            <a:off x="1962000" y="3751200"/>
            <a:ext cx="100800" cy="100800"/>
          </a:xfrm>
          <a:prstGeom prst="rect">
            <a:avLst/>
          </a:prstGeom>
          <a:solidFill>
            <a:srgbClr val="46B579"/>
          </a:solidFill>
          <a:ln>
            <a:solidFill>
              <a:srgbClr val="8F99A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TextBox 74"/>
          <p:cNvSpPr txBox="1"/>
          <p:nvPr/>
        </p:nvSpPr>
        <p:spPr>
          <a:xfrm>
            <a:off x="2098800" y="3708000"/>
            <a:ext cx="936000" cy="180000"/>
          </a:xfrm>
          <a:prstGeom prst="rect">
            <a:avLst/>
          </a:prstGeom>
          <a:noFill/>
        </p:spPr>
        <p:txBody>
          <a:bodyPr wrap="square" lIns="10800" rIns="10800" tIns="3600" bIns="3600" anchor="ctr">
            <a:spAutoFit/>
          </a:bodyPr>
          <a:lstStyle/>
          <a:p>
            <a:pPr algn="l">
              <a:spcBef>
                <a:spcPts val="0"/>
              </a:spcBef>
              <a:spcAft>
                <a:spcPts val="0"/>
              </a:spcAft>
            </a:pPr>
            <a:r>
              <a:rPr sz="850" b="0">
                <a:solidFill>
                  <a:srgbClr val="263746"/>
                </a:solidFill>
                <a:latin typeface="Arial"/>
              </a:rPr>
              <a:t>Intact</a:t>
            </a:r>
          </a:p>
        </p:txBody>
      </p:sp>
      <p:sp>
        <p:nvSpPr>
          <p:cNvPr id="76" name="Rectangle 75"/>
          <p:cNvSpPr/>
          <p:nvPr/>
        </p:nvSpPr>
        <p:spPr>
          <a:xfrm>
            <a:off x="3078000" y="3751200"/>
            <a:ext cx="100800" cy="100800"/>
          </a:xfrm>
          <a:prstGeom prst="rect">
            <a:avLst/>
          </a:prstGeom>
          <a:solidFill>
            <a:srgbClr val="E4BD8B"/>
          </a:solidFill>
          <a:ln>
            <a:solidFill>
              <a:srgbClr val="8F99A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7" name="TextBox 76"/>
          <p:cNvSpPr txBox="1"/>
          <p:nvPr/>
        </p:nvSpPr>
        <p:spPr>
          <a:xfrm>
            <a:off x="3214800" y="3708000"/>
            <a:ext cx="936000" cy="180000"/>
          </a:xfrm>
          <a:prstGeom prst="rect">
            <a:avLst/>
          </a:prstGeom>
          <a:noFill/>
        </p:spPr>
        <p:txBody>
          <a:bodyPr wrap="square" lIns="10800" rIns="10800" tIns="3600" bIns="3600" anchor="ctr">
            <a:spAutoFit/>
          </a:bodyPr>
          <a:lstStyle/>
          <a:p>
            <a:pPr algn="l">
              <a:spcBef>
                <a:spcPts val="0"/>
              </a:spcBef>
              <a:spcAft>
                <a:spcPts val="0"/>
              </a:spcAft>
            </a:pPr>
            <a:r>
              <a:rPr sz="850" b="0">
                <a:solidFill>
                  <a:srgbClr val="263746"/>
                </a:solidFill>
                <a:latin typeface="Arial"/>
              </a:rPr>
              <a:t>Damaged</a:t>
            </a:r>
          </a:p>
        </p:txBody>
      </p:sp>
      <p:sp>
        <p:nvSpPr>
          <p:cNvPr id="78" name="Rectangle 77"/>
          <p:cNvSpPr/>
          <p:nvPr/>
        </p:nvSpPr>
        <p:spPr>
          <a:xfrm>
            <a:off x="4194000" y="3751200"/>
            <a:ext cx="100800" cy="100800"/>
          </a:xfrm>
          <a:prstGeom prst="rect">
            <a:avLst/>
          </a:prstGeom>
          <a:solidFill>
            <a:srgbClr val="B64645"/>
          </a:solidFill>
          <a:ln>
            <a:solidFill>
              <a:srgbClr val="8F99A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9" name="TextBox 78"/>
          <p:cNvSpPr txBox="1"/>
          <p:nvPr/>
        </p:nvSpPr>
        <p:spPr>
          <a:xfrm>
            <a:off x="4330800" y="3708000"/>
            <a:ext cx="936000" cy="180000"/>
          </a:xfrm>
          <a:prstGeom prst="rect">
            <a:avLst/>
          </a:prstGeom>
          <a:noFill/>
        </p:spPr>
        <p:txBody>
          <a:bodyPr wrap="square" lIns="10800" rIns="10800" tIns="3600" bIns="3600" anchor="ctr">
            <a:spAutoFit/>
          </a:bodyPr>
          <a:lstStyle/>
          <a:p>
            <a:pPr algn="l">
              <a:spcBef>
                <a:spcPts val="0"/>
              </a:spcBef>
              <a:spcAft>
                <a:spcPts val="0"/>
              </a:spcAft>
            </a:pPr>
            <a:r>
              <a:rPr sz="850" b="0">
                <a:solidFill>
                  <a:srgbClr val="263746"/>
                </a:solidFill>
                <a:latin typeface="Arial"/>
              </a:rPr>
              <a:t>Destroyed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000" y="18000"/>
            <a:ext cx="5976000" cy="198000"/>
          </a:xfrm>
          <a:prstGeom prst="rect">
            <a:avLst/>
          </a:prstGeom>
          <a:noFill/>
        </p:spPr>
        <p:txBody>
          <a:bodyPr wrap="square" lIns="10800" rIns="10800" tIns="3600" bIns="3600" anchor="ctr">
            <a:spAutoFit/>
          </a:bodyPr>
          <a:lstStyle/>
          <a:p>
            <a:pPr algn="ctr">
              <a:spcBef>
                <a:spcPts val="0"/>
              </a:spcBef>
              <a:spcAft>
                <a:spcPts val="0"/>
              </a:spcAft>
            </a:pPr>
            <a:r>
              <a:rPr sz="1000" b="1">
                <a:solidFill>
                  <a:srgbClr val="263746"/>
                </a:solidFill>
                <a:latin typeface="Arial"/>
              </a:rPr>
              <a:t>Volcano and wildfire: six selected crops</a:t>
            </a:r>
          </a:p>
        </p:txBody>
      </p:sp>
      <p:sp>
        <p:nvSpPr>
          <p:cNvPr id="3" name="TextBox 2"/>
          <p:cNvSpPr txBox="1"/>
          <p:nvPr/>
        </p:nvSpPr>
        <p:spPr>
          <a:xfrm>
            <a:off x="810000" y="216000"/>
            <a:ext cx="558000" cy="270000"/>
          </a:xfrm>
          <a:prstGeom prst="rect">
            <a:avLst/>
          </a:prstGeom>
          <a:noFill/>
        </p:spPr>
        <p:txBody>
          <a:bodyPr wrap="square" lIns="10800" rIns="10800" tIns="3600" bIns="3600" anchor="ctr">
            <a:spAutoFit/>
          </a:bodyPr>
          <a:lstStyle/>
          <a:p>
            <a:pPr algn="ctr">
              <a:spcBef>
                <a:spcPts val="0"/>
              </a:spcBef>
              <a:spcAft>
                <a:spcPts val="0"/>
              </a:spcAft>
            </a:pPr>
            <a:r>
              <a:rPr sz="740" b="1">
                <a:solidFill>
                  <a:srgbClr val="263746"/>
                </a:solidFill>
                <a:latin typeface="Arial"/>
              </a:rPr>
              <a:t>RGB</a:t>
            </a:r>
          </a:p>
        </p:txBody>
      </p:sp>
      <p:sp>
        <p:nvSpPr>
          <p:cNvPr id="4" name="TextBox 3"/>
          <p:cNvSpPr txBox="1"/>
          <p:nvPr/>
        </p:nvSpPr>
        <p:spPr>
          <a:xfrm>
            <a:off x="1386000" y="216000"/>
            <a:ext cx="558000" cy="270000"/>
          </a:xfrm>
          <a:prstGeom prst="rect">
            <a:avLst/>
          </a:prstGeom>
          <a:noFill/>
        </p:spPr>
        <p:txBody>
          <a:bodyPr wrap="square" lIns="10800" rIns="10800" tIns="3600" bIns="3600" anchor="ctr">
            <a:spAutoFit/>
          </a:bodyPr>
          <a:lstStyle/>
          <a:p>
            <a:pPr algn="ctr">
              <a:spcBef>
                <a:spcPts val="0"/>
              </a:spcBef>
              <a:spcAft>
                <a:spcPts val="0"/>
              </a:spcAft>
            </a:pPr>
            <a:r>
              <a:rPr sz="740" b="1">
                <a:solidFill>
                  <a:srgbClr val="263746"/>
                </a:solidFill>
                <a:latin typeface="Arial"/>
              </a:rPr>
              <a:t>SAR</a:t>
            </a:r>
          </a:p>
        </p:txBody>
      </p:sp>
      <p:sp>
        <p:nvSpPr>
          <p:cNvPr id="5" name="TextBox 4"/>
          <p:cNvSpPr txBox="1"/>
          <p:nvPr/>
        </p:nvSpPr>
        <p:spPr>
          <a:xfrm>
            <a:off x="1962000" y="216000"/>
            <a:ext cx="558000" cy="270000"/>
          </a:xfrm>
          <a:prstGeom prst="rect">
            <a:avLst/>
          </a:prstGeom>
          <a:noFill/>
        </p:spPr>
        <p:txBody>
          <a:bodyPr wrap="square" lIns="10800" rIns="10800" tIns="3600" bIns="3600" anchor="ctr">
            <a:spAutoFit/>
          </a:bodyPr>
          <a:lstStyle/>
          <a:p>
            <a:pPr algn="ctr">
              <a:spcBef>
                <a:spcPts val="0"/>
              </a:spcBef>
              <a:spcAft>
                <a:spcPts val="0"/>
              </a:spcAft>
            </a:pPr>
            <a:r>
              <a:rPr sz="740" b="1">
                <a:solidFill>
                  <a:srgbClr val="263746"/>
                </a:solidFill>
                <a:latin typeface="Arial"/>
              </a:rPr>
              <a:t>GT</a:t>
            </a:r>
          </a:p>
        </p:txBody>
      </p:sp>
      <p:sp>
        <p:nvSpPr>
          <p:cNvPr id="6" name="TextBox 5"/>
          <p:cNvSpPr txBox="1"/>
          <p:nvPr/>
        </p:nvSpPr>
        <p:spPr>
          <a:xfrm>
            <a:off x="2538000" y="216000"/>
            <a:ext cx="558000" cy="270000"/>
          </a:xfrm>
          <a:prstGeom prst="rect">
            <a:avLst/>
          </a:prstGeom>
          <a:noFill/>
        </p:spPr>
        <p:txBody>
          <a:bodyPr wrap="square" lIns="10800" rIns="10800" tIns="3600" bIns="3600" anchor="ctr">
            <a:spAutoFit/>
          </a:bodyPr>
          <a:lstStyle/>
          <a:p>
            <a:pPr algn="ctr">
              <a:spcBef>
                <a:spcPts val="0"/>
              </a:spcBef>
              <a:spcAft>
                <a:spcPts val="0"/>
              </a:spcAft>
            </a:pPr>
            <a:r>
              <a:rPr sz="740" b="1">
                <a:solidFill>
                  <a:srgbClr val="263746"/>
                </a:solidFill>
                <a:latin typeface="Arial"/>
              </a:rPr>
              <a:t>U-Net</a:t>
            </a:r>
          </a:p>
        </p:txBody>
      </p:sp>
      <p:sp>
        <p:nvSpPr>
          <p:cNvPr id="7" name="TextBox 6"/>
          <p:cNvSpPr txBox="1"/>
          <p:nvPr/>
        </p:nvSpPr>
        <p:spPr>
          <a:xfrm>
            <a:off x="3114000" y="216000"/>
            <a:ext cx="558000" cy="270000"/>
          </a:xfrm>
          <a:prstGeom prst="rect">
            <a:avLst/>
          </a:prstGeom>
          <a:noFill/>
        </p:spPr>
        <p:txBody>
          <a:bodyPr wrap="square" lIns="10800" rIns="10800" tIns="3600" bIns="3600" anchor="ctr">
            <a:spAutoFit/>
          </a:bodyPr>
          <a:lstStyle/>
          <a:p>
            <a:pPr algn="ctr">
              <a:spcBef>
                <a:spcPts val="0"/>
              </a:spcBef>
              <a:spcAft>
                <a:spcPts val="0"/>
              </a:spcAft>
            </a:pPr>
            <a:r>
              <a:rPr sz="740" b="1">
                <a:solidFill>
                  <a:srgbClr val="263746"/>
                </a:solidFill>
                <a:latin typeface="Arial"/>
              </a:rPr>
              <a:t>DeepLab</a:t>
            </a:r>
          </a:p>
          <a:p>
            <a:pPr algn="ctr">
              <a:spcBef>
                <a:spcPts val="0"/>
              </a:spcBef>
              <a:spcAft>
                <a:spcPts val="0"/>
              </a:spcAft>
            </a:pPr>
            <a:r>
              <a:rPr sz="740" b="1">
                <a:solidFill>
                  <a:srgbClr val="263746"/>
                </a:solidFill>
                <a:latin typeface="Arial"/>
              </a:rPr>
              <a:t>v3+</a:t>
            </a:r>
          </a:p>
        </p:txBody>
      </p:sp>
      <p:sp>
        <p:nvSpPr>
          <p:cNvPr id="8" name="TextBox 7"/>
          <p:cNvSpPr txBox="1"/>
          <p:nvPr/>
        </p:nvSpPr>
        <p:spPr>
          <a:xfrm>
            <a:off x="3690000" y="216000"/>
            <a:ext cx="558000" cy="270000"/>
          </a:xfrm>
          <a:prstGeom prst="rect">
            <a:avLst/>
          </a:prstGeom>
          <a:noFill/>
        </p:spPr>
        <p:txBody>
          <a:bodyPr wrap="square" lIns="10800" rIns="10800" tIns="3600" bIns="3600" anchor="ctr">
            <a:spAutoFit/>
          </a:bodyPr>
          <a:lstStyle/>
          <a:p>
            <a:pPr algn="ctr">
              <a:spcBef>
                <a:spcPts val="0"/>
              </a:spcBef>
              <a:spcAft>
                <a:spcPts val="0"/>
              </a:spcAft>
            </a:pPr>
            <a:r>
              <a:rPr sz="740" b="1">
                <a:solidFill>
                  <a:srgbClr val="263746"/>
                </a:solidFill>
                <a:latin typeface="Arial"/>
              </a:rPr>
              <a:t>SiamAttn</a:t>
            </a:r>
          </a:p>
          <a:p>
            <a:pPr algn="ctr">
              <a:spcBef>
                <a:spcPts val="0"/>
              </a:spcBef>
              <a:spcAft>
                <a:spcPts val="0"/>
              </a:spcAft>
            </a:pPr>
            <a:r>
              <a:rPr sz="740" b="1">
                <a:solidFill>
                  <a:srgbClr val="263746"/>
                </a:solidFill>
                <a:latin typeface="Arial"/>
              </a:rPr>
              <a:t>UNet</a:t>
            </a:r>
          </a:p>
        </p:txBody>
      </p:sp>
      <p:sp>
        <p:nvSpPr>
          <p:cNvPr id="9" name="TextBox 8"/>
          <p:cNvSpPr txBox="1"/>
          <p:nvPr/>
        </p:nvSpPr>
        <p:spPr>
          <a:xfrm>
            <a:off x="4266000" y="216000"/>
            <a:ext cx="558000" cy="270000"/>
          </a:xfrm>
          <a:prstGeom prst="rect">
            <a:avLst/>
          </a:prstGeom>
          <a:noFill/>
        </p:spPr>
        <p:txBody>
          <a:bodyPr wrap="square" lIns="10800" rIns="10800" tIns="3600" bIns="3600" anchor="ctr">
            <a:spAutoFit/>
          </a:bodyPr>
          <a:lstStyle/>
          <a:p>
            <a:pPr algn="ctr">
              <a:spcBef>
                <a:spcPts val="0"/>
              </a:spcBef>
              <a:spcAft>
                <a:spcPts val="0"/>
              </a:spcAft>
            </a:pPr>
            <a:r>
              <a:rPr sz="740" b="1">
                <a:solidFill>
                  <a:srgbClr val="263746"/>
                </a:solidFill>
                <a:latin typeface="Arial"/>
              </a:rPr>
              <a:t>SiamCRNN</a:t>
            </a:r>
          </a:p>
        </p:txBody>
      </p:sp>
      <p:sp>
        <p:nvSpPr>
          <p:cNvPr id="10" name="TextBox 9"/>
          <p:cNvSpPr txBox="1"/>
          <p:nvPr/>
        </p:nvSpPr>
        <p:spPr>
          <a:xfrm>
            <a:off x="4842000" y="216000"/>
            <a:ext cx="558000" cy="270000"/>
          </a:xfrm>
          <a:prstGeom prst="rect">
            <a:avLst/>
          </a:prstGeom>
          <a:noFill/>
        </p:spPr>
        <p:txBody>
          <a:bodyPr wrap="square" lIns="10800" rIns="10800" tIns="3600" bIns="3600" anchor="ctr">
            <a:spAutoFit/>
          </a:bodyPr>
          <a:lstStyle/>
          <a:p>
            <a:pPr algn="ctr">
              <a:spcBef>
                <a:spcPts val="0"/>
              </a:spcBef>
              <a:spcAft>
                <a:spcPts val="0"/>
              </a:spcAft>
            </a:pPr>
            <a:r>
              <a:rPr sz="740" b="1">
                <a:solidFill>
                  <a:srgbClr val="263746"/>
                </a:solidFill>
                <a:latin typeface="Arial"/>
              </a:rPr>
              <a:t>Damage</a:t>
            </a:r>
          </a:p>
          <a:p>
            <a:pPr algn="ctr">
              <a:spcBef>
                <a:spcPts val="0"/>
              </a:spcBef>
              <a:spcAft>
                <a:spcPts val="0"/>
              </a:spcAft>
            </a:pPr>
            <a:r>
              <a:rPr sz="740" b="1">
                <a:solidFill>
                  <a:srgbClr val="263746"/>
                </a:solidFill>
                <a:latin typeface="Arial"/>
              </a:rPr>
              <a:t>Former</a:t>
            </a:r>
          </a:p>
        </p:txBody>
      </p:sp>
      <p:sp>
        <p:nvSpPr>
          <p:cNvPr id="11" name="TextBox 10"/>
          <p:cNvSpPr txBox="1"/>
          <p:nvPr/>
        </p:nvSpPr>
        <p:spPr>
          <a:xfrm>
            <a:off x="5418000" y="216000"/>
            <a:ext cx="558000" cy="270000"/>
          </a:xfrm>
          <a:prstGeom prst="rect">
            <a:avLst/>
          </a:prstGeom>
          <a:noFill/>
        </p:spPr>
        <p:txBody>
          <a:bodyPr wrap="square" lIns="10800" rIns="10800" tIns="3600" bIns="3600" anchor="ctr">
            <a:spAutoFit/>
          </a:bodyPr>
          <a:lstStyle/>
          <a:p>
            <a:pPr algn="ctr">
              <a:spcBef>
                <a:spcPts val="0"/>
              </a:spcBef>
              <a:spcAft>
                <a:spcPts val="0"/>
              </a:spcAft>
            </a:pPr>
            <a:r>
              <a:rPr sz="740" b="1">
                <a:solidFill>
                  <a:srgbClr val="263746"/>
                </a:solidFill>
                <a:latin typeface="Arial"/>
              </a:rPr>
              <a:t>MPF</a:t>
            </a:r>
          </a:p>
        </p:txBody>
      </p:sp>
      <p:sp>
        <p:nvSpPr>
          <p:cNvPr id="12" name="TextBox 11"/>
          <p:cNvSpPr txBox="1"/>
          <p:nvPr/>
        </p:nvSpPr>
        <p:spPr>
          <a:xfrm>
            <a:off x="36000" y="503999"/>
            <a:ext cx="648000" cy="525600"/>
          </a:xfrm>
          <a:prstGeom prst="rect">
            <a:avLst/>
          </a:prstGeom>
          <a:noFill/>
        </p:spPr>
        <p:txBody>
          <a:bodyPr wrap="square" lIns="10800" rIns="10800" tIns="3600" bIns="3600" anchor="ctr">
            <a:spAutoFit/>
          </a:bodyPr>
          <a:lstStyle/>
          <a:p>
            <a:pPr algn="ctr">
              <a:spcBef>
                <a:spcPts val="0"/>
              </a:spcBef>
              <a:spcAft>
                <a:spcPts val="0"/>
              </a:spcAft>
            </a:pPr>
            <a:r>
              <a:rPr sz="800" b="0">
                <a:solidFill>
                  <a:srgbClr val="263746"/>
                </a:solidFill>
                <a:latin typeface="Arial"/>
              </a:rPr>
              <a:t>congo</a:t>
            </a:r>
          </a:p>
          <a:p>
            <a:pPr algn="ctr">
              <a:spcBef>
                <a:spcPts val="0"/>
              </a:spcBef>
              <a:spcAft>
                <a:spcPts val="0"/>
              </a:spcAft>
            </a:pPr>
            <a:r>
              <a:rPr sz="800" b="0">
                <a:solidFill>
                  <a:srgbClr val="263746"/>
                </a:solidFill>
                <a:latin typeface="Arial"/>
              </a:rPr>
              <a:t>volcano</a:t>
            </a:r>
          </a:p>
          <a:p>
            <a:pPr algn="ctr">
              <a:spcBef>
                <a:spcPts val="0"/>
              </a:spcBef>
              <a:spcAft>
                <a:spcPts val="0"/>
              </a:spcAft>
            </a:pPr>
            <a:r>
              <a:rPr sz="800" b="0">
                <a:solidFill>
                  <a:srgbClr val="263746"/>
                </a:solidFill>
                <a:latin typeface="Arial"/>
              </a:rPr>
              <a:t>00000085</a:t>
            </a:r>
          </a:p>
          <a:p>
            <a:pPr algn="ctr">
              <a:spcBef>
                <a:spcPts val="0"/>
              </a:spcBef>
              <a:spcAft>
                <a:spcPts val="0"/>
              </a:spcAft>
            </a:pPr>
            <a:r>
              <a:rPr sz="800" b="0">
                <a:solidFill>
                  <a:srgbClr val="263746"/>
                </a:solidFill>
                <a:latin typeface="Arial"/>
              </a:rPr>
              <a:t>512 × 512 px</a:t>
            </a:r>
          </a:p>
        </p:txBody>
      </p:sp>
      <p:pic>
        <p:nvPicPr>
          <p:cNvPr id="13" name="Picture 12" descr="congo-volcano_00000085_0_RGB.png"/>
          <p:cNvPicPr>
            <a:picLocks noChangeAspect="1"/>
          </p:cNvPicPr>
          <p:nvPr/>
        </p:nvPicPr>
        <p:blipFill>
          <a:blip r:embed="rId3"/>
          <a:stretch>
            <a:fillRect/>
          </a:stretch>
        </p:blipFill>
        <p:spPr>
          <a:xfrm>
            <a:off x="810000" y="503999"/>
            <a:ext cx="525600" cy="525600"/>
          </a:xfrm>
          <a:prstGeom prst="rect">
            <a:avLst/>
          </a:prstGeom>
          <a:ln w="5080">
            <a:solidFill>
              <a:srgbClr val="A7ADB3"/>
            </a:solidFill>
          </a:ln>
        </p:spPr>
      </p:pic>
      <p:pic>
        <p:nvPicPr>
          <p:cNvPr id="14" name="Picture 13" descr="congo-volcano_00000085_1_SAR.png"/>
          <p:cNvPicPr>
            <a:picLocks noChangeAspect="1"/>
          </p:cNvPicPr>
          <p:nvPr/>
        </p:nvPicPr>
        <p:blipFill>
          <a:blip r:embed="rId4"/>
          <a:stretch>
            <a:fillRect/>
          </a:stretch>
        </p:blipFill>
        <p:spPr>
          <a:xfrm>
            <a:off x="1386000" y="503999"/>
            <a:ext cx="525600" cy="525600"/>
          </a:xfrm>
          <a:prstGeom prst="rect">
            <a:avLst/>
          </a:prstGeom>
          <a:ln w="5080">
            <a:solidFill>
              <a:srgbClr val="A7ADB3"/>
            </a:solidFill>
          </a:ln>
        </p:spPr>
      </p:pic>
      <p:pic>
        <p:nvPicPr>
          <p:cNvPr id="15" name="Picture 14" descr="congo-volcano_00000085_2_GT.png"/>
          <p:cNvPicPr>
            <a:picLocks noChangeAspect="1"/>
          </p:cNvPicPr>
          <p:nvPr/>
        </p:nvPicPr>
        <p:blipFill>
          <a:blip r:embed="rId5"/>
          <a:stretch>
            <a:fillRect/>
          </a:stretch>
        </p:blipFill>
        <p:spPr>
          <a:xfrm>
            <a:off x="1962000" y="503999"/>
            <a:ext cx="525600" cy="525600"/>
          </a:xfrm>
          <a:prstGeom prst="rect">
            <a:avLst/>
          </a:prstGeom>
          <a:ln w="5080">
            <a:solidFill>
              <a:srgbClr val="A7ADB3"/>
            </a:solidFill>
          </a:ln>
        </p:spPr>
      </p:pic>
      <p:pic>
        <p:nvPicPr>
          <p:cNvPr id="16" name="Picture 15" descr="congo-volcano_00000085_3_U-Net.png"/>
          <p:cNvPicPr>
            <a:picLocks noChangeAspect="1"/>
          </p:cNvPicPr>
          <p:nvPr/>
        </p:nvPicPr>
        <p:blipFill>
          <a:blip r:embed="rId6"/>
          <a:stretch>
            <a:fillRect/>
          </a:stretch>
        </p:blipFill>
        <p:spPr>
          <a:xfrm>
            <a:off x="2538000" y="503999"/>
            <a:ext cx="525600" cy="525600"/>
          </a:xfrm>
          <a:prstGeom prst="rect">
            <a:avLst/>
          </a:prstGeom>
          <a:ln w="5080">
            <a:solidFill>
              <a:srgbClr val="A7ADB3"/>
            </a:solidFill>
          </a:ln>
        </p:spPr>
      </p:pic>
      <p:pic>
        <p:nvPicPr>
          <p:cNvPr id="17" name="Picture 16" descr="congo-volcano_00000085_4_DeepLabv3+.png"/>
          <p:cNvPicPr>
            <a:picLocks noChangeAspect="1"/>
          </p:cNvPicPr>
          <p:nvPr/>
        </p:nvPicPr>
        <p:blipFill>
          <a:blip r:embed="rId7"/>
          <a:stretch>
            <a:fillRect/>
          </a:stretch>
        </p:blipFill>
        <p:spPr>
          <a:xfrm>
            <a:off x="3114000" y="503999"/>
            <a:ext cx="525600" cy="525600"/>
          </a:xfrm>
          <a:prstGeom prst="rect">
            <a:avLst/>
          </a:prstGeom>
          <a:ln w="5080">
            <a:solidFill>
              <a:srgbClr val="A7ADB3"/>
            </a:solidFill>
          </a:ln>
        </p:spPr>
      </p:pic>
      <p:pic>
        <p:nvPicPr>
          <p:cNvPr id="18" name="Picture 17" descr="congo-volcano_00000085_5_SiamAttnUNet.png"/>
          <p:cNvPicPr>
            <a:picLocks noChangeAspect="1"/>
          </p:cNvPicPr>
          <p:nvPr/>
        </p:nvPicPr>
        <p:blipFill>
          <a:blip r:embed="rId8"/>
          <a:stretch>
            <a:fillRect/>
          </a:stretch>
        </p:blipFill>
        <p:spPr>
          <a:xfrm>
            <a:off x="3690000" y="503999"/>
            <a:ext cx="525600" cy="525600"/>
          </a:xfrm>
          <a:prstGeom prst="rect">
            <a:avLst/>
          </a:prstGeom>
          <a:ln w="5080">
            <a:solidFill>
              <a:srgbClr val="A7ADB3"/>
            </a:solidFill>
          </a:ln>
        </p:spPr>
      </p:pic>
      <p:pic>
        <p:nvPicPr>
          <p:cNvPr id="19" name="Picture 18" descr="congo-volcano_00000085_6_SiamCRNN.png"/>
          <p:cNvPicPr>
            <a:picLocks noChangeAspect="1"/>
          </p:cNvPicPr>
          <p:nvPr/>
        </p:nvPicPr>
        <p:blipFill>
          <a:blip r:embed="rId9"/>
          <a:stretch>
            <a:fillRect/>
          </a:stretch>
        </p:blipFill>
        <p:spPr>
          <a:xfrm>
            <a:off x="4266000" y="503999"/>
            <a:ext cx="525600" cy="525600"/>
          </a:xfrm>
          <a:prstGeom prst="rect">
            <a:avLst/>
          </a:prstGeom>
          <a:ln w="5080">
            <a:solidFill>
              <a:srgbClr val="A7ADB3"/>
            </a:solidFill>
          </a:ln>
        </p:spPr>
      </p:pic>
      <p:pic>
        <p:nvPicPr>
          <p:cNvPr id="20" name="Picture 19" descr="congo-volcano_00000085_7_DamageFormer.png"/>
          <p:cNvPicPr>
            <a:picLocks noChangeAspect="1"/>
          </p:cNvPicPr>
          <p:nvPr/>
        </p:nvPicPr>
        <p:blipFill>
          <a:blip r:embed="rId10"/>
          <a:stretch>
            <a:fillRect/>
          </a:stretch>
        </p:blipFill>
        <p:spPr>
          <a:xfrm>
            <a:off x="4842000" y="503999"/>
            <a:ext cx="525600" cy="525600"/>
          </a:xfrm>
          <a:prstGeom prst="rect">
            <a:avLst/>
          </a:prstGeom>
          <a:ln w="5080">
            <a:solidFill>
              <a:srgbClr val="A7ADB3"/>
            </a:solidFill>
          </a:ln>
        </p:spPr>
      </p:pic>
      <p:pic>
        <p:nvPicPr>
          <p:cNvPr id="21" name="Picture 20" descr="congo-volcano_00000085_8_MPF.png"/>
          <p:cNvPicPr>
            <a:picLocks noChangeAspect="1"/>
          </p:cNvPicPr>
          <p:nvPr/>
        </p:nvPicPr>
        <p:blipFill>
          <a:blip r:embed="rId11"/>
          <a:stretch>
            <a:fillRect/>
          </a:stretch>
        </p:blipFill>
        <p:spPr>
          <a:xfrm>
            <a:off x="5418000" y="503999"/>
            <a:ext cx="525600" cy="525600"/>
          </a:xfrm>
          <a:prstGeom prst="rect">
            <a:avLst/>
          </a:prstGeom>
          <a:ln w="5080">
            <a:solidFill>
              <a:srgbClr val="A7ADB3"/>
            </a:solidFill>
          </a:ln>
        </p:spPr>
      </p:pic>
      <p:sp>
        <p:nvSpPr>
          <p:cNvPr id="22" name="TextBox 21"/>
          <p:cNvSpPr txBox="1"/>
          <p:nvPr/>
        </p:nvSpPr>
        <p:spPr>
          <a:xfrm>
            <a:off x="36000" y="1044000"/>
            <a:ext cx="648000" cy="525600"/>
          </a:xfrm>
          <a:prstGeom prst="rect">
            <a:avLst/>
          </a:prstGeom>
          <a:noFill/>
        </p:spPr>
        <p:txBody>
          <a:bodyPr wrap="square" lIns="10800" rIns="10800" tIns="3600" bIns="3600" anchor="ctr">
            <a:spAutoFit/>
          </a:bodyPr>
          <a:lstStyle/>
          <a:p>
            <a:pPr algn="ctr">
              <a:spcBef>
                <a:spcPts val="0"/>
              </a:spcBef>
              <a:spcAft>
                <a:spcPts val="0"/>
              </a:spcAft>
            </a:pPr>
            <a:r>
              <a:rPr sz="800" b="0">
                <a:solidFill>
                  <a:srgbClr val="263746"/>
                </a:solidFill>
                <a:latin typeface="Arial"/>
              </a:rPr>
              <a:t>congo</a:t>
            </a:r>
          </a:p>
          <a:p>
            <a:pPr algn="ctr">
              <a:spcBef>
                <a:spcPts val="0"/>
              </a:spcBef>
              <a:spcAft>
                <a:spcPts val="0"/>
              </a:spcAft>
            </a:pPr>
            <a:r>
              <a:rPr sz="800" b="0">
                <a:solidFill>
                  <a:srgbClr val="263746"/>
                </a:solidFill>
                <a:latin typeface="Arial"/>
              </a:rPr>
              <a:t>volcano</a:t>
            </a:r>
          </a:p>
          <a:p>
            <a:pPr algn="ctr">
              <a:spcBef>
                <a:spcPts val="0"/>
              </a:spcBef>
              <a:spcAft>
                <a:spcPts val="0"/>
              </a:spcAft>
            </a:pPr>
            <a:r>
              <a:rPr sz="800" b="0">
                <a:solidFill>
                  <a:srgbClr val="263746"/>
                </a:solidFill>
                <a:latin typeface="Arial"/>
              </a:rPr>
              <a:t>00000092</a:t>
            </a:r>
          </a:p>
          <a:p>
            <a:pPr algn="ctr">
              <a:spcBef>
                <a:spcPts val="0"/>
              </a:spcBef>
              <a:spcAft>
                <a:spcPts val="0"/>
              </a:spcAft>
            </a:pPr>
            <a:r>
              <a:rPr sz="800" b="0">
                <a:solidFill>
                  <a:srgbClr val="263746"/>
                </a:solidFill>
                <a:latin typeface="Arial"/>
              </a:rPr>
              <a:t>512 × 512 px</a:t>
            </a:r>
          </a:p>
        </p:txBody>
      </p:sp>
      <p:pic>
        <p:nvPicPr>
          <p:cNvPr id="23" name="Picture 22" descr="congo-volcano_00000092_0_RGB.png"/>
          <p:cNvPicPr>
            <a:picLocks noChangeAspect="1"/>
          </p:cNvPicPr>
          <p:nvPr/>
        </p:nvPicPr>
        <p:blipFill>
          <a:blip r:embed="rId12"/>
          <a:stretch>
            <a:fillRect/>
          </a:stretch>
        </p:blipFill>
        <p:spPr>
          <a:xfrm>
            <a:off x="810000" y="1044000"/>
            <a:ext cx="525600" cy="525600"/>
          </a:xfrm>
          <a:prstGeom prst="rect">
            <a:avLst/>
          </a:prstGeom>
          <a:ln w="5080">
            <a:solidFill>
              <a:srgbClr val="A7ADB3"/>
            </a:solidFill>
          </a:ln>
        </p:spPr>
      </p:pic>
      <p:pic>
        <p:nvPicPr>
          <p:cNvPr id="24" name="Picture 23" descr="congo-volcano_00000092_1_SAR.png"/>
          <p:cNvPicPr>
            <a:picLocks noChangeAspect="1"/>
          </p:cNvPicPr>
          <p:nvPr/>
        </p:nvPicPr>
        <p:blipFill>
          <a:blip r:embed="rId13"/>
          <a:stretch>
            <a:fillRect/>
          </a:stretch>
        </p:blipFill>
        <p:spPr>
          <a:xfrm>
            <a:off x="1386000" y="1044000"/>
            <a:ext cx="525600" cy="525600"/>
          </a:xfrm>
          <a:prstGeom prst="rect">
            <a:avLst/>
          </a:prstGeom>
          <a:ln w="5080">
            <a:solidFill>
              <a:srgbClr val="A7ADB3"/>
            </a:solidFill>
          </a:ln>
        </p:spPr>
      </p:pic>
      <p:pic>
        <p:nvPicPr>
          <p:cNvPr id="25" name="Picture 24" descr="congo-volcano_00000092_2_GT.png"/>
          <p:cNvPicPr>
            <a:picLocks noChangeAspect="1"/>
          </p:cNvPicPr>
          <p:nvPr/>
        </p:nvPicPr>
        <p:blipFill>
          <a:blip r:embed="rId14"/>
          <a:stretch>
            <a:fillRect/>
          </a:stretch>
        </p:blipFill>
        <p:spPr>
          <a:xfrm>
            <a:off x="1962000" y="1044000"/>
            <a:ext cx="525600" cy="525600"/>
          </a:xfrm>
          <a:prstGeom prst="rect">
            <a:avLst/>
          </a:prstGeom>
          <a:ln w="5080">
            <a:solidFill>
              <a:srgbClr val="A7ADB3"/>
            </a:solidFill>
          </a:ln>
        </p:spPr>
      </p:pic>
      <p:pic>
        <p:nvPicPr>
          <p:cNvPr id="26" name="Picture 25" descr="congo-volcano_00000092_3_U-Net.png"/>
          <p:cNvPicPr>
            <a:picLocks noChangeAspect="1"/>
          </p:cNvPicPr>
          <p:nvPr/>
        </p:nvPicPr>
        <p:blipFill>
          <a:blip r:embed="rId15"/>
          <a:stretch>
            <a:fillRect/>
          </a:stretch>
        </p:blipFill>
        <p:spPr>
          <a:xfrm>
            <a:off x="2538000" y="1044000"/>
            <a:ext cx="525600" cy="525600"/>
          </a:xfrm>
          <a:prstGeom prst="rect">
            <a:avLst/>
          </a:prstGeom>
          <a:ln w="5080">
            <a:solidFill>
              <a:srgbClr val="A7ADB3"/>
            </a:solidFill>
          </a:ln>
        </p:spPr>
      </p:pic>
      <p:pic>
        <p:nvPicPr>
          <p:cNvPr id="27" name="Picture 26" descr="congo-volcano_00000092_4_DeepLabv3+.png"/>
          <p:cNvPicPr>
            <a:picLocks noChangeAspect="1"/>
          </p:cNvPicPr>
          <p:nvPr/>
        </p:nvPicPr>
        <p:blipFill>
          <a:blip r:embed="rId16"/>
          <a:stretch>
            <a:fillRect/>
          </a:stretch>
        </p:blipFill>
        <p:spPr>
          <a:xfrm>
            <a:off x="3114000" y="1044000"/>
            <a:ext cx="525600" cy="525600"/>
          </a:xfrm>
          <a:prstGeom prst="rect">
            <a:avLst/>
          </a:prstGeom>
          <a:ln w="5080">
            <a:solidFill>
              <a:srgbClr val="A7ADB3"/>
            </a:solidFill>
          </a:ln>
        </p:spPr>
      </p:pic>
      <p:pic>
        <p:nvPicPr>
          <p:cNvPr id="28" name="Picture 27" descr="congo-volcano_00000092_5_SiamAttnUNet.png"/>
          <p:cNvPicPr>
            <a:picLocks noChangeAspect="1"/>
          </p:cNvPicPr>
          <p:nvPr/>
        </p:nvPicPr>
        <p:blipFill>
          <a:blip r:embed="rId17"/>
          <a:stretch>
            <a:fillRect/>
          </a:stretch>
        </p:blipFill>
        <p:spPr>
          <a:xfrm>
            <a:off x="3690000" y="1044000"/>
            <a:ext cx="525600" cy="525600"/>
          </a:xfrm>
          <a:prstGeom prst="rect">
            <a:avLst/>
          </a:prstGeom>
          <a:ln w="5080">
            <a:solidFill>
              <a:srgbClr val="A7ADB3"/>
            </a:solidFill>
          </a:ln>
        </p:spPr>
      </p:pic>
      <p:pic>
        <p:nvPicPr>
          <p:cNvPr id="29" name="Picture 28" descr="congo-volcano_00000092_6_SiamCRNN.png"/>
          <p:cNvPicPr>
            <a:picLocks noChangeAspect="1"/>
          </p:cNvPicPr>
          <p:nvPr/>
        </p:nvPicPr>
        <p:blipFill>
          <a:blip r:embed="rId18"/>
          <a:stretch>
            <a:fillRect/>
          </a:stretch>
        </p:blipFill>
        <p:spPr>
          <a:xfrm>
            <a:off x="4266000" y="1044000"/>
            <a:ext cx="525600" cy="525600"/>
          </a:xfrm>
          <a:prstGeom prst="rect">
            <a:avLst/>
          </a:prstGeom>
          <a:ln w="5080">
            <a:solidFill>
              <a:srgbClr val="A7ADB3"/>
            </a:solidFill>
          </a:ln>
        </p:spPr>
      </p:pic>
      <p:pic>
        <p:nvPicPr>
          <p:cNvPr id="30" name="Picture 29" descr="congo-volcano_00000092_7_DamageFormer.png"/>
          <p:cNvPicPr>
            <a:picLocks noChangeAspect="1"/>
          </p:cNvPicPr>
          <p:nvPr/>
        </p:nvPicPr>
        <p:blipFill>
          <a:blip r:embed="rId19"/>
          <a:stretch>
            <a:fillRect/>
          </a:stretch>
        </p:blipFill>
        <p:spPr>
          <a:xfrm>
            <a:off x="4842000" y="1044000"/>
            <a:ext cx="525600" cy="525600"/>
          </a:xfrm>
          <a:prstGeom prst="rect">
            <a:avLst/>
          </a:prstGeom>
          <a:ln w="5080">
            <a:solidFill>
              <a:srgbClr val="A7ADB3"/>
            </a:solidFill>
          </a:ln>
        </p:spPr>
      </p:pic>
      <p:pic>
        <p:nvPicPr>
          <p:cNvPr id="31" name="Picture 30" descr="congo-volcano_00000092_8_MPF.png"/>
          <p:cNvPicPr>
            <a:picLocks noChangeAspect="1"/>
          </p:cNvPicPr>
          <p:nvPr/>
        </p:nvPicPr>
        <p:blipFill>
          <a:blip r:embed="rId20"/>
          <a:stretch>
            <a:fillRect/>
          </a:stretch>
        </p:blipFill>
        <p:spPr>
          <a:xfrm>
            <a:off x="5418000" y="1044000"/>
            <a:ext cx="525600" cy="525600"/>
          </a:xfrm>
          <a:prstGeom prst="rect">
            <a:avLst/>
          </a:prstGeom>
          <a:ln w="5080">
            <a:solidFill>
              <a:srgbClr val="A7ADB3"/>
            </a:solidFill>
          </a:ln>
        </p:spPr>
      </p:pic>
      <p:sp>
        <p:nvSpPr>
          <p:cNvPr id="32" name="TextBox 31"/>
          <p:cNvSpPr txBox="1"/>
          <p:nvPr/>
        </p:nvSpPr>
        <p:spPr>
          <a:xfrm>
            <a:off x="36000" y="1584000"/>
            <a:ext cx="648000" cy="525600"/>
          </a:xfrm>
          <a:prstGeom prst="rect">
            <a:avLst/>
          </a:prstGeom>
          <a:noFill/>
        </p:spPr>
        <p:txBody>
          <a:bodyPr wrap="square" lIns="10800" rIns="10800" tIns="3600" bIns="3600" anchor="ctr">
            <a:spAutoFit/>
          </a:bodyPr>
          <a:lstStyle/>
          <a:p>
            <a:pPr algn="ctr">
              <a:spcBef>
                <a:spcPts val="0"/>
              </a:spcBef>
              <a:spcAft>
                <a:spcPts val="0"/>
              </a:spcAft>
            </a:pPr>
            <a:r>
              <a:rPr sz="800" b="0">
                <a:solidFill>
                  <a:srgbClr val="263746"/>
                </a:solidFill>
                <a:latin typeface="Arial"/>
              </a:rPr>
              <a:t>La Palma</a:t>
            </a:r>
          </a:p>
          <a:p>
            <a:pPr algn="ctr">
              <a:spcBef>
                <a:spcPts val="0"/>
              </a:spcBef>
              <a:spcAft>
                <a:spcPts val="0"/>
              </a:spcAft>
            </a:pPr>
            <a:r>
              <a:rPr sz="800" b="0">
                <a:solidFill>
                  <a:srgbClr val="263746"/>
                </a:solidFill>
                <a:latin typeface="Arial"/>
              </a:rPr>
              <a:t>volcano</a:t>
            </a:r>
          </a:p>
          <a:p>
            <a:pPr algn="ctr">
              <a:spcBef>
                <a:spcPts val="0"/>
              </a:spcBef>
              <a:spcAft>
                <a:spcPts val="0"/>
              </a:spcAft>
            </a:pPr>
            <a:r>
              <a:rPr sz="800" b="0">
                <a:solidFill>
                  <a:srgbClr val="263746"/>
                </a:solidFill>
                <a:latin typeface="Arial"/>
              </a:rPr>
              <a:t>00000597</a:t>
            </a:r>
          </a:p>
          <a:p>
            <a:pPr algn="ctr">
              <a:spcBef>
                <a:spcPts val="0"/>
              </a:spcBef>
              <a:spcAft>
                <a:spcPts val="0"/>
              </a:spcAft>
            </a:pPr>
            <a:r>
              <a:rPr sz="800" b="0">
                <a:solidFill>
                  <a:srgbClr val="263746"/>
                </a:solidFill>
                <a:latin typeface="Arial"/>
              </a:rPr>
              <a:t>768 × 768 px</a:t>
            </a:r>
          </a:p>
        </p:txBody>
      </p:sp>
      <p:pic>
        <p:nvPicPr>
          <p:cNvPr id="33" name="Picture 32" descr="la_palma-volcano_00000597_0_RGB.png"/>
          <p:cNvPicPr>
            <a:picLocks noChangeAspect="1"/>
          </p:cNvPicPr>
          <p:nvPr/>
        </p:nvPicPr>
        <p:blipFill>
          <a:blip r:embed="rId21"/>
          <a:stretch>
            <a:fillRect/>
          </a:stretch>
        </p:blipFill>
        <p:spPr>
          <a:xfrm>
            <a:off x="810000" y="1584000"/>
            <a:ext cx="525600" cy="525600"/>
          </a:xfrm>
          <a:prstGeom prst="rect">
            <a:avLst/>
          </a:prstGeom>
          <a:ln w="5080">
            <a:solidFill>
              <a:srgbClr val="A7ADB3"/>
            </a:solidFill>
          </a:ln>
        </p:spPr>
      </p:pic>
      <p:pic>
        <p:nvPicPr>
          <p:cNvPr id="34" name="Picture 33" descr="la_palma-volcano_00000597_1_SAR.png"/>
          <p:cNvPicPr>
            <a:picLocks noChangeAspect="1"/>
          </p:cNvPicPr>
          <p:nvPr/>
        </p:nvPicPr>
        <p:blipFill>
          <a:blip r:embed="rId22"/>
          <a:stretch>
            <a:fillRect/>
          </a:stretch>
        </p:blipFill>
        <p:spPr>
          <a:xfrm>
            <a:off x="1386000" y="1584000"/>
            <a:ext cx="525600" cy="525600"/>
          </a:xfrm>
          <a:prstGeom prst="rect">
            <a:avLst/>
          </a:prstGeom>
          <a:ln w="5080">
            <a:solidFill>
              <a:srgbClr val="A7ADB3"/>
            </a:solidFill>
          </a:ln>
        </p:spPr>
      </p:pic>
      <p:pic>
        <p:nvPicPr>
          <p:cNvPr id="35" name="Picture 34" descr="la_palma-volcano_00000597_2_GT.png"/>
          <p:cNvPicPr>
            <a:picLocks noChangeAspect="1"/>
          </p:cNvPicPr>
          <p:nvPr/>
        </p:nvPicPr>
        <p:blipFill>
          <a:blip r:embed="rId23"/>
          <a:stretch>
            <a:fillRect/>
          </a:stretch>
        </p:blipFill>
        <p:spPr>
          <a:xfrm>
            <a:off x="1962000" y="1584000"/>
            <a:ext cx="525600" cy="525600"/>
          </a:xfrm>
          <a:prstGeom prst="rect">
            <a:avLst/>
          </a:prstGeom>
          <a:ln w="5080">
            <a:solidFill>
              <a:srgbClr val="A7ADB3"/>
            </a:solidFill>
          </a:ln>
        </p:spPr>
      </p:pic>
      <p:pic>
        <p:nvPicPr>
          <p:cNvPr id="36" name="Picture 35" descr="la_palma-volcano_00000597_3_U-Net.png"/>
          <p:cNvPicPr>
            <a:picLocks noChangeAspect="1"/>
          </p:cNvPicPr>
          <p:nvPr/>
        </p:nvPicPr>
        <p:blipFill>
          <a:blip r:embed="rId24"/>
          <a:stretch>
            <a:fillRect/>
          </a:stretch>
        </p:blipFill>
        <p:spPr>
          <a:xfrm>
            <a:off x="2538000" y="1584000"/>
            <a:ext cx="525600" cy="525600"/>
          </a:xfrm>
          <a:prstGeom prst="rect">
            <a:avLst/>
          </a:prstGeom>
          <a:ln w="5080">
            <a:solidFill>
              <a:srgbClr val="A7ADB3"/>
            </a:solidFill>
          </a:ln>
        </p:spPr>
      </p:pic>
      <p:pic>
        <p:nvPicPr>
          <p:cNvPr id="37" name="Picture 36" descr="la_palma-volcano_00000597_4_DeepLabv3+.png"/>
          <p:cNvPicPr>
            <a:picLocks noChangeAspect="1"/>
          </p:cNvPicPr>
          <p:nvPr/>
        </p:nvPicPr>
        <p:blipFill>
          <a:blip r:embed="rId25"/>
          <a:stretch>
            <a:fillRect/>
          </a:stretch>
        </p:blipFill>
        <p:spPr>
          <a:xfrm>
            <a:off x="3114000" y="1584000"/>
            <a:ext cx="525600" cy="525600"/>
          </a:xfrm>
          <a:prstGeom prst="rect">
            <a:avLst/>
          </a:prstGeom>
          <a:ln w="5080">
            <a:solidFill>
              <a:srgbClr val="A7ADB3"/>
            </a:solidFill>
          </a:ln>
        </p:spPr>
      </p:pic>
      <p:pic>
        <p:nvPicPr>
          <p:cNvPr id="38" name="Picture 37" descr="la_palma-volcano_00000597_5_SiamAttnUNet.png"/>
          <p:cNvPicPr>
            <a:picLocks noChangeAspect="1"/>
          </p:cNvPicPr>
          <p:nvPr/>
        </p:nvPicPr>
        <p:blipFill>
          <a:blip r:embed="rId26"/>
          <a:stretch>
            <a:fillRect/>
          </a:stretch>
        </p:blipFill>
        <p:spPr>
          <a:xfrm>
            <a:off x="3690000" y="1584000"/>
            <a:ext cx="525600" cy="525600"/>
          </a:xfrm>
          <a:prstGeom prst="rect">
            <a:avLst/>
          </a:prstGeom>
          <a:ln w="5080">
            <a:solidFill>
              <a:srgbClr val="A7ADB3"/>
            </a:solidFill>
          </a:ln>
        </p:spPr>
      </p:pic>
      <p:pic>
        <p:nvPicPr>
          <p:cNvPr id="39" name="Picture 38" descr="la_palma-volcano_00000597_6_SiamCRNN.png"/>
          <p:cNvPicPr>
            <a:picLocks noChangeAspect="1"/>
          </p:cNvPicPr>
          <p:nvPr/>
        </p:nvPicPr>
        <p:blipFill>
          <a:blip r:embed="rId27"/>
          <a:stretch>
            <a:fillRect/>
          </a:stretch>
        </p:blipFill>
        <p:spPr>
          <a:xfrm>
            <a:off x="4266000" y="1584000"/>
            <a:ext cx="525600" cy="525600"/>
          </a:xfrm>
          <a:prstGeom prst="rect">
            <a:avLst/>
          </a:prstGeom>
          <a:ln w="5080">
            <a:solidFill>
              <a:srgbClr val="A7ADB3"/>
            </a:solidFill>
          </a:ln>
        </p:spPr>
      </p:pic>
      <p:pic>
        <p:nvPicPr>
          <p:cNvPr id="40" name="Picture 39" descr="la_palma-volcano_00000597_7_DamageFormer.png"/>
          <p:cNvPicPr>
            <a:picLocks noChangeAspect="1"/>
          </p:cNvPicPr>
          <p:nvPr/>
        </p:nvPicPr>
        <p:blipFill>
          <a:blip r:embed="rId28"/>
          <a:stretch>
            <a:fillRect/>
          </a:stretch>
        </p:blipFill>
        <p:spPr>
          <a:xfrm>
            <a:off x="4842000" y="1584000"/>
            <a:ext cx="525600" cy="525600"/>
          </a:xfrm>
          <a:prstGeom prst="rect">
            <a:avLst/>
          </a:prstGeom>
          <a:ln w="5080">
            <a:solidFill>
              <a:srgbClr val="A7ADB3"/>
            </a:solidFill>
          </a:ln>
        </p:spPr>
      </p:pic>
      <p:pic>
        <p:nvPicPr>
          <p:cNvPr id="41" name="Picture 40" descr="la_palma-volcano_00000597_8_MPF.png"/>
          <p:cNvPicPr>
            <a:picLocks noChangeAspect="1"/>
          </p:cNvPicPr>
          <p:nvPr/>
        </p:nvPicPr>
        <p:blipFill>
          <a:blip r:embed="rId29"/>
          <a:stretch>
            <a:fillRect/>
          </a:stretch>
        </p:blipFill>
        <p:spPr>
          <a:xfrm>
            <a:off x="5418000" y="1584000"/>
            <a:ext cx="525600" cy="525600"/>
          </a:xfrm>
          <a:prstGeom prst="rect">
            <a:avLst/>
          </a:prstGeom>
          <a:ln w="5080">
            <a:solidFill>
              <a:srgbClr val="A7ADB3"/>
            </a:solidFill>
          </a:ln>
        </p:spPr>
      </p:pic>
      <p:sp>
        <p:nvSpPr>
          <p:cNvPr id="42" name="TextBox 41"/>
          <p:cNvSpPr txBox="1"/>
          <p:nvPr/>
        </p:nvSpPr>
        <p:spPr>
          <a:xfrm>
            <a:off x="36000" y="2124000"/>
            <a:ext cx="648000" cy="525600"/>
          </a:xfrm>
          <a:prstGeom prst="rect">
            <a:avLst/>
          </a:prstGeom>
          <a:noFill/>
        </p:spPr>
        <p:txBody>
          <a:bodyPr wrap="square" lIns="10800" rIns="10800" tIns="3600" bIns="3600" anchor="ctr">
            <a:spAutoFit/>
          </a:bodyPr>
          <a:lstStyle/>
          <a:p>
            <a:pPr algn="ctr">
              <a:spcBef>
                <a:spcPts val="0"/>
              </a:spcBef>
              <a:spcAft>
                <a:spcPts val="0"/>
              </a:spcAft>
            </a:pPr>
            <a:r>
              <a:rPr sz="800" b="0">
                <a:solidFill>
                  <a:srgbClr val="263746"/>
                </a:solidFill>
                <a:latin typeface="Arial"/>
              </a:rPr>
              <a:t>La Palma</a:t>
            </a:r>
          </a:p>
          <a:p>
            <a:pPr algn="ctr">
              <a:spcBef>
                <a:spcPts val="0"/>
              </a:spcBef>
              <a:spcAft>
                <a:spcPts val="0"/>
              </a:spcAft>
            </a:pPr>
            <a:r>
              <a:rPr sz="800" b="0">
                <a:solidFill>
                  <a:srgbClr val="263746"/>
                </a:solidFill>
                <a:latin typeface="Arial"/>
              </a:rPr>
              <a:t>volcano</a:t>
            </a:r>
          </a:p>
          <a:p>
            <a:pPr algn="ctr">
              <a:spcBef>
                <a:spcPts val="0"/>
              </a:spcBef>
              <a:spcAft>
                <a:spcPts val="0"/>
              </a:spcAft>
            </a:pPr>
            <a:r>
              <a:rPr sz="800" b="0">
                <a:solidFill>
                  <a:srgbClr val="263746"/>
                </a:solidFill>
                <a:latin typeface="Arial"/>
              </a:rPr>
              <a:t>00000353</a:t>
            </a:r>
          </a:p>
          <a:p>
            <a:pPr algn="ctr">
              <a:spcBef>
                <a:spcPts val="0"/>
              </a:spcBef>
              <a:spcAft>
                <a:spcPts val="0"/>
              </a:spcAft>
            </a:pPr>
            <a:r>
              <a:rPr sz="800" b="0">
                <a:solidFill>
                  <a:srgbClr val="263746"/>
                </a:solidFill>
                <a:latin typeface="Arial"/>
              </a:rPr>
              <a:t>512 × 512 px</a:t>
            </a:r>
          </a:p>
        </p:txBody>
      </p:sp>
      <p:pic>
        <p:nvPicPr>
          <p:cNvPr id="43" name="Picture 42" descr="la_palma-volcano_00000353_0_RGB.png"/>
          <p:cNvPicPr>
            <a:picLocks noChangeAspect="1"/>
          </p:cNvPicPr>
          <p:nvPr/>
        </p:nvPicPr>
        <p:blipFill>
          <a:blip r:embed="rId30"/>
          <a:stretch>
            <a:fillRect/>
          </a:stretch>
        </p:blipFill>
        <p:spPr>
          <a:xfrm>
            <a:off x="810000" y="2124000"/>
            <a:ext cx="525600" cy="525600"/>
          </a:xfrm>
          <a:prstGeom prst="rect">
            <a:avLst/>
          </a:prstGeom>
          <a:ln w="5080">
            <a:solidFill>
              <a:srgbClr val="A7ADB3"/>
            </a:solidFill>
          </a:ln>
        </p:spPr>
      </p:pic>
      <p:pic>
        <p:nvPicPr>
          <p:cNvPr id="44" name="Picture 43" descr="la_palma-volcano_00000353_1_SAR.png"/>
          <p:cNvPicPr>
            <a:picLocks noChangeAspect="1"/>
          </p:cNvPicPr>
          <p:nvPr/>
        </p:nvPicPr>
        <p:blipFill>
          <a:blip r:embed="rId31"/>
          <a:stretch>
            <a:fillRect/>
          </a:stretch>
        </p:blipFill>
        <p:spPr>
          <a:xfrm>
            <a:off x="1386000" y="2124000"/>
            <a:ext cx="525600" cy="525600"/>
          </a:xfrm>
          <a:prstGeom prst="rect">
            <a:avLst/>
          </a:prstGeom>
          <a:ln w="5080">
            <a:solidFill>
              <a:srgbClr val="A7ADB3"/>
            </a:solidFill>
          </a:ln>
        </p:spPr>
      </p:pic>
      <p:pic>
        <p:nvPicPr>
          <p:cNvPr id="45" name="Picture 44" descr="la_palma-volcano_00000353_2_GT.png"/>
          <p:cNvPicPr>
            <a:picLocks noChangeAspect="1"/>
          </p:cNvPicPr>
          <p:nvPr/>
        </p:nvPicPr>
        <p:blipFill>
          <a:blip r:embed="rId32"/>
          <a:stretch>
            <a:fillRect/>
          </a:stretch>
        </p:blipFill>
        <p:spPr>
          <a:xfrm>
            <a:off x="1962000" y="2124000"/>
            <a:ext cx="525600" cy="525600"/>
          </a:xfrm>
          <a:prstGeom prst="rect">
            <a:avLst/>
          </a:prstGeom>
          <a:ln w="5080">
            <a:solidFill>
              <a:srgbClr val="A7ADB3"/>
            </a:solidFill>
          </a:ln>
        </p:spPr>
      </p:pic>
      <p:pic>
        <p:nvPicPr>
          <p:cNvPr id="46" name="Picture 45" descr="la_palma-volcano_00000353_3_U-Net.png"/>
          <p:cNvPicPr>
            <a:picLocks noChangeAspect="1"/>
          </p:cNvPicPr>
          <p:nvPr/>
        </p:nvPicPr>
        <p:blipFill>
          <a:blip r:embed="rId33"/>
          <a:stretch>
            <a:fillRect/>
          </a:stretch>
        </p:blipFill>
        <p:spPr>
          <a:xfrm>
            <a:off x="2538000" y="2124000"/>
            <a:ext cx="525600" cy="525600"/>
          </a:xfrm>
          <a:prstGeom prst="rect">
            <a:avLst/>
          </a:prstGeom>
          <a:ln w="5080">
            <a:solidFill>
              <a:srgbClr val="A7ADB3"/>
            </a:solidFill>
          </a:ln>
        </p:spPr>
      </p:pic>
      <p:pic>
        <p:nvPicPr>
          <p:cNvPr id="47" name="Picture 46" descr="la_palma-volcano_00000353_4_DeepLabv3+.png"/>
          <p:cNvPicPr>
            <a:picLocks noChangeAspect="1"/>
          </p:cNvPicPr>
          <p:nvPr/>
        </p:nvPicPr>
        <p:blipFill>
          <a:blip r:embed="rId34"/>
          <a:stretch>
            <a:fillRect/>
          </a:stretch>
        </p:blipFill>
        <p:spPr>
          <a:xfrm>
            <a:off x="3114000" y="2124000"/>
            <a:ext cx="525600" cy="525600"/>
          </a:xfrm>
          <a:prstGeom prst="rect">
            <a:avLst/>
          </a:prstGeom>
          <a:ln w="5080">
            <a:solidFill>
              <a:srgbClr val="A7ADB3"/>
            </a:solidFill>
          </a:ln>
        </p:spPr>
      </p:pic>
      <p:pic>
        <p:nvPicPr>
          <p:cNvPr id="48" name="Picture 47" descr="la_palma-volcano_00000353_5_SiamAttnUNet.png"/>
          <p:cNvPicPr>
            <a:picLocks noChangeAspect="1"/>
          </p:cNvPicPr>
          <p:nvPr/>
        </p:nvPicPr>
        <p:blipFill>
          <a:blip r:embed="rId35"/>
          <a:stretch>
            <a:fillRect/>
          </a:stretch>
        </p:blipFill>
        <p:spPr>
          <a:xfrm>
            <a:off x="3690000" y="2124000"/>
            <a:ext cx="525600" cy="525600"/>
          </a:xfrm>
          <a:prstGeom prst="rect">
            <a:avLst/>
          </a:prstGeom>
          <a:ln w="5080">
            <a:solidFill>
              <a:srgbClr val="A7ADB3"/>
            </a:solidFill>
          </a:ln>
        </p:spPr>
      </p:pic>
      <p:pic>
        <p:nvPicPr>
          <p:cNvPr id="49" name="Picture 48" descr="la_palma-volcano_00000353_6_SiamCRNN.png"/>
          <p:cNvPicPr>
            <a:picLocks noChangeAspect="1"/>
          </p:cNvPicPr>
          <p:nvPr/>
        </p:nvPicPr>
        <p:blipFill>
          <a:blip r:embed="rId36"/>
          <a:stretch>
            <a:fillRect/>
          </a:stretch>
        </p:blipFill>
        <p:spPr>
          <a:xfrm>
            <a:off x="4266000" y="2124000"/>
            <a:ext cx="525600" cy="525600"/>
          </a:xfrm>
          <a:prstGeom prst="rect">
            <a:avLst/>
          </a:prstGeom>
          <a:ln w="5080">
            <a:solidFill>
              <a:srgbClr val="A7ADB3"/>
            </a:solidFill>
          </a:ln>
        </p:spPr>
      </p:pic>
      <p:pic>
        <p:nvPicPr>
          <p:cNvPr id="50" name="Picture 49" descr="la_palma-volcano_00000353_7_DamageFormer.png"/>
          <p:cNvPicPr>
            <a:picLocks noChangeAspect="1"/>
          </p:cNvPicPr>
          <p:nvPr/>
        </p:nvPicPr>
        <p:blipFill>
          <a:blip r:embed="rId37"/>
          <a:stretch>
            <a:fillRect/>
          </a:stretch>
        </p:blipFill>
        <p:spPr>
          <a:xfrm>
            <a:off x="4842000" y="2124000"/>
            <a:ext cx="525600" cy="525600"/>
          </a:xfrm>
          <a:prstGeom prst="rect">
            <a:avLst/>
          </a:prstGeom>
          <a:ln w="5080">
            <a:solidFill>
              <a:srgbClr val="A7ADB3"/>
            </a:solidFill>
          </a:ln>
        </p:spPr>
      </p:pic>
      <p:pic>
        <p:nvPicPr>
          <p:cNvPr id="51" name="Picture 50" descr="la_palma-volcano_00000353_8_MPF.png"/>
          <p:cNvPicPr>
            <a:picLocks noChangeAspect="1"/>
          </p:cNvPicPr>
          <p:nvPr/>
        </p:nvPicPr>
        <p:blipFill>
          <a:blip r:embed="rId38"/>
          <a:stretch>
            <a:fillRect/>
          </a:stretch>
        </p:blipFill>
        <p:spPr>
          <a:xfrm>
            <a:off x="5418000" y="2124000"/>
            <a:ext cx="525600" cy="525600"/>
          </a:xfrm>
          <a:prstGeom prst="rect">
            <a:avLst/>
          </a:prstGeom>
          <a:ln w="5080">
            <a:solidFill>
              <a:srgbClr val="A7ADB3"/>
            </a:solidFill>
          </a:ln>
        </p:spPr>
      </p:pic>
      <p:sp>
        <p:nvSpPr>
          <p:cNvPr id="52" name="TextBox 51"/>
          <p:cNvSpPr txBox="1"/>
          <p:nvPr/>
        </p:nvSpPr>
        <p:spPr>
          <a:xfrm>
            <a:off x="36000" y="2664000"/>
            <a:ext cx="648000" cy="525600"/>
          </a:xfrm>
          <a:prstGeom prst="rect">
            <a:avLst/>
          </a:prstGeom>
          <a:noFill/>
        </p:spPr>
        <p:txBody>
          <a:bodyPr wrap="square" lIns="10800" rIns="10800" tIns="3600" bIns="3600" anchor="ctr">
            <a:spAutoFit/>
          </a:bodyPr>
          <a:lstStyle/>
          <a:p>
            <a:pPr algn="ctr">
              <a:spcBef>
                <a:spcPts val="0"/>
              </a:spcBef>
              <a:spcAft>
                <a:spcPts val="0"/>
              </a:spcAft>
            </a:pPr>
            <a:r>
              <a:rPr sz="800" b="0">
                <a:solidFill>
                  <a:srgbClr val="263746"/>
                </a:solidFill>
                <a:latin typeface="Arial"/>
              </a:rPr>
              <a:t>hawaii</a:t>
            </a:r>
          </a:p>
          <a:p>
            <a:pPr algn="ctr">
              <a:spcBef>
                <a:spcPts val="0"/>
              </a:spcBef>
              <a:spcAft>
                <a:spcPts val="0"/>
              </a:spcAft>
            </a:pPr>
            <a:r>
              <a:rPr sz="800" b="0">
                <a:solidFill>
                  <a:srgbClr val="263746"/>
                </a:solidFill>
                <a:latin typeface="Arial"/>
              </a:rPr>
              <a:t>wildfire</a:t>
            </a:r>
          </a:p>
          <a:p>
            <a:pPr algn="ctr">
              <a:spcBef>
                <a:spcPts val="0"/>
              </a:spcBef>
              <a:spcAft>
                <a:spcPts val="0"/>
              </a:spcAft>
            </a:pPr>
            <a:r>
              <a:rPr sz="800" b="0">
                <a:solidFill>
                  <a:srgbClr val="263746"/>
                </a:solidFill>
                <a:latin typeface="Arial"/>
              </a:rPr>
              <a:t>00000014</a:t>
            </a:r>
          </a:p>
          <a:p>
            <a:pPr algn="ctr">
              <a:spcBef>
                <a:spcPts val="0"/>
              </a:spcBef>
              <a:spcAft>
                <a:spcPts val="0"/>
              </a:spcAft>
            </a:pPr>
            <a:r>
              <a:rPr sz="800" b="0">
                <a:solidFill>
                  <a:srgbClr val="263746"/>
                </a:solidFill>
                <a:latin typeface="Arial"/>
              </a:rPr>
              <a:t>512 × 512 px</a:t>
            </a:r>
          </a:p>
        </p:txBody>
      </p:sp>
      <p:pic>
        <p:nvPicPr>
          <p:cNvPr id="53" name="Picture 52" descr="hawaii-wildfire_00000014_0_RGB.png"/>
          <p:cNvPicPr>
            <a:picLocks noChangeAspect="1"/>
          </p:cNvPicPr>
          <p:nvPr/>
        </p:nvPicPr>
        <p:blipFill>
          <a:blip r:embed="rId39"/>
          <a:stretch>
            <a:fillRect/>
          </a:stretch>
        </p:blipFill>
        <p:spPr>
          <a:xfrm>
            <a:off x="810000" y="2664000"/>
            <a:ext cx="525600" cy="525600"/>
          </a:xfrm>
          <a:prstGeom prst="rect">
            <a:avLst/>
          </a:prstGeom>
          <a:ln w="5080">
            <a:solidFill>
              <a:srgbClr val="A7ADB3"/>
            </a:solidFill>
          </a:ln>
        </p:spPr>
      </p:pic>
      <p:pic>
        <p:nvPicPr>
          <p:cNvPr id="54" name="Picture 53" descr="hawaii-wildfire_00000014_1_SAR.png"/>
          <p:cNvPicPr>
            <a:picLocks noChangeAspect="1"/>
          </p:cNvPicPr>
          <p:nvPr/>
        </p:nvPicPr>
        <p:blipFill>
          <a:blip r:embed="rId40"/>
          <a:stretch>
            <a:fillRect/>
          </a:stretch>
        </p:blipFill>
        <p:spPr>
          <a:xfrm>
            <a:off x="1386000" y="2664000"/>
            <a:ext cx="525600" cy="525600"/>
          </a:xfrm>
          <a:prstGeom prst="rect">
            <a:avLst/>
          </a:prstGeom>
          <a:ln w="5080">
            <a:solidFill>
              <a:srgbClr val="A7ADB3"/>
            </a:solidFill>
          </a:ln>
        </p:spPr>
      </p:pic>
      <p:pic>
        <p:nvPicPr>
          <p:cNvPr id="55" name="Picture 54" descr="hawaii-wildfire_00000014_2_GT.png"/>
          <p:cNvPicPr>
            <a:picLocks noChangeAspect="1"/>
          </p:cNvPicPr>
          <p:nvPr/>
        </p:nvPicPr>
        <p:blipFill>
          <a:blip r:embed="rId41"/>
          <a:stretch>
            <a:fillRect/>
          </a:stretch>
        </p:blipFill>
        <p:spPr>
          <a:xfrm>
            <a:off x="1962000" y="2664000"/>
            <a:ext cx="525600" cy="525600"/>
          </a:xfrm>
          <a:prstGeom prst="rect">
            <a:avLst/>
          </a:prstGeom>
          <a:ln w="5080">
            <a:solidFill>
              <a:srgbClr val="A7ADB3"/>
            </a:solidFill>
          </a:ln>
        </p:spPr>
      </p:pic>
      <p:pic>
        <p:nvPicPr>
          <p:cNvPr id="56" name="Picture 55" descr="hawaii-wildfire_00000014_3_U-Net.png"/>
          <p:cNvPicPr>
            <a:picLocks noChangeAspect="1"/>
          </p:cNvPicPr>
          <p:nvPr/>
        </p:nvPicPr>
        <p:blipFill>
          <a:blip r:embed="rId42"/>
          <a:stretch>
            <a:fillRect/>
          </a:stretch>
        </p:blipFill>
        <p:spPr>
          <a:xfrm>
            <a:off x="2538000" y="2664000"/>
            <a:ext cx="525600" cy="525600"/>
          </a:xfrm>
          <a:prstGeom prst="rect">
            <a:avLst/>
          </a:prstGeom>
          <a:ln w="5080">
            <a:solidFill>
              <a:srgbClr val="A7ADB3"/>
            </a:solidFill>
          </a:ln>
        </p:spPr>
      </p:pic>
      <p:pic>
        <p:nvPicPr>
          <p:cNvPr id="57" name="Picture 56" descr="hawaii-wildfire_00000014_4_DeepLabv3+.png"/>
          <p:cNvPicPr>
            <a:picLocks noChangeAspect="1"/>
          </p:cNvPicPr>
          <p:nvPr/>
        </p:nvPicPr>
        <p:blipFill>
          <a:blip r:embed="rId43"/>
          <a:stretch>
            <a:fillRect/>
          </a:stretch>
        </p:blipFill>
        <p:spPr>
          <a:xfrm>
            <a:off x="3114000" y="2664000"/>
            <a:ext cx="525600" cy="525600"/>
          </a:xfrm>
          <a:prstGeom prst="rect">
            <a:avLst/>
          </a:prstGeom>
          <a:ln w="5080">
            <a:solidFill>
              <a:srgbClr val="A7ADB3"/>
            </a:solidFill>
          </a:ln>
        </p:spPr>
      </p:pic>
      <p:pic>
        <p:nvPicPr>
          <p:cNvPr id="58" name="Picture 57" descr="hawaii-wildfire_00000014_5_SiamAttnUNet.png"/>
          <p:cNvPicPr>
            <a:picLocks noChangeAspect="1"/>
          </p:cNvPicPr>
          <p:nvPr/>
        </p:nvPicPr>
        <p:blipFill>
          <a:blip r:embed="rId44"/>
          <a:stretch>
            <a:fillRect/>
          </a:stretch>
        </p:blipFill>
        <p:spPr>
          <a:xfrm>
            <a:off x="3690000" y="2664000"/>
            <a:ext cx="525600" cy="525600"/>
          </a:xfrm>
          <a:prstGeom prst="rect">
            <a:avLst/>
          </a:prstGeom>
          <a:ln w="5080">
            <a:solidFill>
              <a:srgbClr val="A7ADB3"/>
            </a:solidFill>
          </a:ln>
        </p:spPr>
      </p:pic>
      <p:pic>
        <p:nvPicPr>
          <p:cNvPr id="59" name="Picture 58" descr="hawaii-wildfire_00000014_6_SiamCRNN.png"/>
          <p:cNvPicPr>
            <a:picLocks noChangeAspect="1"/>
          </p:cNvPicPr>
          <p:nvPr/>
        </p:nvPicPr>
        <p:blipFill>
          <a:blip r:embed="rId45"/>
          <a:stretch>
            <a:fillRect/>
          </a:stretch>
        </p:blipFill>
        <p:spPr>
          <a:xfrm>
            <a:off x="4266000" y="2664000"/>
            <a:ext cx="525600" cy="525600"/>
          </a:xfrm>
          <a:prstGeom prst="rect">
            <a:avLst/>
          </a:prstGeom>
          <a:ln w="5080">
            <a:solidFill>
              <a:srgbClr val="A7ADB3"/>
            </a:solidFill>
          </a:ln>
        </p:spPr>
      </p:pic>
      <p:pic>
        <p:nvPicPr>
          <p:cNvPr id="60" name="Picture 59" descr="hawaii-wildfire_00000014_7_DamageFormer.png"/>
          <p:cNvPicPr>
            <a:picLocks noChangeAspect="1"/>
          </p:cNvPicPr>
          <p:nvPr/>
        </p:nvPicPr>
        <p:blipFill>
          <a:blip r:embed="rId46"/>
          <a:stretch>
            <a:fillRect/>
          </a:stretch>
        </p:blipFill>
        <p:spPr>
          <a:xfrm>
            <a:off x="4842000" y="2664000"/>
            <a:ext cx="525600" cy="525600"/>
          </a:xfrm>
          <a:prstGeom prst="rect">
            <a:avLst/>
          </a:prstGeom>
          <a:ln w="5080">
            <a:solidFill>
              <a:srgbClr val="A7ADB3"/>
            </a:solidFill>
          </a:ln>
        </p:spPr>
      </p:pic>
      <p:pic>
        <p:nvPicPr>
          <p:cNvPr id="61" name="Picture 60" descr="hawaii-wildfire_00000014_8_MPF.png"/>
          <p:cNvPicPr>
            <a:picLocks noChangeAspect="1"/>
          </p:cNvPicPr>
          <p:nvPr/>
        </p:nvPicPr>
        <p:blipFill>
          <a:blip r:embed="rId47"/>
          <a:stretch>
            <a:fillRect/>
          </a:stretch>
        </p:blipFill>
        <p:spPr>
          <a:xfrm>
            <a:off x="5418000" y="2664000"/>
            <a:ext cx="525600" cy="525600"/>
          </a:xfrm>
          <a:prstGeom prst="rect">
            <a:avLst/>
          </a:prstGeom>
          <a:ln w="5080">
            <a:solidFill>
              <a:srgbClr val="A7ADB3"/>
            </a:solidFill>
          </a:ln>
        </p:spPr>
      </p:pic>
      <p:sp>
        <p:nvSpPr>
          <p:cNvPr id="62" name="TextBox 61"/>
          <p:cNvSpPr txBox="1"/>
          <p:nvPr/>
        </p:nvSpPr>
        <p:spPr>
          <a:xfrm>
            <a:off x="36000" y="3204000"/>
            <a:ext cx="648000" cy="525600"/>
          </a:xfrm>
          <a:prstGeom prst="rect">
            <a:avLst/>
          </a:prstGeom>
          <a:noFill/>
        </p:spPr>
        <p:txBody>
          <a:bodyPr wrap="square" lIns="10800" rIns="10800" tIns="3600" bIns="3600" anchor="ctr">
            <a:spAutoFit/>
          </a:bodyPr>
          <a:lstStyle/>
          <a:p>
            <a:pPr algn="ctr">
              <a:spcBef>
                <a:spcPts val="0"/>
              </a:spcBef>
              <a:spcAft>
                <a:spcPts val="0"/>
              </a:spcAft>
            </a:pPr>
            <a:r>
              <a:rPr sz="800" b="0">
                <a:solidFill>
                  <a:srgbClr val="263746"/>
                </a:solidFill>
                <a:latin typeface="Arial"/>
              </a:rPr>
              <a:t>hawaii</a:t>
            </a:r>
          </a:p>
          <a:p>
            <a:pPr algn="ctr">
              <a:spcBef>
                <a:spcPts val="0"/>
              </a:spcBef>
              <a:spcAft>
                <a:spcPts val="0"/>
              </a:spcAft>
            </a:pPr>
            <a:r>
              <a:rPr sz="800" b="0">
                <a:solidFill>
                  <a:srgbClr val="263746"/>
                </a:solidFill>
                <a:latin typeface="Arial"/>
              </a:rPr>
              <a:t>wildfire</a:t>
            </a:r>
          </a:p>
          <a:p>
            <a:pPr algn="ctr">
              <a:spcBef>
                <a:spcPts val="0"/>
              </a:spcBef>
              <a:spcAft>
                <a:spcPts val="0"/>
              </a:spcAft>
            </a:pPr>
            <a:r>
              <a:rPr sz="800" b="0">
                <a:solidFill>
                  <a:srgbClr val="263746"/>
                </a:solidFill>
                <a:latin typeface="Arial"/>
              </a:rPr>
              <a:t>00000003</a:t>
            </a:r>
          </a:p>
          <a:p>
            <a:pPr algn="ctr">
              <a:spcBef>
                <a:spcPts val="0"/>
              </a:spcBef>
              <a:spcAft>
                <a:spcPts val="0"/>
              </a:spcAft>
            </a:pPr>
            <a:r>
              <a:rPr sz="800" b="0">
                <a:solidFill>
                  <a:srgbClr val="263746"/>
                </a:solidFill>
                <a:latin typeface="Arial"/>
              </a:rPr>
              <a:t>512 × 512 px</a:t>
            </a:r>
          </a:p>
        </p:txBody>
      </p:sp>
      <p:pic>
        <p:nvPicPr>
          <p:cNvPr id="63" name="Picture 62" descr="hawaii-wildfire_00000003_0_RGB.png"/>
          <p:cNvPicPr>
            <a:picLocks noChangeAspect="1"/>
          </p:cNvPicPr>
          <p:nvPr/>
        </p:nvPicPr>
        <p:blipFill>
          <a:blip r:embed="rId48"/>
          <a:stretch>
            <a:fillRect/>
          </a:stretch>
        </p:blipFill>
        <p:spPr>
          <a:xfrm>
            <a:off x="810000" y="3204000"/>
            <a:ext cx="525600" cy="525600"/>
          </a:xfrm>
          <a:prstGeom prst="rect">
            <a:avLst/>
          </a:prstGeom>
          <a:ln w="5080">
            <a:solidFill>
              <a:srgbClr val="A7ADB3"/>
            </a:solidFill>
          </a:ln>
        </p:spPr>
      </p:pic>
      <p:pic>
        <p:nvPicPr>
          <p:cNvPr id="64" name="Picture 63" descr="hawaii-wildfire_00000003_1_SAR.png"/>
          <p:cNvPicPr>
            <a:picLocks noChangeAspect="1"/>
          </p:cNvPicPr>
          <p:nvPr/>
        </p:nvPicPr>
        <p:blipFill>
          <a:blip r:embed="rId49"/>
          <a:stretch>
            <a:fillRect/>
          </a:stretch>
        </p:blipFill>
        <p:spPr>
          <a:xfrm>
            <a:off x="1386000" y="3204000"/>
            <a:ext cx="525600" cy="525600"/>
          </a:xfrm>
          <a:prstGeom prst="rect">
            <a:avLst/>
          </a:prstGeom>
          <a:ln w="5080">
            <a:solidFill>
              <a:srgbClr val="A7ADB3"/>
            </a:solidFill>
          </a:ln>
        </p:spPr>
      </p:pic>
      <p:pic>
        <p:nvPicPr>
          <p:cNvPr id="65" name="Picture 64" descr="hawaii-wildfire_00000003_2_GT.png"/>
          <p:cNvPicPr>
            <a:picLocks noChangeAspect="1"/>
          </p:cNvPicPr>
          <p:nvPr/>
        </p:nvPicPr>
        <p:blipFill>
          <a:blip r:embed="rId50"/>
          <a:stretch>
            <a:fillRect/>
          </a:stretch>
        </p:blipFill>
        <p:spPr>
          <a:xfrm>
            <a:off x="1962000" y="3204000"/>
            <a:ext cx="525600" cy="525600"/>
          </a:xfrm>
          <a:prstGeom prst="rect">
            <a:avLst/>
          </a:prstGeom>
          <a:ln w="5080">
            <a:solidFill>
              <a:srgbClr val="A7ADB3"/>
            </a:solidFill>
          </a:ln>
        </p:spPr>
      </p:pic>
      <p:pic>
        <p:nvPicPr>
          <p:cNvPr id="66" name="Picture 65" descr="hawaii-wildfire_00000003_3_U-Net.png"/>
          <p:cNvPicPr>
            <a:picLocks noChangeAspect="1"/>
          </p:cNvPicPr>
          <p:nvPr/>
        </p:nvPicPr>
        <p:blipFill>
          <a:blip r:embed="rId51"/>
          <a:stretch>
            <a:fillRect/>
          </a:stretch>
        </p:blipFill>
        <p:spPr>
          <a:xfrm>
            <a:off x="2538000" y="3204000"/>
            <a:ext cx="525600" cy="525600"/>
          </a:xfrm>
          <a:prstGeom prst="rect">
            <a:avLst/>
          </a:prstGeom>
          <a:ln w="5080">
            <a:solidFill>
              <a:srgbClr val="A7ADB3"/>
            </a:solidFill>
          </a:ln>
        </p:spPr>
      </p:pic>
      <p:pic>
        <p:nvPicPr>
          <p:cNvPr id="67" name="Picture 66" descr="hawaii-wildfire_00000003_4_DeepLabv3+.png"/>
          <p:cNvPicPr>
            <a:picLocks noChangeAspect="1"/>
          </p:cNvPicPr>
          <p:nvPr/>
        </p:nvPicPr>
        <p:blipFill>
          <a:blip r:embed="rId52"/>
          <a:stretch>
            <a:fillRect/>
          </a:stretch>
        </p:blipFill>
        <p:spPr>
          <a:xfrm>
            <a:off x="3114000" y="3204000"/>
            <a:ext cx="525600" cy="525600"/>
          </a:xfrm>
          <a:prstGeom prst="rect">
            <a:avLst/>
          </a:prstGeom>
          <a:ln w="5080">
            <a:solidFill>
              <a:srgbClr val="A7ADB3"/>
            </a:solidFill>
          </a:ln>
        </p:spPr>
      </p:pic>
      <p:pic>
        <p:nvPicPr>
          <p:cNvPr id="68" name="Picture 67" descr="hawaii-wildfire_00000003_5_SiamAttnUNet.png"/>
          <p:cNvPicPr>
            <a:picLocks noChangeAspect="1"/>
          </p:cNvPicPr>
          <p:nvPr/>
        </p:nvPicPr>
        <p:blipFill>
          <a:blip r:embed="rId53"/>
          <a:stretch>
            <a:fillRect/>
          </a:stretch>
        </p:blipFill>
        <p:spPr>
          <a:xfrm>
            <a:off x="3690000" y="3204000"/>
            <a:ext cx="525600" cy="525600"/>
          </a:xfrm>
          <a:prstGeom prst="rect">
            <a:avLst/>
          </a:prstGeom>
          <a:ln w="5080">
            <a:solidFill>
              <a:srgbClr val="A7ADB3"/>
            </a:solidFill>
          </a:ln>
        </p:spPr>
      </p:pic>
      <p:pic>
        <p:nvPicPr>
          <p:cNvPr id="69" name="Picture 68" descr="hawaii-wildfire_00000003_6_SiamCRNN.png"/>
          <p:cNvPicPr>
            <a:picLocks noChangeAspect="1"/>
          </p:cNvPicPr>
          <p:nvPr/>
        </p:nvPicPr>
        <p:blipFill>
          <a:blip r:embed="rId54"/>
          <a:stretch>
            <a:fillRect/>
          </a:stretch>
        </p:blipFill>
        <p:spPr>
          <a:xfrm>
            <a:off x="4266000" y="3204000"/>
            <a:ext cx="525600" cy="525600"/>
          </a:xfrm>
          <a:prstGeom prst="rect">
            <a:avLst/>
          </a:prstGeom>
          <a:ln w="5080">
            <a:solidFill>
              <a:srgbClr val="A7ADB3"/>
            </a:solidFill>
          </a:ln>
        </p:spPr>
      </p:pic>
      <p:pic>
        <p:nvPicPr>
          <p:cNvPr id="70" name="Picture 69" descr="hawaii-wildfire_00000003_7_DamageFormer.png"/>
          <p:cNvPicPr>
            <a:picLocks noChangeAspect="1"/>
          </p:cNvPicPr>
          <p:nvPr/>
        </p:nvPicPr>
        <p:blipFill>
          <a:blip r:embed="rId55"/>
          <a:stretch>
            <a:fillRect/>
          </a:stretch>
        </p:blipFill>
        <p:spPr>
          <a:xfrm>
            <a:off x="4842000" y="3204000"/>
            <a:ext cx="525600" cy="525600"/>
          </a:xfrm>
          <a:prstGeom prst="rect">
            <a:avLst/>
          </a:prstGeom>
          <a:ln w="5080">
            <a:solidFill>
              <a:srgbClr val="A7ADB3"/>
            </a:solidFill>
          </a:ln>
        </p:spPr>
      </p:pic>
      <p:pic>
        <p:nvPicPr>
          <p:cNvPr id="71" name="Picture 70" descr="hawaii-wildfire_00000003_8_MPF.png"/>
          <p:cNvPicPr>
            <a:picLocks noChangeAspect="1"/>
          </p:cNvPicPr>
          <p:nvPr/>
        </p:nvPicPr>
        <p:blipFill>
          <a:blip r:embed="rId56"/>
          <a:stretch>
            <a:fillRect/>
          </a:stretch>
        </p:blipFill>
        <p:spPr>
          <a:xfrm>
            <a:off x="5418000" y="3204000"/>
            <a:ext cx="525600" cy="525600"/>
          </a:xfrm>
          <a:prstGeom prst="rect">
            <a:avLst/>
          </a:prstGeom>
          <a:ln w="5080">
            <a:solidFill>
              <a:srgbClr val="A7ADB3"/>
            </a:solidFill>
          </a:ln>
        </p:spPr>
      </p:pic>
      <p:sp>
        <p:nvSpPr>
          <p:cNvPr id="72" name="Rectangle 71"/>
          <p:cNvSpPr/>
          <p:nvPr/>
        </p:nvSpPr>
        <p:spPr>
          <a:xfrm>
            <a:off x="846000" y="3751200"/>
            <a:ext cx="100800" cy="100800"/>
          </a:xfrm>
          <a:prstGeom prst="rect">
            <a:avLst/>
          </a:prstGeom>
          <a:solidFill>
            <a:srgbClr val="FFFFFF"/>
          </a:solidFill>
          <a:ln>
            <a:solidFill>
              <a:srgbClr val="8F99A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TextBox 72"/>
          <p:cNvSpPr txBox="1"/>
          <p:nvPr/>
        </p:nvSpPr>
        <p:spPr>
          <a:xfrm>
            <a:off x="982800" y="3708000"/>
            <a:ext cx="936000" cy="180000"/>
          </a:xfrm>
          <a:prstGeom prst="rect">
            <a:avLst/>
          </a:prstGeom>
          <a:noFill/>
        </p:spPr>
        <p:txBody>
          <a:bodyPr wrap="square" lIns="10800" rIns="10800" tIns="3600" bIns="3600" anchor="ctr">
            <a:spAutoFit/>
          </a:bodyPr>
          <a:lstStyle/>
          <a:p>
            <a:pPr algn="l">
              <a:spcBef>
                <a:spcPts val="0"/>
              </a:spcBef>
              <a:spcAft>
                <a:spcPts val="0"/>
              </a:spcAft>
            </a:pPr>
            <a:r>
              <a:rPr sz="850" b="0">
                <a:solidFill>
                  <a:srgbClr val="263746"/>
                </a:solidFill>
                <a:latin typeface="Arial"/>
              </a:rPr>
              <a:t>Background</a:t>
            </a:r>
          </a:p>
        </p:txBody>
      </p:sp>
      <p:sp>
        <p:nvSpPr>
          <p:cNvPr id="74" name="Rectangle 73"/>
          <p:cNvSpPr/>
          <p:nvPr/>
        </p:nvSpPr>
        <p:spPr>
          <a:xfrm>
            <a:off x="1962000" y="3751200"/>
            <a:ext cx="100800" cy="100800"/>
          </a:xfrm>
          <a:prstGeom prst="rect">
            <a:avLst/>
          </a:prstGeom>
          <a:solidFill>
            <a:srgbClr val="46B579"/>
          </a:solidFill>
          <a:ln>
            <a:solidFill>
              <a:srgbClr val="8F99A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TextBox 74"/>
          <p:cNvSpPr txBox="1"/>
          <p:nvPr/>
        </p:nvSpPr>
        <p:spPr>
          <a:xfrm>
            <a:off x="2098800" y="3708000"/>
            <a:ext cx="936000" cy="180000"/>
          </a:xfrm>
          <a:prstGeom prst="rect">
            <a:avLst/>
          </a:prstGeom>
          <a:noFill/>
        </p:spPr>
        <p:txBody>
          <a:bodyPr wrap="square" lIns="10800" rIns="10800" tIns="3600" bIns="3600" anchor="ctr">
            <a:spAutoFit/>
          </a:bodyPr>
          <a:lstStyle/>
          <a:p>
            <a:pPr algn="l">
              <a:spcBef>
                <a:spcPts val="0"/>
              </a:spcBef>
              <a:spcAft>
                <a:spcPts val="0"/>
              </a:spcAft>
            </a:pPr>
            <a:r>
              <a:rPr sz="850" b="0">
                <a:solidFill>
                  <a:srgbClr val="263746"/>
                </a:solidFill>
                <a:latin typeface="Arial"/>
              </a:rPr>
              <a:t>Intact</a:t>
            </a:r>
          </a:p>
        </p:txBody>
      </p:sp>
      <p:sp>
        <p:nvSpPr>
          <p:cNvPr id="76" name="Rectangle 75"/>
          <p:cNvSpPr/>
          <p:nvPr/>
        </p:nvSpPr>
        <p:spPr>
          <a:xfrm>
            <a:off x="3078000" y="3751200"/>
            <a:ext cx="100800" cy="100800"/>
          </a:xfrm>
          <a:prstGeom prst="rect">
            <a:avLst/>
          </a:prstGeom>
          <a:solidFill>
            <a:srgbClr val="E4BD8B"/>
          </a:solidFill>
          <a:ln>
            <a:solidFill>
              <a:srgbClr val="8F99A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7" name="TextBox 76"/>
          <p:cNvSpPr txBox="1"/>
          <p:nvPr/>
        </p:nvSpPr>
        <p:spPr>
          <a:xfrm>
            <a:off x="3214800" y="3708000"/>
            <a:ext cx="936000" cy="180000"/>
          </a:xfrm>
          <a:prstGeom prst="rect">
            <a:avLst/>
          </a:prstGeom>
          <a:noFill/>
        </p:spPr>
        <p:txBody>
          <a:bodyPr wrap="square" lIns="10800" rIns="10800" tIns="3600" bIns="3600" anchor="ctr">
            <a:spAutoFit/>
          </a:bodyPr>
          <a:lstStyle/>
          <a:p>
            <a:pPr algn="l">
              <a:spcBef>
                <a:spcPts val="0"/>
              </a:spcBef>
              <a:spcAft>
                <a:spcPts val="0"/>
              </a:spcAft>
            </a:pPr>
            <a:r>
              <a:rPr sz="850" b="0">
                <a:solidFill>
                  <a:srgbClr val="263746"/>
                </a:solidFill>
                <a:latin typeface="Arial"/>
              </a:rPr>
              <a:t>Damaged</a:t>
            </a:r>
          </a:p>
        </p:txBody>
      </p:sp>
      <p:sp>
        <p:nvSpPr>
          <p:cNvPr id="78" name="Rectangle 77"/>
          <p:cNvSpPr/>
          <p:nvPr/>
        </p:nvSpPr>
        <p:spPr>
          <a:xfrm>
            <a:off x="4194000" y="3751200"/>
            <a:ext cx="100800" cy="100800"/>
          </a:xfrm>
          <a:prstGeom prst="rect">
            <a:avLst/>
          </a:prstGeom>
          <a:solidFill>
            <a:srgbClr val="B64645"/>
          </a:solidFill>
          <a:ln>
            <a:solidFill>
              <a:srgbClr val="8F99A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9" name="TextBox 78"/>
          <p:cNvSpPr txBox="1"/>
          <p:nvPr/>
        </p:nvSpPr>
        <p:spPr>
          <a:xfrm>
            <a:off x="4330800" y="3708000"/>
            <a:ext cx="936000" cy="180000"/>
          </a:xfrm>
          <a:prstGeom prst="rect">
            <a:avLst/>
          </a:prstGeom>
          <a:noFill/>
        </p:spPr>
        <p:txBody>
          <a:bodyPr wrap="square" lIns="10800" rIns="10800" tIns="3600" bIns="3600" anchor="ctr">
            <a:spAutoFit/>
          </a:bodyPr>
          <a:lstStyle/>
          <a:p>
            <a:pPr algn="l">
              <a:spcBef>
                <a:spcPts val="0"/>
              </a:spcBef>
              <a:spcAft>
                <a:spcPts val="0"/>
              </a:spcAft>
            </a:pPr>
            <a:r>
              <a:rPr sz="850" b="0">
                <a:solidFill>
                  <a:srgbClr val="263746"/>
                </a:solidFill>
                <a:latin typeface="Arial"/>
              </a:rPr>
              <a:t>Destroyed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000" y="18000"/>
            <a:ext cx="5976000" cy="198000"/>
          </a:xfrm>
          <a:prstGeom prst="rect">
            <a:avLst/>
          </a:prstGeom>
          <a:noFill/>
        </p:spPr>
        <p:txBody>
          <a:bodyPr wrap="square" lIns="10800" rIns="10800" tIns="3600" bIns="3600" anchor="ctr">
            <a:spAutoFit/>
          </a:bodyPr>
          <a:lstStyle/>
          <a:p>
            <a:pPr algn="ctr">
              <a:spcBef>
                <a:spcPts val="0"/>
              </a:spcBef>
              <a:spcAft>
                <a:spcPts val="0"/>
              </a:spcAft>
            </a:pPr>
            <a:r>
              <a:rPr sz="1000" b="1">
                <a:solidFill>
                  <a:srgbClr val="263746"/>
                </a:solidFill>
                <a:latin typeface="Arial"/>
              </a:rPr>
              <a:t>Hurricane, flood and explosion: six selected crops</a:t>
            </a:r>
          </a:p>
        </p:txBody>
      </p:sp>
      <p:sp>
        <p:nvSpPr>
          <p:cNvPr id="3" name="TextBox 2"/>
          <p:cNvSpPr txBox="1"/>
          <p:nvPr/>
        </p:nvSpPr>
        <p:spPr>
          <a:xfrm>
            <a:off x="810000" y="216000"/>
            <a:ext cx="558000" cy="270000"/>
          </a:xfrm>
          <a:prstGeom prst="rect">
            <a:avLst/>
          </a:prstGeom>
          <a:noFill/>
        </p:spPr>
        <p:txBody>
          <a:bodyPr wrap="square" lIns="10800" rIns="10800" tIns="3600" bIns="3600" anchor="ctr">
            <a:spAutoFit/>
          </a:bodyPr>
          <a:lstStyle/>
          <a:p>
            <a:pPr algn="ctr">
              <a:spcBef>
                <a:spcPts val="0"/>
              </a:spcBef>
              <a:spcAft>
                <a:spcPts val="0"/>
              </a:spcAft>
            </a:pPr>
            <a:r>
              <a:rPr sz="740" b="1">
                <a:solidFill>
                  <a:srgbClr val="263746"/>
                </a:solidFill>
                <a:latin typeface="Arial"/>
              </a:rPr>
              <a:t>RGB</a:t>
            </a:r>
          </a:p>
        </p:txBody>
      </p:sp>
      <p:sp>
        <p:nvSpPr>
          <p:cNvPr id="4" name="TextBox 3"/>
          <p:cNvSpPr txBox="1"/>
          <p:nvPr/>
        </p:nvSpPr>
        <p:spPr>
          <a:xfrm>
            <a:off x="1386000" y="216000"/>
            <a:ext cx="558000" cy="270000"/>
          </a:xfrm>
          <a:prstGeom prst="rect">
            <a:avLst/>
          </a:prstGeom>
          <a:noFill/>
        </p:spPr>
        <p:txBody>
          <a:bodyPr wrap="square" lIns="10800" rIns="10800" tIns="3600" bIns="3600" anchor="ctr">
            <a:spAutoFit/>
          </a:bodyPr>
          <a:lstStyle/>
          <a:p>
            <a:pPr algn="ctr">
              <a:spcBef>
                <a:spcPts val="0"/>
              </a:spcBef>
              <a:spcAft>
                <a:spcPts val="0"/>
              </a:spcAft>
            </a:pPr>
            <a:r>
              <a:rPr sz="740" b="1">
                <a:solidFill>
                  <a:srgbClr val="263746"/>
                </a:solidFill>
                <a:latin typeface="Arial"/>
              </a:rPr>
              <a:t>SAR</a:t>
            </a:r>
          </a:p>
        </p:txBody>
      </p:sp>
      <p:sp>
        <p:nvSpPr>
          <p:cNvPr id="5" name="TextBox 4"/>
          <p:cNvSpPr txBox="1"/>
          <p:nvPr/>
        </p:nvSpPr>
        <p:spPr>
          <a:xfrm>
            <a:off x="1962000" y="216000"/>
            <a:ext cx="558000" cy="270000"/>
          </a:xfrm>
          <a:prstGeom prst="rect">
            <a:avLst/>
          </a:prstGeom>
          <a:noFill/>
        </p:spPr>
        <p:txBody>
          <a:bodyPr wrap="square" lIns="10800" rIns="10800" tIns="3600" bIns="3600" anchor="ctr">
            <a:spAutoFit/>
          </a:bodyPr>
          <a:lstStyle/>
          <a:p>
            <a:pPr algn="ctr">
              <a:spcBef>
                <a:spcPts val="0"/>
              </a:spcBef>
              <a:spcAft>
                <a:spcPts val="0"/>
              </a:spcAft>
            </a:pPr>
            <a:r>
              <a:rPr sz="740" b="1">
                <a:solidFill>
                  <a:srgbClr val="263746"/>
                </a:solidFill>
                <a:latin typeface="Arial"/>
              </a:rPr>
              <a:t>GT</a:t>
            </a:r>
          </a:p>
        </p:txBody>
      </p:sp>
      <p:sp>
        <p:nvSpPr>
          <p:cNvPr id="6" name="TextBox 5"/>
          <p:cNvSpPr txBox="1"/>
          <p:nvPr/>
        </p:nvSpPr>
        <p:spPr>
          <a:xfrm>
            <a:off x="2538000" y="216000"/>
            <a:ext cx="558000" cy="270000"/>
          </a:xfrm>
          <a:prstGeom prst="rect">
            <a:avLst/>
          </a:prstGeom>
          <a:noFill/>
        </p:spPr>
        <p:txBody>
          <a:bodyPr wrap="square" lIns="10800" rIns="10800" tIns="3600" bIns="3600" anchor="ctr">
            <a:spAutoFit/>
          </a:bodyPr>
          <a:lstStyle/>
          <a:p>
            <a:pPr algn="ctr">
              <a:spcBef>
                <a:spcPts val="0"/>
              </a:spcBef>
              <a:spcAft>
                <a:spcPts val="0"/>
              </a:spcAft>
            </a:pPr>
            <a:r>
              <a:rPr sz="740" b="1">
                <a:solidFill>
                  <a:srgbClr val="263746"/>
                </a:solidFill>
                <a:latin typeface="Arial"/>
              </a:rPr>
              <a:t>U-Net</a:t>
            </a:r>
          </a:p>
        </p:txBody>
      </p:sp>
      <p:sp>
        <p:nvSpPr>
          <p:cNvPr id="7" name="TextBox 6"/>
          <p:cNvSpPr txBox="1"/>
          <p:nvPr/>
        </p:nvSpPr>
        <p:spPr>
          <a:xfrm>
            <a:off x="3114000" y="216000"/>
            <a:ext cx="558000" cy="270000"/>
          </a:xfrm>
          <a:prstGeom prst="rect">
            <a:avLst/>
          </a:prstGeom>
          <a:noFill/>
        </p:spPr>
        <p:txBody>
          <a:bodyPr wrap="square" lIns="10800" rIns="10800" tIns="3600" bIns="3600" anchor="ctr">
            <a:spAutoFit/>
          </a:bodyPr>
          <a:lstStyle/>
          <a:p>
            <a:pPr algn="ctr">
              <a:spcBef>
                <a:spcPts val="0"/>
              </a:spcBef>
              <a:spcAft>
                <a:spcPts val="0"/>
              </a:spcAft>
            </a:pPr>
            <a:r>
              <a:rPr sz="740" b="1">
                <a:solidFill>
                  <a:srgbClr val="263746"/>
                </a:solidFill>
                <a:latin typeface="Arial"/>
              </a:rPr>
              <a:t>DeepLab</a:t>
            </a:r>
          </a:p>
          <a:p>
            <a:pPr algn="ctr">
              <a:spcBef>
                <a:spcPts val="0"/>
              </a:spcBef>
              <a:spcAft>
                <a:spcPts val="0"/>
              </a:spcAft>
            </a:pPr>
            <a:r>
              <a:rPr sz="740" b="1">
                <a:solidFill>
                  <a:srgbClr val="263746"/>
                </a:solidFill>
                <a:latin typeface="Arial"/>
              </a:rPr>
              <a:t>v3+</a:t>
            </a:r>
          </a:p>
        </p:txBody>
      </p:sp>
      <p:sp>
        <p:nvSpPr>
          <p:cNvPr id="8" name="TextBox 7"/>
          <p:cNvSpPr txBox="1"/>
          <p:nvPr/>
        </p:nvSpPr>
        <p:spPr>
          <a:xfrm>
            <a:off x="3690000" y="216000"/>
            <a:ext cx="558000" cy="270000"/>
          </a:xfrm>
          <a:prstGeom prst="rect">
            <a:avLst/>
          </a:prstGeom>
          <a:noFill/>
        </p:spPr>
        <p:txBody>
          <a:bodyPr wrap="square" lIns="10800" rIns="10800" tIns="3600" bIns="3600" anchor="ctr">
            <a:spAutoFit/>
          </a:bodyPr>
          <a:lstStyle/>
          <a:p>
            <a:pPr algn="ctr">
              <a:spcBef>
                <a:spcPts val="0"/>
              </a:spcBef>
              <a:spcAft>
                <a:spcPts val="0"/>
              </a:spcAft>
            </a:pPr>
            <a:r>
              <a:rPr sz="740" b="1">
                <a:solidFill>
                  <a:srgbClr val="263746"/>
                </a:solidFill>
                <a:latin typeface="Arial"/>
              </a:rPr>
              <a:t>SiamAttn</a:t>
            </a:r>
          </a:p>
          <a:p>
            <a:pPr algn="ctr">
              <a:spcBef>
                <a:spcPts val="0"/>
              </a:spcBef>
              <a:spcAft>
                <a:spcPts val="0"/>
              </a:spcAft>
            </a:pPr>
            <a:r>
              <a:rPr sz="740" b="1">
                <a:solidFill>
                  <a:srgbClr val="263746"/>
                </a:solidFill>
                <a:latin typeface="Arial"/>
              </a:rPr>
              <a:t>UNet</a:t>
            </a:r>
          </a:p>
        </p:txBody>
      </p:sp>
      <p:sp>
        <p:nvSpPr>
          <p:cNvPr id="9" name="TextBox 8"/>
          <p:cNvSpPr txBox="1"/>
          <p:nvPr/>
        </p:nvSpPr>
        <p:spPr>
          <a:xfrm>
            <a:off x="4266000" y="216000"/>
            <a:ext cx="558000" cy="270000"/>
          </a:xfrm>
          <a:prstGeom prst="rect">
            <a:avLst/>
          </a:prstGeom>
          <a:noFill/>
        </p:spPr>
        <p:txBody>
          <a:bodyPr wrap="square" lIns="10800" rIns="10800" tIns="3600" bIns="3600" anchor="ctr">
            <a:spAutoFit/>
          </a:bodyPr>
          <a:lstStyle/>
          <a:p>
            <a:pPr algn="ctr">
              <a:spcBef>
                <a:spcPts val="0"/>
              </a:spcBef>
              <a:spcAft>
                <a:spcPts val="0"/>
              </a:spcAft>
            </a:pPr>
            <a:r>
              <a:rPr sz="740" b="1">
                <a:solidFill>
                  <a:srgbClr val="263746"/>
                </a:solidFill>
                <a:latin typeface="Arial"/>
              </a:rPr>
              <a:t>SiamCRNN</a:t>
            </a:r>
          </a:p>
        </p:txBody>
      </p:sp>
      <p:sp>
        <p:nvSpPr>
          <p:cNvPr id="10" name="TextBox 9"/>
          <p:cNvSpPr txBox="1"/>
          <p:nvPr/>
        </p:nvSpPr>
        <p:spPr>
          <a:xfrm>
            <a:off x="4842000" y="216000"/>
            <a:ext cx="558000" cy="270000"/>
          </a:xfrm>
          <a:prstGeom prst="rect">
            <a:avLst/>
          </a:prstGeom>
          <a:noFill/>
        </p:spPr>
        <p:txBody>
          <a:bodyPr wrap="square" lIns="10800" rIns="10800" tIns="3600" bIns="3600" anchor="ctr">
            <a:spAutoFit/>
          </a:bodyPr>
          <a:lstStyle/>
          <a:p>
            <a:pPr algn="ctr">
              <a:spcBef>
                <a:spcPts val="0"/>
              </a:spcBef>
              <a:spcAft>
                <a:spcPts val="0"/>
              </a:spcAft>
            </a:pPr>
            <a:r>
              <a:rPr sz="740" b="1">
                <a:solidFill>
                  <a:srgbClr val="263746"/>
                </a:solidFill>
                <a:latin typeface="Arial"/>
              </a:rPr>
              <a:t>Damage</a:t>
            </a:r>
          </a:p>
          <a:p>
            <a:pPr algn="ctr">
              <a:spcBef>
                <a:spcPts val="0"/>
              </a:spcBef>
              <a:spcAft>
                <a:spcPts val="0"/>
              </a:spcAft>
            </a:pPr>
            <a:r>
              <a:rPr sz="740" b="1">
                <a:solidFill>
                  <a:srgbClr val="263746"/>
                </a:solidFill>
                <a:latin typeface="Arial"/>
              </a:rPr>
              <a:t>Former</a:t>
            </a:r>
          </a:p>
        </p:txBody>
      </p:sp>
      <p:sp>
        <p:nvSpPr>
          <p:cNvPr id="11" name="TextBox 10"/>
          <p:cNvSpPr txBox="1"/>
          <p:nvPr/>
        </p:nvSpPr>
        <p:spPr>
          <a:xfrm>
            <a:off x="5418000" y="216000"/>
            <a:ext cx="558000" cy="270000"/>
          </a:xfrm>
          <a:prstGeom prst="rect">
            <a:avLst/>
          </a:prstGeom>
          <a:noFill/>
        </p:spPr>
        <p:txBody>
          <a:bodyPr wrap="square" lIns="10800" rIns="10800" tIns="3600" bIns="3600" anchor="ctr">
            <a:spAutoFit/>
          </a:bodyPr>
          <a:lstStyle/>
          <a:p>
            <a:pPr algn="ctr">
              <a:spcBef>
                <a:spcPts val="0"/>
              </a:spcBef>
              <a:spcAft>
                <a:spcPts val="0"/>
              </a:spcAft>
            </a:pPr>
            <a:r>
              <a:rPr sz="740" b="1">
                <a:solidFill>
                  <a:srgbClr val="263746"/>
                </a:solidFill>
                <a:latin typeface="Arial"/>
              </a:rPr>
              <a:t>MPF</a:t>
            </a:r>
          </a:p>
        </p:txBody>
      </p:sp>
      <p:sp>
        <p:nvSpPr>
          <p:cNvPr id="12" name="TextBox 11"/>
          <p:cNvSpPr txBox="1"/>
          <p:nvPr/>
        </p:nvSpPr>
        <p:spPr>
          <a:xfrm>
            <a:off x="36000" y="503999"/>
            <a:ext cx="648000" cy="525600"/>
          </a:xfrm>
          <a:prstGeom prst="rect">
            <a:avLst/>
          </a:prstGeom>
          <a:noFill/>
        </p:spPr>
        <p:txBody>
          <a:bodyPr wrap="square" lIns="10800" rIns="10800" tIns="3600" bIns="3600" anchor="ctr">
            <a:spAutoFit/>
          </a:bodyPr>
          <a:lstStyle/>
          <a:p>
            <a:pPr algn="ctr">
              <a:spcBef>
                <a:spcPts val="0"/>
              </a:spcBef>
              <a:spcAft>
                <a:spcPts val="0"/>
              </a:spcAft>
            </a:pPr>
            <a:r>
              <a:rPr sz="800" b="0">
                <a:solidFill>
                  <a:srgbClr val="263746"/>
                </a:solidFill>
                <a:latin typeface="Arial"/>
              </a:rPr>
              <a:t>mexico</a:t>
            </a:r>
          </a:p>
          <a:p>
            <a:pPr algn="ctr">
              <a:spcBef>
                <a:spcPts val="0"/>
              </a:spcBef>
              <a:spcAft>
                <a:spcPts val="0"/>
              </a:spcAft>
            </a:pPr>
            <a:r>
              <a:rPr sz="800" b="0">
                <a:solidFill>
                  <a:srgbClr val="263746"/>
                </a:solidFill>
                <a:latin typeface="Arial"/>
              </a:rPr>
              <a:t>hurricane</a:t>
            </a:r>
          </a:p>
          <a:p>
            <a:pPr algn="ctr">
              <a:spcBef>
                <a:spcPts val="0"/>
              </a:spcBef>
              <a:spcAft>
                <a:spcPts val="0"/>
              </a:spcAft>
            </a:pPr>
            <a:r>
              <a:rPr sz="800" b="0">
                <a:solidFill>
                  <a:srgbClr val="263746"/>
                </a:solidFill>
                <a:latin typeface="Arial"/>
              </a:rPr>
              <a:t>00000005</a:t>
            </a:r>
          </a:p>
          <a:p>
            <a:pPr algn="ctr">
              <a:spcBef>
                <a:spcPts val="0"/>
              </a:spcBef>
              <a:spcAft>
                <a:spcPts val="0"/>
              </a:spcAft>
            </a:pPr>
            <a:r>
              <a:rPr sz="800" b="0">
                <a:solidFill>
                  <a:srgbClr val="263746"/>
                </a:solidFill>
                <a:latin typeface="Arial"/>
              </a:rPr>
              <a:t>512 × 512 px</a:t>
            </a:r>
          </a:p>
        </p:txBody>
      </p:sp>
      <p:pic>
        <p:nvPicPr>
          <p:cNvPr id="13" name="Picture 12" descr="mexico-hurricane_00000005_0_RGB.png"/>
          <p:cNvPicPr>
            <a:picLocks noChangeAspect="1"/>
          </p:cNvPicPr>
          <p:nvPr/>
        </p:nvPicPr>
        <p:blipFill>
          <a:blip r:embed="rId3"/>
          <a:stretch>
            <a:fillRect/>
          </a:stretch>
        </p:blipFill>
        <p:spPr>
          <a:xfrm>
            <a:off x="810000" y="503999"/>
            <a:ext cx="525600" cy="525600"/>
          </a:xfrm>
          <a:prstGeom prst="rect">
            <a:avLst/>
          </a:prstGeom>
          <a:ln w="5080">
            <a:solidFill>
              <a:srgbClr val="A7ADB3"/>
            </a:solidFill>
          </a:ln>
        </p:spPr>
      </p:pic>
      <p:pic>
        <p:nvPicPr>
          <p:cNvPr id="14" name="Picture 13" descr="mexico-hurricane_00000005_1_SAR.png"/>
          <p:cNvPicPr>
            <a:picLocks noChangeAspect="1"/>
          </p:cNvPicPr>
          <p:nvPr/>
        </p:nvPicPr>
        <p:blipFill>
          <a:blip r:embed="rId4"/>
          <a:stretch>
            <a:fillRect/>
          </a:stretch>
        </p:blipFill>
        <p:spPr>
          <a:xfrm>
            <a:off x="1386000" y="503999"/>
            <a:ext cx="525600" cy="525600"/>
          </a:xfrm>
          <a:prstGeom prst="rect">
            <a:avLst/>
          </a:prstGeom>
          <a:ln w="5080">
            <a:solidFill>
              <a:srgbClr val="A7ADB3"/>
            </a:solidFill>
          </a:ln>
        </p:spPr>
      </p:pic>
      <p:pic>
        <p:nvPicPr>
          <p:cNvPr id="15" name="Picture 14" descr="mexico-hurricane_00000005_2_GT.png"/>
          <p:cNvPicPr>
            <a:picLocks noChangeAspect="1"/>
          </p:cNvPicPr>
          <p:nvPr/>
        </p:nvPicPr>
        <p:blipFill>
          <a:blip r:embed="rId5"/>
          <a:stretch>
            <a:fillRect/>
          </a:stretch>
        </p:blipFill>
        <p:spPr>
          <a:xfrm>
            <a:off x="1962000" y="503999"/>
            <a:ext cx="525600" cy="525600"/>
          </a:xfrm>
          <a:prstGeom prst="rect">
            <a:avLst/>
          </a:prstGeom>
          <a:ln w="5080">
            <a:solidFill>
              <a:srgbClr val="A7ADB3"/>
            </a:solidFill>
          </a:ln>
        </p:spPr>
      </p:pic>
      <p:pic>
        <p:nvPicPr>
          <p:cNvPr id="16" name="Picture 15" descr="mexico-hurricane_00000005_3_U-Net.png"/>
          <p:cNvPicPr>
            <a:picLocks noChangeAspect="1"/>
          </p:cNvPicPr>
          <p:nvPr/>
        </p:nvPicPr>
        <p:blipFill>
          <a:blip r:embed="rId6"/>
          <a:stretch>
            <a:fillRect/>
          </a:stretch>
        </p:blipFill>
        <p:spPr>
          <a:xfrm>
            <a:off x="2538000" y="503999"/>
            <a:ext cx="525600" cy="525600"/>
          </a:xfrm>
          <a:prstGeom prst="rect">
            <a:avLst/>
          </a:prstGeom>
          <a:ln w="5080">
            <a:solidFill>
              <a:srgbClr val="A7ADB3"/>
            </a:solidFill>
          </a:ln>
        </p:spPr>
      </p:pic>
      <p:pic>
        <p:nvPicPr>
          <p:cNvPr id="17" name="Picture 16" descr="mexico-hurricane_00000005_4_DeepLabv3+.png"/>
          <p:cNvPicPr>
            <a:picLocks noChangeAspect="1"/>
          </p:cNvPicPr>
          <p:nvPr/>
        </p:nvPicPr>
        <p:blipFill>
          <a:blip r:embed="rId7"/>
          <a:stretch>
            <a:fillRect/>
          </a:stretch>
        </p:blipFill>
        <p:spPr>
          <a:xfrm>
            <a:off x="3114000" y="503999"/>
            <a:ext cx="525600" cy="525600"/>
          </a:xfrm>
          <a:prstGeom prst="rect">
            <a:avLst/>
          </a:prstGeom>
          <a:ln w="5080">
            <a:solidFill>
              <a:srgbClr val="A7ADB3"/>
            </a:solidFill>
          </a:ln>
        </p:spPr>
      </p:pic>
      <p:pic>
        <p:nvPicPr>
          <p:cNvPr id="18" name="Picture 17" descr="mexico-hurricane_00000005_5_SiamAttnUNet.png"/>
          <p:cNvPicPr>
            <a:picLocks noChangeAspect="1"/>
          </p:cNvPicPr>
          <p:nvPr/>
        </p:nvPicPr>
        <p:blipFill>
          <a:blip r:embed="rId8"/>
          <a:stretch>
            <a:fillRect/>
          </a:stretch>
        </p:blipFill>
        <p:spPr>
          <a:xfrm>
            <a:off x="3690000" y="503999"/>
            <a:ext cx="525600" cy="525600"/>
          </a:xfrm>
          <a:prstGeom prst="rect">
            <a:avLst/>
          </a:prstGeom>
          <a:ln w="5080">
            <a:solidFill>
              <a:srgbClr val="A7ADB3"/>
            </a:solidFill>
          </a:ln>
        </p:spPr>
      </p:pic>
      <p:pic>
        <p:nvPicPr>
          <p:cNvPr id="19" name="Picture 18" descr="mexico-hurricane_00000005_6_SiamCRNN.png"/>
          <p:cNvPicPr>
            <a:picLocks noChangeAspect="1"/>
          </p:cNvPicPr>
          <p:nvPr/>
        </p:nvPicPr>
        <p:blipFill>
          <a:blip r:embed="rId9"/>
          <a:stretch>
            <a:fillRect/>
          </a:stretch>
        </p:blipFill>
        <p:spPr>
          <a:xfrm>
            <a:off x="4266000" y="503999"/>
            <a:ext cx="525600" cy="525600"/>
          </a:xfrm>
          <a:prstGeom prst="rect">
            <a:avLst/>
          </a:prstGeom>
          <a:ln w="5080">
            <a:solidFill>
              <a:srgbClr val="A7ADB3"/>
            </a:solidFill>
          </a:ln>
        </p:spPr>
      </p:pic>
      <p:pic>
        <p:nvPicPr>
          <p:cNvPr id="20" name="Picture 19" descr="mexico-hurricane_00000005_7_DamageFormer.png"/>
          <p:cNvPicPr>
            <a:picLocks noChangeAspect="1"/>
          </p:cNvPicPr>
          <p:nvPr/>
        </p:nvPicPr>
        <p:blipFill>
          <a:blip r:embed="rId10"/>
          <a:stretch>
            <a:fillRect/>
          </a:stretch>
        </p:blipFill>
        <p:spPr>
          <a:xfrm>
            <a:off x="4842000" y="503999"/>
            <a:ext cx="525600" cy="525600"/>
          </a:xfrm>
          <a:prstGeom prst="rect">
            <a:avLst/>
          </a:prstGeom>
          <a:ln w="5080">
            <a:solidFill>
              <a:srgbClr val="A7ADB3"/>
            </a:solidFill>
          </a:ln>
        </p:spPr>
      </p:pic>
      <p:pic>
        <p:nvPicPr>
          <p:cNvPr id="21" name="Picture 20" descr="mexico-hurricane_00000005_8_MPF.png"/>
          <p:cNvPicPr>
            <a:picLocks noChangeAspect="1"/>
          </p:cNvPicPr>
          <p:nvPr/>
        </p:nvPicPr>
        <p:blipFill>
          <a:blip r:embed="rId11"/>
          <a:stretch>
            <a:fillRect/>
          </a:stretch>
        </p:blipFill>
        <p:spPr>
          <a:xfrm>
            <a:off x="5418000" y="503999"/>
            <a:ext cx="525600" cy="525600"/>
          </a:xfrm>
          <a:prstGeom prst="rect">
            <a:avLst/>
          </a:prstGeom>
          <a:ln w="5080">
            <a:solidFill>
              <a:srgbClr val="A7ADB3"/>
            </a:solidFill>
          </a:ln>
        </p:spPr>
      </p:pic>
      <p:sp>
        <p:nvSpPr>
          <p:cNvPr id="22" name="TextBox 21"/>
          <p:cNvSpPr txBox="1"/>
          <p:nvPr/>
        </p:nvSpPr>
        <p:spPr>
          <a:xfrm>
            <a:off x="36000" y="1044000"/>
            <a:ext cx="648000" cy="525600"/>
          </a:xfrm>
          <a:prstGeom prst="rect">
            <a:avLst/>
          </a:prstGeom>
          <a:noFill/>
        </p:spPr>
        <p:txBody>
          <a:bodyPr wrap="square" lIns="10800" rIns="10800" tIns="3600" bIns="3600" anchor="ctr">
            <a:spAutoFit/>
          </a:bodyPr>
          <a:lstStyle/>
          <a:p>
            <a:pPr algn="ctr">
              <a:spcBef>
                <a:spcPts val="0"/>
              </a:spcBef>
              <a:spcAft>
                <a:spcPts val="0"/>
              </a:spcAft>
            </a:pPr>
            <a:r>
              <a:rPr sz="800" b="0">
                <a:solidFill>
                  <a:srgbClr val="263746"/>
                </a:solidFill>
                <a:latin typeface="Arial"/>
              </a:rPr>
              <a:t>myanmar</a:t>
            </a:r>
          </a:p>
          <a:p>
            <a:pPr algn="ctr">
              <a:spcBef>
                <a:spcPts val="0"/>
              </a:spcBef>
              <a:spcAft>
                <a:spcPts val="0"/>
              </a:spcAft>
            </a:pPr>
            <a:r>
              <a:rPr sz="800" b="0">
                <a:solidFill>
                  <a:srgbClr val="263746"/>
                </a:solidFill>
                <a:latin typeface="Arial"/>
              </a:rPr>
              <a:t>hurricane</a:t>
            </a:r>
          </a:p>
          <a:p>
            <a:pPr algn="ctr">
              <a:spcBef>
                <a:spcPts val="0"/>
              </a:spcBef>
              <a:spcAft>
                <a:spcPts val="0"/>
              </a:spcAft>
            </a:pPr>
            <a:r>
              <a:rPr sz="800" b="0">
                <a:solidFill>
                  <a:srgbClr val="263746"/>
                </a:solidFill>
                <a:latin typeface="Arial"/>
              </a:rPr>
              <a:t>00000107</a:t>
            </a:r>
          </a:p>
          <a:p>
            <a:pPr algn="ctr">
              <a:spcBef>
                <a:spcPts val="0"/>
              </a:spcBef>
              <a:spcAft>
                <a:spcPts val="0"/>
              </a:spcAft>
            </a:pPr>
            <a:r>
              <a:rPr sz="800" b="0">
                <a:solidFill>
                  <a:srgbClr val="263746"/>
                </a:solidFill>
                <a:latin typeface="Arial"/>
              </a:rPr>
              <a:t>768 × 768 px</a:t>
            </a:r>
          </a:p>
        </p:txBody>
      </p:sp>
      <p:pic>
        <p:nvPicPr>
          <p:cNvPr id="23" name="Picture 22" descr="myanmar-hurricane_00000107_0_RGB.png"/>
          <p:cNvPicPr>
            <a:picLocks noChangeAspect="1"/>
          </p:cNvPicPr>
          <p:nvPr/>
        </p:nvPicPr>
        <p:blipFill>
          <a:blip r:embed="rId12"/>
          <a:stretch>
            <a:fillRect/>
          </a:stretch>
        </p:blipFill>
        <p:spPr>
          <a:xfrm>
            <a:off x="810000" y="1044000"/>
            <a:ext cx="525600" cy="525600"/>
          </a:xfrm>
          <a:prstGeom prst="rect">
            <a:avLst/>
          </a:prstGeom>
          <a:ln w="5080">
            <a:solidFill>
              <a:srgbClr val="A7ADB3"/>
            </a:solidFill>
          </a:ln>
        </p:spPr>
      </p:pic>
      <p:pic>
        <p:nvPicPr>
          <p:cNvPr id="24" name="Picture 23" descr="myanmar-hurricane_00000107_1_SAR.png"/>
          <p:cNvPicPr>
            <a:picLocks noChangeAspect="1"/>
          </p:cNvPicPr>
          <p:nvPr/>
        </p:nvPicPr>
        <p:blipFill>
          <a:blip r:embed="rId13"/>
          <a:stretch>
            <a:fillRect/>
          </a:stretch>
        </p:blipFill>
        <p:spPr>
          <a:xfrm>
            <a:off x="1386000" y="1044000"/>
            <a:ext cx="525600" cy="525600"/>
          </a:xfrm>
          <a:prstGeom prst="rect">
            <a:avLst/>
          </a:prstGeom>
          <a:ln w="5080">
            <a:solidFill>
              <a:srgbClr val="A7ADB3"/>
            </a:solidFill>
          </a:ln>
        </p:spPr>
      </p:pic>
      <p:pic>
        <p:nvPicPr>
          <p:cNvPr id="25" name="Picture 24" descr="myanmar-hurricane_00000107_2_GT.png"/>
          <p:cNvPicPr>
            <a:picLocks noChangeAspect="1"/>
          </p:cNvPicPr>
          <p:nvPr/>
        </p:nvPicPr>
        <p:blipFill>
          <a:blip r:embed="rId14"/>
          <a:stretch>
            <a:fillRect/>
          </a:stretch>
        </p:blipFill>
        <p:spPr>
          <a:xfrm>
            <a:off x="1962000" y="1044000"/>
            <a:ext cx="525600" cy="525600"/>
          </a:xfrm>
          <a:prstGeom prst="rect">
            <a:avLst/>
          </a:prstGeom>
          <a:ln w="5080">
            <a:solidFill>
              <a:srgbClr val="A7ADB3"/>
            </a:solidFill>
          </a:ln>
        </p:spPr>
      </p:pic>
      <p:pic>
        <p:nvPicPr>
          <p:cNvPr id="26" name="Picture 25" descr="myanmar-hurricane_00000107_3_U-Net.png"/>
          <p:cNvPicPr>
            <a:picLocks noChangeAspect="1"/>
          </p:cNvPicPr>
          <p:nvPr/>
        </p:nvPicPr>
        <p:blipFill>
          <a:blip r:embed="rId15"/>
          <a:stretch>
            <a:fillRect/>
          </a:stretch>
        </p:blipFill>
        <p:spPr>
          <a:xfrm>
            <a:off x="2538000" y="1044000"/>
            <a:ext cx="525600" cy="525600"/>
          </a:xfrm>
          <a:prstGeom prst="rect">
            <a:avLst/>
          </a:prstGeom>
          <a:ln w="5080">
            <a:solidFill>
              <a:srgbClr val="A7ADB3"/>
            </a:solidFill>
          </a:ln>
        </p:spPr>
      </p:pic>
      <p:pic>
        <p:nvPicPr>
          <p:cNvPr id="27" name="Picture 26" descr="myanmar-hurricane_00000107_4_DeepLabv3+.png"/>
          <p:cNvPicPr>
            <a:picLocks noChangeAspect="1"/>
          </p:cNvPicPr>
          <p:nvPr/>
        </p:nvPicPr>
        <p:blipFill>
          <a:blip r:embed="rId16"/>
          <a:stretch>
            <a:fillRect/>
          </a:stretch>
        </p:blipFill>
        <p:spPr>
          <a:xfrm>
            <a:off x="3114000" y="1044000"/>
            <a:ext cx="525600" cy="525600"/>
          </a:xfrm>
          <a:prstGeom prst="rect">
            <a:avLst/>
          </a:prstGeom>
          <a:ln w="5080">
            <a:solidFill>
              <a:srgbClr val="A7ADB3"/>
            </a:solidFill>
          </a:ln>
        </p:spPr>
      </p:pic>
      <p:pic>
        <p:nvPicPr>
          <p:cNvPr id="28" name="Picture 27" descr="myanmar-hurricane_00000107_5_SiamAttnUNet.png"/>
          <p:cNvPicPr>
            <a:picLocks noChangeAspect="1"/>
          </p:cNvPicPr>
          <p:nvPr/>
        </p:nvPicPr>
        <p:blipFill>
          <a:blip r:embed="rId17"/>
          <a:stretch>
            <a:fillRect/>
          </a:stretch>
        </p:blipFill>
        <p:spPr>
          <a:xfrm>
            <a:off x="3690000" y="1044000"/>
            <a:ext cx="525600" cy="525600"/>
          </a:xfrm>
          <a:prstGeom prst="rect">
            <a:avLst/>
          </a:prstGeom>
          <a:ln w="5080">
            <a:solidFill>
              <a:srgbClr val="A7ADB3"/>
            </a:solidFill>
          </a:ln>
        </p:spPr>
      </p:pic>
      <p:pic>
        <p:nvPicPr>
          <p:cNvPr id="29" name="Picture 28" descr="myanmar-hurricane_00000107_6_SiamCRNN.png"/>
          <p:cNvPicPr>
            <a:picLocks noChangeAspect="1"/>
          </p:cNvPicPr>
          <p:nvPr/>
        </p:nvPicPr>
        <p:blipFill>
          <a:blip r:embed="rId18"/>
          <a:stretch>
            <a:fillRect/>
          </a:stretch>
        </p:blipFill>
        <p:spPr>
          <a:xfrm>
            <a:off x="4266000" y="1044000"/>
            <a:ext cx="525600" cy="525600"/>
          </a:xfrm>
          <a:prstGeom prst="rect">
            <a:avLst/>
          </a:prstGeom>
          <a:ln w="5080">
            <a:solidFill>
              <a:srgbClr val="A7ADB3"/>
            </a:solidFill>
          </a:ln>
        </p:spPr>
      </p:pic>
      <p:pic>
        <p:nvPicPr>
          <p:cNvPr id="30" name="Picture 29" descr="myanmar-hurricane_00000107_7_DamageFormer.png"/>
          <p:cNvPicPr>
            <a:picLocks noChangeAspect="1"/>
          </p:cNvPicPr>
          <p:nvPr/>
        </p:nvPicPr>
        <p:blipFill>
          <a:blip r:embed="rId19"/>
          <a:stretch>
            <a:fillRect/>
          </a:stretch>
        </p:blipFill>
        <p:spPr>
          <a:xfrm>
            <a:off x="4842000" y="1044000"/>
            <a:ext cx="525600" cy="525600"/>
          </a:xfrm>
          <a:prstGeom prst="rect">
            <a:avLst/>
          </a:prstGeom>
          <a:ln w="5080">
            <a:solidFill>
              <a:srgbClr val="A7ADB3"/>
            </a:solidFill>
          </a:ln>
        </p:spPr>
      </p:pic>
      <p:pic>
        <p:nvPicPr>
          <p:cNvPr id="31" name="Picture 30" descr="myanmar-hurricane_00000107_8_MPF.png"/>
          <p:cNvPicPr>
            <a:picLocks noChangeAspect="1"/>
          </p:cNvPicPr>
          <p:nvPr/>
        </p:nvPicPr>
        <p:blipFill>
          <a:blip r:embed="rId20"/>
          <a:stretch>
            <a:fillRect/>
          </a:stretch>
        </p:blipFill>
        <p:spPr>
          <a:xfrm>
            <a:off x="5418000" y="1044000"/>
            <a:ext cx="525600" cy="525600"/>
          </a:xfrm>
          <a:prstGeom prst="rect">
            <a:avLst/>
          </a:prstGeom>
          <a:ln w="5080">
            <a:solidFill>
              <a:srgbClr val="A7ADB3"/>
            </a:solidFill>
          </a:ln>
        </p:spPr>
      </p:pic>
      <p:sp>
        <p:nvSpPr>
          <p:cNvPr id="32" name="TextBox 31"/>
          <p:cNvSpPr txBox="1"/>
          <p:nvPr/>
        </p:nvSpPr>
        <p:spPr>
          <a:xfrm>
            <a:off x="36000" y="1584000"/>
            <a:ext cx="648000" cy="525600"/>
          </a:xfrm>
          <a:prstGeom prst="rect">
            <a:avLst/>
          </a:prstGeom>
          <a:noFill/>
        </p:spPr>
        <p:txBody>
          <a:bodyPr wrap="square" lIns="10800" rIns="10800" tIns="3600" bIns="3600" anchor="ctr">
            <a:spAutoFit/>
          </a:bodyPr>
          <a:lstStyle/>
          <a:p>
            <a:pPr algn="ctr">
              <a:spcBef>
                <a:spcPts val="0"/>
              </a:spcBef>
              <a:spcAft>
                <a:spcPts val="0"/>
              </a:spcAft>
            </a:pPr>
            <a:r>
              <a:rPr sz="800" b="0">
                <a:solidFill>
                  <a:srgbClr val="263746"/>
                </a:solidFill>
                <a:latin typeface="Arial"/>
              </a:rPr>
              <a:t>myanmar</a:t>
            </a:r>
          </a:p>
          <a:p>
            <a:pPr algn="ctr">
              <a:spcBef>
                <a:spcPts val="0"/>
              </a:spcBef>
              <a:spcAft>
                <a:spcPts val="0"/>
              </a:spcAft>
            </a:pPr>
            <a:r>
              <a:rPr sz="800" b="0">
                <a:solidFill>
                  <a:srgbClr val="263746"/>
                </a:solidFill>
                <a:latin typeface="Arial"/>
              </a:rPr>
              <a:t>hurricane</a:t>
            </a:r>
          </a:p>
          <a:p>
            <a:pPr algn="ctr">
              <a:spcBef>
                <a:spcPts val="0"/>
              </a:spcBef>
              <a:spcAft>
                <a:spcPts val="0"/>
              </a:spcAft>
            </a:pPr>
            <a:r>
              <a:rPr sz="800" b="0">
                <a:solidFill>
                  <a:srgbClr val="263746"/>
                </a:solidFill>
                <a:latin typeface="Arial"/>
              </a:rPr>
              <a:t>00000099</a:t>
            </a:r>
          </a:p>
          <a:p>
            <a:pPr algn="ctr">
              <a:spcBef>
                <a:spcPts val="0"/>
              </a:spcBef>
              <a:spcAft>
                <a:spcPts val="0"/>
              </a:spcAft>
            </a:pPr>
            <a:r>
              <a:rPr sz="800" b="0">
                <a:solidFill>
                  <a:srgbClr val="263746"/>
                </a:solidFill>
                <a:latin typeface="Arial"/>
              </a:rPr>
              <a:t>1024 × 1024 px</a:t>
            </a:r>
          </a:p>
        </p:txBody>
      </p:sp>
      <p:pic>
        <p:nvPicPr>
          <p:cNvPr id="33" name="Picture 32" descr="myanmar-hurricane_00000099_0_RGB.png"/>
          <p:cNvPicPr>
            <a:picLocks noChangeAspect="1"/>
          </p:cNvPicPr>
          <p:nvPr/>
        </p:nvPicPr>
        <p:blipFill>
          <a:blip r:embed="rId21"/>
          <a:stretch>
            <a:fillRect/>
          </a:stretch>
        </p:blipFill>
        <p:spPr>
          <a:xfrm>
            <a:off x="810000" y="1584000"/>
            <a:ext cx="525600" cy="525600"/>
          </a:xfrm>
          <a:prstGeom prst="rect">
            <a:avLst/>
          </a:prstGeom>
          <a:ln w="5080">
            <a:solidFill>
              <a:srgbClr val="A7ADB3"/>
            </a:solidFill>
          </a:ln>
        </p:spPr>
      </p:pic>
      <p:pic>
        <p:nvPicPr>
          <p:cNvPr id="34" name="Picture 33" descr="myanmar-hurricane_00000099_1_SAR.png"/>
          <p:cNvPicPr>
            <a:picLocks noChangeAspect="1"/>
          </p:cNvPicPr>
          <p:nvPr/>
        </p:nvPicPr>
        <p:blipFill>
          <a:blip r:embed="rId22"/>
          <a:stretch>
            <a:fillRect/>
          </a:stretch>
        </p:blipFill>
        <p:spPr>
          <a:xfrm>
            <a:off x="1386000" y="1584000"/>
            <a:ext cx="525600" cy="525600"/>
          </a:xfrm>
          <a:prstGeom prst="rect">
            <a:avLst/>
          </a:prstGeom>
          <a:ln w="5080">
            <a:solidFill>
              <a:srgbClr val="A7ADB3"/>
            </a:solidFill>
          </a:ln>
        </p:spPr>
      </p:pic>
      <p:pic>
        <p:nvPicPr>
          <p:cNvPr id="35" name="Picture 34" descr="myanmar-hurricane_00000099_2_GT.png"/>
          <p:cNvPicPr>
            <a:picLocks noChangeAspect="1"/>
          </p:cNvPicPr>
          <p:nvPr/>
        </p:nvPicPr>
        <p:blipFill>
          <a:blip r:embed="rId23"/>
          <a:stretch>
            <a:fillRect/>
          </a:stretch>
        </p:blipFill>
        <p:spPr>
          <a:xfrm>
            <a:off x="1962000" y="1584000"/>
            <a:ext cx="525600" cy="525600"/>
          </a:xfrm>
          <a:prstGeom prst="rect">
            <a:avLst/>
          </a:prstGeom>
          <a:ln w="5080">
            <a:solidFill>
              <a:srgbClr val="A7ADB3"/>
            </a:solidFill>
          </a:ln>
        </p:spPr>
      </p:pic>
      <p:pic>
        <p:nvPicPr>
          <p:cNvPr id="36" name="Picture 35" descr="myanmar-hurricane_00000099_3_U-Net.png"/>
          <p:cNvPicPr>
            <a:picLocks noChangeAspect="1"/>
          </p:cNvPicPr>
          <p:nvPr/>
        </p:nvPicPr>
        <p:blipFill>
          <a:blip r:embed="rId24"/>
          <a:stretch>
            <a:fillRect/>
          </a:stretch>
        </p:blipFill>
        <p:spPr>
          <a:xfrm>
            <a:off x="2538000" y="1584000"/>
            <a:ext cx="525600" cy="525600"/>
          </a:xfrm>
          <a:prstGeom prst="rect">
            <a:avLst/>
          </a:prstGeom>
          <a:ln w="5080">
            <a:solidFill>
              <a:srgbClr val="A7ADB3"/>
            </a:solidFill>
          </a:ln>
        </p:spPr>
      </p:pic>
      <p:pic>
        <p:nvPicPr>
          <p:cNvPr id="37" name="Picture 36" descr="myanmar-hurricane_00000099_4_DeepLabv3+.png"/>
          <p:cNvPicPr>
            <a:picLocks noChangeAspect="1"/>
          </p:cNvPicPr>
          <p:nvPr/>
        </p:nvPicPr>
        <p:blipFill>
          <a:blip r:embed="rId25"/>
          <a:stretch>
            <a:fillRect/>
          </a:stretch>
        </p:blipFill>
        <p:spPr>
          <a:xfrm>
            <a:off x="3114000" y="1584000"/>
            <a:ext cx="525600" cy="525600"/>
          </a:xfrm>
          <a:prstGeom prst="rect">
            <a:avLst/>
          </a:prstGeom>
          <a:ln w="5080">
            <a:solidFill>
              <a:srgbClr val="A7ADB3"/>
            </a:solidFill>
          </a:ln>
        </p:spPr>
      </p:pic>
      <p:pic>
        <p:nvPicPr>
          <p:cNvPr id="38" name="Picture 37" descr="myanmar-hurricane_00000099_5_SiamAttnUNet.png"/>
          <p:cNvPicPr>
            <a:picLocks noChangeAspect="1"/>
          </p:cNvPicPr>
          <p:nvPr/>
        </p:nvPicPr>
        <p:blipFill>
          <a:blip r:embed="rId26"/>
          <a:stretch>
            <a:fillRect/>
          </a:stretch>
        </p:blipFill>
        <p:spPr>
          <a:xfrm>
            <a:off x="3690000" y="1584000"/>
            <a:ext cx="525600" cy="525600"/>
          </a:xfrm>
          <a:prstGeom prst="rect">
            <a:avLst/>
          </a:prstGeom>
          <a:ln w="5080">
            <a:solidFill>
              <a:srgbClr val="A7ADB3"/>
            </a:solidFill>
          </a:ln>
        </p:spPr>
      </p:pic>
      <p:pic>
        <p:nvPicPr>
          <p:cNvPr id="39" name="Picture 38" descr="myanmar-hurricane_00000099_6_SiamCRNN.png"/>
          <p:cNvPicPr>
            <a:picLocks noChangeAspect="1"/>
          </p:cNvPicPr>
          <p:nvPr/>
        </p:nvPicPr>
        <p:blipFill>
          <a:blip r:embed="rId27"/>
          <a:stretch>
            <a:fillRect/>
          </a:stretch>
        </p:blipFill>
        <p:spPr>
          <a:xfrm>
            <a:off x="4266000" y="1584000"/>
            <a:ext cx="525600" cy="525600"/>
          </a:xfrm>
          <a:prstGeom prst="rect">
            <a:avLst/>
          </a:prstGeom>
          <a:ln w="5080">
            <a:solidFill>
              <a:srgbClr val="A7ADB3"/>
            </a:solidFill>
          </a:ln>
        </p:spPr>
      </p:pic>
      <p:pic>
        <p:nvPicPr>
          <p:cNvPr id="40" name="Picture 39" descr="myanmar-hurricane_00000099_7_DamageFormer.png"/>
          <p:cNvPicPr>
            <a:picLocks noChangeAspect="1"/>
          </p:cNvPicPr>
          <p:nvPr/>
        </p:nvPicPr>
        <p:blipFill>
          <a:blip r:embed="rId28"/>
          <a:stretch>
            <a:fillRect/>
          </a:stretch>
        </p:blipFill>
        <p:spPr>
          <a:xfrm>
            <a:off x="4842000" y="1584000"/>
            <a:ext cx="525600" cy="525600"/>
          </a:xfrm>
          <a:prstGeom prst="rect">
            <a:avLst/>
          </a:prstGeom>
          <a:ln w="5080">
            <a:solidFill>
              <a:srgbClr val="A7ADB3"/>
            </a:solidFill>
          </a:ln>
        </p:spPr>
      </p:pic>
      <p:pic>
        <p:nvPicPr>
          <p:cNvPr id="41" name="Picture 40" descr="myanmar-hurricane_00000099_8_MPF.png"/>
          <p:cNvPicPr>
            <a:picLocks noChangeAspect="1"/>
          </p:cNvPicPr>
          <p:nvPr/>
        </p:nvPicPr>
        <p:blipFill>
          <a:blip r:embed="rId29"/>
          <a:stretch>
            <a:fillRect/>
          </a:stretch>
        </p:blipFill>
        <p:spPr>
          <a:xfrm>
            <a:off x="5418000" y="1584000"/>
            <a:ext cx="525600" cy="525600"/>
          </a:xfrm>
          <a:prstGeom prst="rect">
            <a:avLst/>
          </a:prstGeom>
          <a:ln w="5080">
            <a:solidFill>
              <a:srgbClr val="A7ADB3"/>
            </a:solidFill>
          </a:ln>
        </p:spPr>
      </p:pic>
      <p:sp>
        <p:nvSpPr>
          <p:cNvPr id="42" name="TextBox 41"/>
          <p:cNvSpPr txBox="1"/>
          <p:nvPr/>
        </p:nvSpPr>
        <p:spPr>
          <a:xfrm>
            <a:off x="36000" y="2124000"/>
            <a:ext cx="648000" cy="525600"/>
          </a:xfrm>
          <a:prstGeom prst="rect">
            <a:avLst/>
          </a:prstGeom>
          <a:noFill/>
        </p:spPr>
        <p:txBody>
          <a:bodyPr wrap="square" lIns="10800" rIns="10800" tIns="3600" bIns="3600" anchor="ctr">
            <a:spAutoFit/>
          </a:bodyPr>
          <a:lstStyle/>
          <a:p>
            <a:pPr algn="ctr">
              <a:spcBef>
                <a:spcPts val="0"/>
              </a:spcBef>
              <a:spcAft>
                <a:spcPts val="0"/>
              </a:spcAft>
            </a:pPr>
            <a:r>
              <a:rPr sz="800" b="0">
                <a:solidFill>
                  <a:srgbClr val="263746"/>
                </a:solidFill>
                <a:latin typeface="Arial"/>
              </a:rPr>
              <a:t>libya</a:t>
            </a:r>
          </a:p>
          <a:p>
            <a:pPr algn="ctr">
              <a:spcBef>
                <a:spcPts val="0"/>
              </a:spcBef>
              <a:spcAft>
                <a:spcPts val="0"/>
              </a:spcAft>
            </a:pPr>
            <a:r>
              <a:rPr sz="800" b="0">
                <a:solidFill>
                  <a:srgbClr val="263746"/>
                </a:solidFill>
                <a:latin typeface="Arial"/>
              </a:rPr>
              <a:t>flood</a:t>
            </a:r>
          </a:p>
          <a:p>
            <a:pPr algn="ctr">
              <a:spcBef>
                <a:spcPts val="0"/>
              </a:spcBef>
              <a:spcAft>
                <a:spcPts val="0"/>
              </a:spcAft>
            </a:pPr>
            <a:r>
              <a:rPr sz="800" b="0">
                <a:solidFill>
                  <a:srgbClr val="263746"/>
                </a:solidFill>
                <a:latin typeface="Arial"/>
              </a:rPr>
              <a:t>00000021</a:t>
            </a:r>
          </a:p>
          <a:p>
            <a:pPr algn="ctr">
              <a:spcBef>
                <a:spcPts val="0"/>
              </a:spcBef>
              <a:spcAft>
                <a:spcPts val="0"/>
              </a:spcAft>
            </a:pPr>
            <a:r>
              <a:rPr sz="800" b="0">
                <a:solidFill>
                  <a:srgbClr val="263746"/>
                </a:solidFill>
                <a:latin typeface="Arial"/>
              </a:rPr>
              <a:t>768 × 768 px</a:t>
            </a:r>
          </a:p>
        </p:txBody>
      </p:sp>
      <p:pic>
        <p:nvPicPr>
          <p:cNvPr id="43" name="Picture 42" descr="libya-flood_00000021_0_RGB.png"/>
          <p:cNvPicPr>
            <a:picLocks noChangeAspect="1"/>
          </p:cNvPicPr>
          <p:nvPr/>
        </p:nvPicPr>
        <p:blipFill>
          <a:blip r:embed="rId30"/>
          <a:stretch>
            <a:fillRect/>
          </a:stretch>
        </p:blipFill>
        <p:spPr>
          <a:xfrm>
            <a:off x="810000" y="2124000"/>
            <a:ext cx="525600" cy="525600"/>
          </a:xfrm>
          <a:prstGeom prst="rect">
            <a:avLst/>
          </a:prstGeom>
          <a:ln w="5080">
            <a:solidFill>
              <a:srgbClr val="A7ADB3"/>
            </a:solidFill>
          </a:ln>
        </p:spPr>
      </p:pic>
      <p:pic>
        <p:nvPicPr>
          <p:cNvPr id="44" name="Picture 43" descr="libya-flood_00000021_1_SAR.png"/>
          <p:cNvPicPr>
            <a:picLocks noChangeAspect="1"/>
          </p:cNvPicPr>
          <p:nvPr/>
        </p:nvPicPr>
        <p:blipFill>
          <a:blip r:embed="rId31"/>
          <a:stretch>
            <a:fillRect/>
          </a:stretch>
        </p:blipFill>
        <p:spPr>
          <a:xfrm>
            <a:off x="1386000" y="2124000"/>
            <a:ext cx="525600" cy="525600"/>
          </a:xfrm>
          <a:prstGeom prst="rect">
            <a:avLst/>
          </a:prstGeom>
          <a:ln w="5080">
            <a:solidFill>
              <a:srgbClr val="A7ADB3"/>
            </a:solidFill>
          </a:ln>
        </p:spPr>
      </p:pic>
      <p:pic>
        <p:nvPicPr>
          <p:cNvPr id="45" name="Picture 44" descr="libya-flood_00000021_2_GT.png"/>
          <p:cNvPicPr>
            <a:picLocks noChangeAspect="1"/>
          </p:cNvPicPr>
          <p:nvPr/>
        </p:nvPicPr>
        <p:blipFill>
          <a:blip r:embed="rId32"/>
          <a:stretch>
            <a:fillRect/>
          </a:stretch>
        </p:blipFill>
        <p:spPr>
          <a:xfrm>
            <a:off x="1962000" y="2124000"/>
            <a:ext cx="525600" cy="525600"/>
          </a:xfrm>
          <a:prstGeom prst="rect">
            <a:avLst/>
          </a:prstGeom>
          <a:ln w="5080">
            <a:solidFill>
              <a:srgbClr val="A7ADB3"/>
            </a:solidFill>
          </a:ln>
        </p:spPr>
      </p:pic>
      <p:pic>
        <p:nvPicPr>
          <p:cNvPr id="46" name="Picture 45" descr="libya-flood_00000021_3_U-Net.png"/>
          <p:cNvPicPr>
            <a:picLocks noChangeAspect="1"/>
          </p:cNvPicPr>
          <p:nvPr/>
        </p:nvPicPr>
        <p:blipFill>
          <a:blip r:embed="rId33"/>
          <a:stretch>
            <a:fillRect/>
          </a:stretch>
        </p:blipFill>
        <p:spPr>
          <a:xfrm>
            <a:off x="2538000" y="2124000"/>
            <a:ext cx="525600" cy="525600"/>
          </a:xfrm>
          <a:prstGeom prst="rect">
            <a:avLst/>
          </a:prstGeom>
          <a:ln w="5080">
            <a:solidFill>
              <a:srgbClr val="A7ADB3"/>
            </a:solidFill>
          </a:ln>
        </p:spPr>
      </p:pic>
      <p:pic>
        <p:nvPicPr>
          <p:cNvPr id="47" name="Picture 46" descr="libya-flood_00000021_4_DeepLabv3+.png"/>
          <p:cNvPicPr>
            <a:picLocks noChangeAspect="1"/>
          </p:cNvPicPr>
          <p:nvPr/>
        </p:nvPicPr>
        <p:blipFill>
          <a:blip r:embed="rId34"/>
          <a:stretch>
            <a:fillRect/>
          </a:stretch>
        </p:blipFill>
        <p:spPr>
          <a:xfrm>
            <a:off x="3114000" y="2124000"/>
            <a:ext cx="525600" cy="525600"/>
          </a:xfrm>
          <a:prstGeom prst="rect">
            <a:avLst/>
          </a:prstGeom>
          <a:ln w="5080">
            <a:solidFill>
              <a:srgbClr val="A7ADB3"/>
            </a:solidFill>
          </a:ln>
        </p:spPr>
      </p:pic>
      <p:pic>
        <p:nvPicPr>
          <p:cNvPr id="48" name="Picture 47" descr="libya-flood_00000021_5_SiamAttnUNet.png"/>
          <p:cNvPicPr>
            <a:picLocks noChangeAspect="1"/>
          </p:cNvPicPr>
          <p:nvPr/>
        </p:nvPicPr>
        <p:blipFill>
          <a:blip r:embed="rId35"/>
          <a:stretch>
            <a:fillRect/>
          </a:stretch>
        </p:blipFill>
        <p:spPr>
          <a:xfrm>
            <a:off x="3690000" y="2124000"/>
            <a:ext cx="525600" cy="525600"/>
          </a:xfrm>
          <a:prstGeom prst="rect">
            <a:avLst/>
          </a:prstGeom>
          <a:ln w="5080">
            <a:solidFill>
              <a:srgbClr val="A7ADB3"/>
            </a:solidFill>
          </a:ln>
        </p:spPr>
      </p:pic>
      <p:pic>
        <p:nvPicPr>
          <p:cNvPr id="49" name="Picture 48" descr="libya-flood_00000021_6_SiamCRNN.png"/>
          <p:cNvPicPr>
            <a:picLocks noChangeAspect="1"/>
          </p:cNvPicPr>
          <p:nvPr/>
        </p:nvPicPr>
        <p:blipFill>
          <a:blip r:embed="rId36"/>
          <a:stretch>
            <a:fillRect/>
          </a:stretch>
        </p:blipFill>
        <p:spPr>
          <a:xfrm>
            <a:off x="4266000" y="2124000"/>
            <a:ext cx="525600" cy="525600"/>
          </a:xfrm>
          <a:prstGeom prst="rect">
            <a:avLst/>
          </a:prstGeom>
          <a:ln w="5080">
            <a:solidFill>
              <a:srgbClr val="A7ADB3"/>
            </a:solidFill>
          </a:ln>
        </p:spPr>
      </p:pic>
      <p:pic>
        <p:nvPicPr>
          <p:cNvPr id="50" name="Picture 49" descr="libya-flood_00000021_7_DamageFormer.png"/>
          <p:cNvPicPr>
            <a:picLocks noChangeAspect="1"/>
          </p:cNvPicPr>
          <p:nvPr/>
        </p:nvPicPr>
        <p:blipFill>
          <a:blip r:embed="rId37"/>
          <a:stretch>
            <a:fillRect/>
          </a:stretch>
        </p:blipFill>
        <p:spPr>
          <a:xfrm>
            <a:off x="4842000" y="2124000"/>
            <a:ext cx="525600" cy="525600"/>
          </a:xfrm>
          <a:prstGeom prst="rect">
            <a:avLst/>
          </a:prstGeom>
          <a:ln w="5080">
            <a:solidFill>
              <a:srgbClr val="A7ADB3"/>
            </a:solidFill>
          </a:ln>
        </p:spPr>
      </p:pic>
      <p:pic>
        <p:nvPicPr>
          <p:cNvPr id="51" name="Picture 50" descr="libya-flood_00000021_8_MPF.png"/>
          <p:cNvPicPr>
            <a:picLocks noChangeAspect="1"/>
          </p:cNvPicPr>
          <p:nvPr/>
        </p:nvPicPr>
        <p:blipFill>
          <a:blip r:embed="rId38"/>
          <a:stretch>
            <a:fillRect/>
          </a:stretch>
        </p:blipFill>
        <p:spPr>
          <a:xfrm>
            <a:off x="5418000" y="2124000"/>
            <a:ext cx="525600" cy="525600"/>
          </a:xfrm>
          <a:prstGeom prst="rect">
            <a:avLst/>
          </a:prstGeom>
          <a:ln w="5080">
            <a:solidFill>
              <a:srgbClr val="A7ADB3"/>
            </a:solidFill>
          </a:ln>
        </p:spPr>
      </p:pic>
      <p:sp>
        <p:nvSpPr>
          <p:cNvPr id="52" name="TextBox 51"/>
          <p:cNvSpPr txBox="1"/>
          <p:nvPr/>
        </p:nvSpPr>
        <p:spPr>
          <a:xfrm>
            <a:off x="36000" y="2664000"/>
            <a:ext cx="648000" cy="525600"/>
          </a:xfrm>
          <a:prstGeom prst="rect">
            <a:avLst/>
          </a:prstGeom>
          <a:noFill/>
        </p:spPr>
        <p:txBody>
          <a:bodyPr wrap="square" lIns="10800" rIns="10800" tIns="3600" bIns="3600" anchor="ctr">
            <a:spAutoFit/>
          </a:bodyPr>
          <a:lstStyle/>
          <a:p>
            <a:pPr algn="ctr">
              <a:spcBef>
                <a:spcPts val="0"/>
              </a:spcBef>
              <a:spcAft>
                <a:spcPts val="0"/>
              </a:spcAft>
            </a:pPr>
            <a:r>
              <a:rPr sz="800" b="0">
                <a:solidFill>
                  <a:srgbClr val="263746"/>
                </a:solidFill>
                <a:latin typeface="Arial"/>
              </a:rPr>
              <a:t>bata</a:t>
            </a:r>
          </a:p>
          <a:p>
            <a:pPr algn="ctr">
              <a:spcBef>
                <a:spcPts val="0"/>
              </a:spcBef>
              <a:spcAft>
                <a:spcPts val="0"/>
              </a:spcAft>
            </a:pPr>
            <a:r>
              <a:rPr sz="800" b="0">
                <a:solidFill>
                  <a:srgbClr val="263746"/>
                </a:solidFill>
                <a:latin typeface="Arial"/>
              </a:rPr>
              <a:t>explosion</a:t>
            </a:r>
          </a:p>
          <a:p>
            <a:pPr algn="ctr">
              <a:spcBef>
                <a:spcPts val="0"/>
              </a:spcBef>
              <a:spcAft>
                <a:spcPts val="0"/>
              </a:spcAft>
            </a:pPr>
            <a:r>
              <a:rPr sz="800" b="0">
                <a:solidFill>
                  <a:srgbClr val="263746"/>
                </a:solidFill>
                <a:latin typeface="Arial"/>
              </a:rPr>
              <a:t>00000062</a:t>
            </a:r>
          </a:p>
          <a:p>
            <a:pPr algn="ctr">
              <a:spcBef>
                <a:spcPts val="0"/>
              </a:spcBef>
              <a:spcAft>
                <a:spcPts val="0"/>
              </a:spcAft>
            </a:pPr>
            <a:r>
              <a:rPr sz="800" b="0">
                <a:solidFill>
                  <a:srgbClr val="263746"/>
                </a:solidFill>
                <a:latin typeface="Arial"/>
              </a:rPr>
              <a:t>512 × 512 px</a:t>
            </a:r>
          </a:p>
        </p:txBody>
      </p:sp>
      <p:pic>
        <p:nvPicPr>
          <p:cNvPr id="53" name="Picture 52" descr="bata-explosion_00000062_0_RGB.png"/>
          <p:cNvPicPr>
            <a:picLocks noChangeAspect="1"/>
          </p:cNvPicPr>
          <p:nvPr/>
        </p:nvPicPr>
        <p:blipFill>
          <a:blip r:embed="rId39"/>
          <a:stretch>
            <a:fillRect/>
          </a:stretch>
        </p:blipFill>
        <p:spPr>
          <a:xfrm>
            <a:off x="810000" y="2664000"/>
            <a:ext cx="525600" cy="525600"/>
          </a:xfrm>
          <a:prstGeom prst="rect">
            <a:avLst/>
          </a:prstGeom>
          <a:ln w="5080">
            <a:solidFill>
              <a:srgbClr val="A7ADB3"/>
            </a:solidFill>
          </a:ln>
        </p:spPr>
      </p:pic>
      <p:pic>
        <p:nvPicPr>
          <p:cNvPr id="54" name="Picture 53" descr="bata-explosion_00000062_1_SAR.png"/>
          <p:cNvPicPr>
            <a:picLocks noChangeAspect="1"/>
          </p:cNvPicPr>
          <p:nvPr/>
        </p:nvPicPr>
        <p:blipFill>
          <a:blip r:embed="rId40"/>
          <a:stretch>
            <a:fillRect/>
          </a:stretch>
        </p:blipFill>
        <p:spPr>
          <a:xfrm>
            <a:off x="1386000" y="2664000"/>
            <a:ext cx="525600" cy="525600"/>
          </a:xfrm>
          <a:prstGeom prst="rect">
            <a:avLst/>
          </a:prstGeom>
          <a:ln w="5080">
            <a:solidFill>
              <a:srgbClr val="A7ADB3"/>
            </a:solidFill>
          </a:ln>
        </p:spPr>
      </p:pic>
      <p:pic>
        <p:nvPicPr>
          <p:cNvPr id="55" name="Picture 54" descr="bata-explosion_00000062_2_GT.png"/>
          <p:cNvPicPr>
            <a:picLocks noChangeAspect="1"/>
          </p:cNvPicPr>
          <p:nvPr/>
        </p:nvPicPr>
        <p:blipFill>
          <a:blip r:embed="rId41"/>
          <a:stretch>
            <a:fillRect/>
          </a:stretch>
        </p:blipFill>
        <p:spPr>
          <a:xfrm>
            <a:off x="1962000" y="2664000"/>
            <a:ext cx="525600" cy="525600"/>
          </a:xfrm>
          <a:prstGeom prst="rect">
            <a:avLst/>
          </a:prstGeom>
          <a:ln w="5080">
            <a:solidFill>
              <a:srgbClr val="A7ADB3"/>
            </a:solidFill>
          </a:ln>
        </p:spPr>
      </p:pic>
      <p:pic>
        <p:nvPicPr>
          <p:cNvPr id="56" name="Picture 55" descr="bata-explosion_00000062_3_U-Net.png"/>
          <p:cNvPicPr>
            <a:picLocks noChangeAspect="1"/>
          </p:cNvPicPr>
          <p:nvPr/>
        </p:nvPicPr>
        <p:blipFill>
          <a:blip r:embed="rId42"/>
          <a:stretch>
            <a:fillRect/>
          </a:stretch>
        </p:blipFill>
        <p:spPr>
          <a:xfrm>
            <a:off x="2538000" y="2664000"/>
            <a:ext cx="525600" cy="525600"/>
          </a:xfrm>
          <a:prstGeom prst="rect">
            <a:avLst/>
          </a:prstGeom>
          <a:ln w="5080">
            <a:solidFill>
              <a:srgbClr val="A7ADB3"/>
            </a:solidFill>
          </a:ln>
        </p:spPr>
      </p:pic>
      <p:pic>
        <p:nvPicPr>
          <p:cNvPr id="57" name="Picture 56" descr="bata-explosion_00000062_4_DeepLabv3+.png"/>
          <p:cNvPicPr>
            <a:picLocks noChangeAspect="1"/>
          </p:cNvPicPr>
          <p:nvPr/>
        </p:nvPicPr>
        <p:blipFill>
          <a:blip r:embed="rId43"/>
          <a:stretch>
            <a:fillRect/>
          </a:stretch>
        </p:blipFill>
        <p:spPr>
          <a:xfrm>
            <a:off x="3114000" y="2664000"/>
            <a:ext cx="525600" cy="525600"/>
          </a:xfrm>
          <a:prstGeom prst="rect">
            <a:avLst/>
          </a:prstGeom>
          <a:ln w="5080">
            <a:solidFill>
              <a:srgbClr val="A7ADB3"/>
            </a:solidFill>
          </a:ln>
        </p:spPr>
      </p:pic>
      <p:pic>
        <p:nvPicPr>
          <p:cNvPr id="58" name="Picture 57" descr="bata-explosion_00000062_5_SiamAttnUNet.png"/>
          <p:cNvPicPr>
            <a:picLocks noChangeAspect="1"/>
          </p:cNvPicPr>
          <p:nvPr/>
        </p:nvPicPr>
        <p:blipFill>
          <a:blip r:embed="rId44"/>
          <a:stretch>
            <a:fillRect/>
          </a:stretch>
        </p:blipFill>
        <p:spPr>
          <a:xfrm>
            <a:off x="3690000" y="2664000"/>
            <a:ext cx="525600" cy="525600"/>
          </a:xfrm>
          <a:prstGeom prst="rect">
            <a:avLst/>
          </a:prstGeom>
          <a:ln w="5080">
            <a:solidFill>
              <a:srgbClr val="A7ADB3"/>
            </a:solidFill>
          </a:ln>
        </p:spPr>
      </p:pic>
      <p:pic>
        <p:nvPicPr>
          <p:cNvPr id="59" name="Picture 58" descr="bata-explosion_00000062_6_SiamCRNN.png"/>
          <p:cNvPicPr>
            <a:picLocks noChangeAspect="1"/>
          </p:cNvPicPr>
          <p:nvPr/>
        </p:nvPicPr>
        <p:blipFill>
          <a:blip r:embed="rId45"/>
          <a:stretch>
            <a:fillRect/>
          </a:stretch>
        </p:blipFill>
        <p:spPr>
          <a:xfrm>
            <a:off x="4266000" y="2664000"/>
            <a:ext cx="525600" cy="525600"/>
          </a:xfrm>
          <a:prstGeom prst="rect">
            <a:avLst/>
          </a:prstGeom>
          <a:ln w="5080">
            <a:solidFill>
              <a:srgbClr val="A7ADB3"/>
            </a:solidFill>
          </a:ln>
        </p:spPr>
      </p:pic>
      <p:pic>
        <p:nvPicPr>
          <p:cNvPr id="60" name="Picture 59" descr="bata-explosion_00000062_7_DamageFormer.png"/>
          <p:cNvPicPr>
            <a:picLocks noChangeAspect="1"/>
          </p:cNvPicPr>
          <p:nvPr/>
        </p:nvPicPr>
        <p:blipFill>
          <a:blip r:embed="rId46"/>
          <a:stretch>
            <a:fillRect/>
          </a:stretch>
        </p:blipFill>
        <p:spPr>
          <a:xfrm>
            <a:off x="4842000" y="2664000"/>
            <a:ext cx="525600" cy="525600"/>
          </a:xfrm>
          <a:prstGeom prst="rect">
            <a:avLst/>
          </a:prstGeom>
          <a:ln w="5080">
            <a:solidFill>
              <a:srgbClr val="A7ADB3"/>
            </a:solidFill>
          </a:ln>
        </p:spPr>
      </p:pic>
      <p:pic>
        <p:nvPicPr>
          <p:cNvPr id="61" name="Picture 60" descr="bata-explosion_00000062_8_MPF.png"/>
          <p:cNvPicPr>
            <a:picLocks noChangeAspect="1"/>
          </p:cNvPicPr>
          <p:nvPr/>
        </p:nvPicPr>
        <p:blipFill>
          <a:blip r:embed="rId47"/>
          <a:stretch>
            <a:fillRect/>
          </a:stretch>
        </p:blipFill>
        <p:spPr>
          <a:xfrm>
            <a:off x="5418000" y="2664000"/>
            <a:ext cx="525600" cy="525600"/>
          </a:xfrm>
          <a:prstGeom prst="rect">
            <a:avLst/>
          </a:prstGeom>
          <a:ln w="5080">
            <a:solidFill>
              <a:srgbClr val="A7ADB3"/>
            </a:solidFill>
          </a:ln>
        </p:spPr>
      </p:pic>
      <p:sp>
        <p:nvSpPr>
          <p:cNvPr id="62" name="TextBox 61"/>
          <p:cNvSpPr txBox="1"/>
          <p:nvPr/>
        </p:nvSpPr>
        <p:spPr>
          <a:xfrm>
            <a:off x="36000" y="3204000"/>
            <a:ext cx="648000" cy="525600"/>
          </a:xfrm>
          <a:prstGeom prst="rect">
            <a:avLst/>
          </a:prstGeom>
          <a:noFill/>
        </p:spPr>
        <p:txBody>
          <a:bodyPr wrap="square" lIns="10800" rIns="10800" tIns="3600" bIns="3600" anchor="ctr">
            <a:spAutoFit/>
          </a:bodyPr>
          <a:lstStyle/>
          <a:p>
            <a:pPr algn="ctr">
              <a:spcBef>
                <a:spcPts val="0"/>
              </a:spcBef>
              <a:spcAft>
                <a:spcPts val="0"/>
              </a:spcAft>
            </a:pPr>
            <a:r>
              <a:rPr sz="800" b="0">
                <a:solidFill>
                  <a:srgbClr val="263746"/>
                </a:solidFill>
                <a:latin typeface="Arial"/>
              </a:rPr>
              <a:t>bata</a:t>
            </a:r>
          </a:p>
          <a:p>
            <a:pPr algn="ctr">
              <a:spcBef>
                <a:spcPts val="0"/>
              </a:spcBef>
              <a:spcAft>
                <a:spcPts val="0"/>
              </a:spcAft>
            </a:pPr>
            <a:r>
              <a:rPr sz="800" b="0">
                <a:solidFill>
                  <a:srgbClr val="263746"/>
                </a:solidFill>
                <a:latin typeface="Arial"/>
              </a:rPr>
              <a:t>explosion</a:t>
            </a:r>
          </a:p>
          <a:p>
            <a:pPr algn="ctr">
              <a:spcBef>
                <a:spcPts val="0"/>
              </a:spcBef>
              <a:spcAft>
                <a:spcPts val="0"/>
              </a:spcAft>
            </a:pPr>
            <a:r>
              <a:rPr sz="800" b="0">
                <a:solidFill>
                  <a:srgbClr val="263746"/>
                </a:solidFill>
                <a:latin typeface="Arial"/>
              </a:rPr>
              <a:t>00000049</a:t>
            </a:r>
          </a:p>
          <a:p>
            <a:pPr algn="ctr">
              <a:spcBef>
                <a:spcPts val="0"/>
              </a:spcBef>
              <a:spcAft>
                <a:spcPts val="0"/>
              </a:spcAft>
            </a:pPr>
            <a:r>
              <a:rPr sz="800" b="0">
                <a:solidFill>
                  <a:srgbClr val="263746"/>
                </a:solidFill>
                <a:latin typeface="Arial"/>
              </a:rPr>
              <a:t>512 × 512 px</a:t>
            </a:r>
          </a:p>
        </p:txBody>
      </p:sp>
      <p:pic>
        <p:nvPicPr>
          <p:cNvPr id="63" name="Picture 62" descr="bata-explosion_00000049_0_RGB.png"/>
          <p:cNvPicPr>
            <a:picLocks noChangeAspect="1"/>
          </p:cNvPicPr>
          <p:nvPr/>
        </p:nvPicPr>
        <p:blipFill>
          <a:blip r:embed="rId48"/>
          <a:stretch>
            <a:fillRect/>
          </a:stretch>
        </p:blipFill>
        <p:spPr>
          <a:xfrm>
            <a:off x="810000" y="3204000"/>
            <a:ext cx="525600" cy="525600"/>
          </a:xfrm>
          <a:prstGeom prst="rect">
            <a:avLst/>
          </a:prstGeom>
          <a:ln w="5080">
            <a:solidFill>
              <a:srgbClr val="A7ADB3"/>
            </a:solidFill>
          </a:ln>
        </p:spPr>
      </p:pic>
      <p:pic>
        <p:nvPicPr>
          <p:cNvPr id="64" name="Picture 63" descr="bata-explosion_00000049_1_SAR.png"/>
          <p:cNvPicPr>
            <a:picLocks noChangeAspect="1"/>
          </p:cNvPicPr>
          <p:nvPr/>
        </p:nvPicPr>
        <p:blipFill>
          <a:blip r:embed="rId49"/>
          <a:stretch>
            <a:fillRect/>
          </a:stretch>
        </p:blipFill>
        <p:spPr>
          <a:xfrm>
            <a:off x="1386000" y="3204000"/>
            <a:ext cx="525600" cy="525600"/>
          </a:xfrm>
          <a:prstGeom prst="rect">
            <a:avLst/>
          </a:prstGeom>
          <a:ln w="5080">
            <a:solidFill>
              <a:srgbClr val="A7ADB3"/>
            </a:solidFill>
          </a:ln>
        </p:spPr>
      </p:pic>
      <p:pic>
        <p:nvPicPr>
          <p:cNvPr id="65" name="Picture 64" descr="bata-explosion_00000049_2_GT.png"/>
          <p:cNvPicPr>
            <a:picLocks noChangeAspect="1"/>
          </p:cNvPicPr>
          <p:nvPr/>
        </p:nvPicPr>
        <p:blipFill>
          <a:blip r:embed="rId50"/>
          <a:stretch>
            <a:fillRect/>
          </a:stretch>
        </p:blipFill>
        <p:spPr>
          <a:xfrm>
            <a:off x="1962000" y="3204000"/>
            <a:ext cx="525600" cy="525600"/>
          </a:xfrm>
          <a:prstGeom prst="rect">
            <a:avLst/>
          </a:prstGeom>
          <a:ln w="5080">
            <a:solidFill>
              <a:srgbClr val="A7ADB3"/>
            </a:solidFill>
          </a:ln>
        </p:spPr>
      </p:pic>
      <p:pic>
        <p:nvPicPr>
          <p:cNvPr id="66" name="Picture 65" descr="bata-explosion_00000049_3_U-Net.png"/>
          <p:cNvPicPr>
            <a:picLocks noChangeAspect="1"/>
          </p:cNvPicPr>
          <p:nvPr/>
        </p:nvPicPr>
        <p:blipFill>
          <a:blip r:embed="rId51"/>
          <a:stretch>
            <a:fillRect/>
          </a:stretch>
        </p:blipFill>
        <p:spPr>
          <a:xfrm>
            <a:off x="2538000" y="3204000"/>
            <a:ext cx="525600" cy="525600"/>
          </a:xfrm>
          <a:prstGeom prst="rect">
            <a:avLst/>
          </a:prstGeom>
          <a:ln w="5080">
            <a:solidFill>
              <a:srgbClr val="A7ADB3"/>
            </a:solidFill>
          </a:ln>
        </p:spPr>
      </p:pic>
      <p:pic>
        <p:nvPicPr>
          <p:cNvPr id="67" name="Picture 66" descr="bata-explosion_00000049_4_DeepLabv3+.png"/>
          <p:cNvPicPr>
            <a:picLocks noChangeAspect="1"/>
          </p:cNvPicPr>
          <p:nvPr/>
        </p:nvPicPr>
        <p:blipFill>
          <a:blip r:embed="rId52"/>
          <a:stretch>
            <a:fillRect/>
          </a:stretch>
        </p:blipFill>
        <p:spPr>
          <a:xfrm>
            <a:off x="3114000" y="3204000"/>
            <a:ext cx="525600" cy="525600"/>
          </a:xfrm>
          <a:prstGeom prst="rect">
            <a:avLst/>
          </a:prstGeom>
          <a:ln w="5080">
            <a:solidFill>
              <a:srgbClr val="A7ADB3"/>
            </a:solidFill>
          </a:ln>
        </p:spPr>
      </p:pic>
      <p:pic>
        <p:nvPicPr>
          <p:cNvPr id="68" name="Picture 67" descr="bata-explosion_00000049_5_SiamAttnUNet.png"/>
          <p:cNvPicPr>
            <a:picLocks noChangeAspect="1"/>
          </p:cNvPicPr>
          <p:nvPr/>
        </p:nvPicPr>
        <p:blipFill>
          <a:blip r:embed="rId53"/>
          <a:stretch>
            <a:fillRect/>
          </a:stretch>
        </p:blipFill>
        <p:spPr>
          <a:xfrm>
            <a:off x="3690000" y="3204000"/>
            <a:ext cx="525600" cy="525600"/>
          </a:xfrm>
          <a:prstGeom prst="rect">
            <a:avLst/>
          </a:prstGeom>
          <a:ln w="5080">
            <a:solidFill>
              <a:srgbClr val="A7ADB3"/>
            </a:solidFill>
          </a:ln>
        </p:spPr>
      </p:pic>
      <p:pic>
        <p:nvPicPr>
          <p:cNvPr id="69" name="Picture 68" descr="bata-explosion_00000049_6_SiamCRNN.png"/>
          <p:cNvPicPr>
            <a:picLocks noChangeAspect="1"/>
          </p:cNvPicPr>
          <p:nvPr/>
        </p:nvPicPr>
        <p:blipFill>
          <a:blip r:embed="rId54"/>
          <a:stretch>
            <a:fillRect/>
          </a:stretch>
        </p:blipFill>
        <p:spPr>
          <a:xfrm>
            <a:off x="4266000" y="3204000"/>
            <a:ext cx="525600" cy="525600"/>
          </a:xfrm>
          <a:prstGeom prst="rect">
            <a:avLst/>
          </a:prstGeom>
          <a:ln w="5080">
            <a:solidFill>
              <a:srgbClr val="A7ADB3"/>
            </a:solidFill>
          </a:ln>
        </p:spPr>
      </p:pic>
      <p:pic>
        <p:nvPicPr>
          <p:cNvPr id="70" name="Picture 69" descr="bata-explosion_00000049_7_DamageFormer.png"/>
          <p:cNvPicPr>
            <a:picLocks noChangeAspect="1"/>
          </p:cNvPicPr>
          <p:nvPr/>
        </p:nvPicPr>
        <p:blipFill>
          <a:blip r:embed="rId55"/>
          <a:stretch>
            <a:fillRect/>
          </a:stretch>
        </p:blipFill>
        <p:spPr>
          <a:xfrm>
            <a:off x="4842000" y="3204000"/>
            <a:ext cx="525600" cy="525600"/>
          </a:xfrm>
          <a:prstGeom prst="rect">
            <a:avLst/>
          </a:prstGeom>
          <a:ln w="5080">
            <a:solidFill>
              <a:srgbClr val="A7ADB3"/>
            </a:solidFill>
          </a:ln>
        </p:spPr>
      </p:pic>
      <p:pic>
        <p:nvPicPr>
          <p:cNvPr id="71" name="Picture 70" descr="bata-explosion_00000049_8_MPF.png"/>
          <p:cNvPicPr>
            <a:picLocks noChangeAspect="1"/>
          </p:cNvPicPr>
          <p:nvPr/>
        </p:nvPicPr>
        <p:blipFill>
          <a:blip r:embed="rId56"/>
          <a:stretch>
            <a:fillRect/>
          </a:stretch>
        </p:blipFill>
        <p:spPr>
          <a:xfrm>
            <a:off x="5418000" y="3204000"/>
            <a:ext cx="525600" cy="525600"/>
          </a:xfrm>
          <a:prstGeom prst="rect">
            <a:avLst/>
          </a:prstGeom>
          <a:ln w="5080">
            <a:solidFill>
              <a:srgbClr val="A7ADB3"/>
            </a:solidFill>
          </a:ln>
        </p:spPr>
      </p:pic>
      <p:sp>
        <p:nvSpPr>
          <p:cNvPr id="72" name="Rectangle 71"/>
          <p:cNvSpPr/>
          <p:nvPr/>
        </p:nvSpPr>
        <p:spPr>
          <a:xfrm>
            <a:off x="846000" y="3751200"/>
            <a:ext cx="100800" cy="100800"/>
          </a:xfrm>
          <a:prstGeom prst="rect">
            <a:avLst/>
          </a:prstGeom>
          <a:solidFill>
            <a:srgbClr val="FFFFFF"/>
          </a:solidFill>
          <a:ln>
            <a:solidFill>
              <a:srgbClr val="8F99A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TextBox 72"/>
          <p:cNvSpPr txBox="1"/>
          <p:nvPr/>
        </p:nvSpPr>
        <p:spPr>
          <a:xfrm>
            <a:off x="982800" y="3708000"/>
            <a:ext cx="936000" cy="180000"/>
          </a:xfrm>
          <a:prstGeom prst="rect">
            <a:avLst/>
          </a:prstGeom>
          <a:noFill/>
        </p:spPr>
        <p:txBody>
          <a:bodyPr wrap="square" lIns="10800" rIns="10800" tIns="3600" bIns="3600" anchor="ctr">
            <a:spAutoFit/>
          </a:bodyPr>
          <a:lstStyle/>
          <a:p>
            <a:pPr algn="l">
              <a:spcBef>
                <a:spcPts val="0"/>
              </a:spcBef>
              <a:spcAft>
                <a:spcPts val="0"/>
              </a:spcAft>
            </a:pPr>
            <a:r>
              <a:rPr sz="850" b="0">
                <a:solidFill>
                  <a:srgbClr val="263746"/>
                </a:solidFill>
                <a:latin typeface="Arial"/>
              </a:rPr>
              <a:t>Background</a:t>
            </a:r>
          </a:p>
        </p:txBody>
      </p:sp>
      <p:sp>
        <p:nvSpPr>
          <p:cNvPr id="74" name="Rectangle 73"/>
          <p:cNvSpPr/>
          <p:nvPr/>
        </p:nvSpPr>
        <p:spPr>
          <a:xfrm>
            <a:off x="1962000" y="3751200"/>
            <a:ext cx="100800" cy="100800"/>
          </a:xfrm>
          <a:prstGeom prst="rect">
            <a:avLst/>
          </a:prstGeom>
          <a:solidFill>
            <a:srgbClr val="46B579"/>
          </a:solidFill>
          <a:ln>
            <a:solidFill>
              <a:srgbClr val="8F99A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TextBox 74"/>
          <p:cNvSpPr txBox="1"/>
          <p:nvPr/>
        </p:nvSpPr>
        <p:spPr>
          <a:xfrm>
            <a:off x="2098800" y="3708000"/>
            <a:ext cx="936000" cy="180000"/>
          </a:xfrm>
          <a:prstGeom prst="rect">
            <a:avLst/>
          </a:prstGeom>
          <a:noFill/>
        </p:spPr>
        <p:txBody>
          <a:bodyPr wrap="square" lIns="10800" rIns="10800" tIns="3600" bIns="3600" anchor="ctr">
            <a:spAutoFit/>
          </a:bodyPr>
          <a:lstStyle/>
          <a:p>
            <a:pPr algn="l">
              <a:spcBef>
                <a:spcPts val="0"/>
              </a:spcBef>
              <a:spcAft>
                <a:spcPts val="0"/>
              </a:spcAft>
            </a:pPr>
            <a:r>
              <a:rPr sz="850" b="0">
                <a:solidFill>
                  <a:srgbClr val="263746"/>
                </a:solidFill>
                <a:latin typeface="Arial"/>
              </a:rPr>
              <a:t>Intact</a:t>
            </a:r>
          </a:p>
        </p:txBody>
      </p:sp>
      <p:sp>
        <p:nvSpPr>
          <p:cNvPr id="76" name="Rectangle 75"/>
          <p:cNvSpPr/>
          <p:nvPr/>
        </p:nvSpPr>
        <p:spPr>
          <a:xfrm>
            <a:off x="3078000" y="3751200"/>
            <a:ext cx="100800" cy="100800"/>
          </a:xfrm>
          <a:prstGeom prst="rect">
            <a:avLst/>
          </a:prstGeom>
          <a:solidFill>
            <a:srgbClr val="E4BD8B"/>
          </a:solidFill>
          <a:ln>
            <a:solidFill>
              <a:srgbClr val="8F99A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7" name="TextBox 76"/>
          <p:cNvSpPr txBox="1"/>
          <p:nvPr/>
        </p:nvSpPr>
        <p:spPr>
          <a:xfrm>
            <a:off x="3214800" y="3708000"/>
            <a:ext cx="936000" cy="180000"/>
          </a:xfrm>
          <a:prstGeom prst="rect">
            <a:avLst/>
          </a:prstGeom>
          <a:noFill/>
        </p:spPr>
        <p:txBody>
          <a:bodyPr wrap="square" lIns="10800" rIns="10800" tIns="3600" bIns="3600" anchor="ctr">
            <a:spAutoFit/>
          </a:bodyPr>
          <a:lstStyle/>
          <a:p>
            <a:pPr algn="l">
              <a:spcBef>
                <a:spcPts val="0"/>
              </a:spcBef>
              <a:spcAft>
                <a:spcPts val="0"/>
              </a:spcAft>
            </a:pPr>
            <a:r>
              <a:rPr sz="850" b="0">
                <a:solidFill>
                  <a:srgbClr val="263746"/>
                </a:solidFill>
                <a:latin typeface="Arial"/>
              </a:rPr>
              <a:t>Damaged</a:t>
            </a:r>
          </a:p>
        </p:txBody>
      </p:sp>
      <p:sp>
        <p:nvSpPr>
          <p:cNvPr id="78" name="Rectangle 77"/>
          <p:cNvSpPr/>
          <p:nvPr/>
        </p:nvSpPr>
        <p:spPr>
          <a:xfrm>
            <a:off x="4194000" y="3751200"/>
            <a:ext cx="100800" cy="100800"/>
          </a:xfrm>
          <a:prstGeom prst="rect">
            <a:avLst/>
          </a:prstGeom>
          <a:solidFill>
            <a:srgbClr val="B64645"/>
          </a:solidFill>
          <a:ln>
            <a:solidFill>
              <a:srgbClr val="8F99A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9" name="TextBox 78"/>
          <p:cNvSpPr txBox="1"/>
          <p:nvPr/>
        </p:nvSpPr>
        <p:spPr>
          <a:xfrm>
            <a:off x="4330800" y="3708000"/>
            <a:ext cx="936000" cy="180000"/>
          </a:xfrm>
          <a:prstGeom prst="rect">
            <a:avLst/>
          </a:prstGeom>
          <a:noFill/>
        </p:spPr>
        <p:txBody>
          <a:bodyPr wrap="square" lIns="10800" rIns="10800" tIns="3600" bIns="3600" anchor="ctr">
            <a:spAutoFit/>
          </a:bodyPr>
          <a:lstStyle/>
          <a:p>
            <a:pPr algn="l">
              <a:spcBef>
                <a:spcPts val="0"/>
              </a:spcBef>
              <a:spcAft>
                <a:spcPts val="0"/>
              </a:spcAft>
            </a:pPr>
            <a:r>
              <a:rPr sz="850" b="0">
                <a:solidFill>
                  <a:srgbClr val="263746"/>
                </a:solidFill>
                <a:latin typeface="Arial"/>
              </a:rPr>
              <a:t>Destroyed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